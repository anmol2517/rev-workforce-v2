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3A"/>
        </a:solidFill>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C9973A"/>
          </a:solidFill>
          <a:ln/>
        </p:spPr>
      </p:sp>
      <p:sp>
        <p:nvSpPr>
          <p:cNvPr id="3" name="Shape 1"/>
          <p:cNvSpPr/>
          <p:nvPr/>
        </p:nvSpPr>
        <p:spPr>
          <a:xfrm>
            <a:off x="6858000" y="0"/>
            <a:ext cx="2286000" cy="5143500"/>
          </a:xfrm>
          <a:prstGeom prst="rect">
            <a:avLst/>
          </a:prstGeom>
          <a:solidFill>
            <a:srgbClr val="1B2A4A"/>
          </a:solidFill>
          <a:ln/>
        </p:spPr>
      </p:sp>
      <p:sp>
        <p:nvSpPr>
          <p:cNvPr id="4" name="Shape 2"/>
          <p:cNvSpPr/>
          <p:nvPr/>
        </p:nvSpPr>
        <p:spPr>
          <a:xfrm>
            <a:off x="7772400" y="0"/>
            <a:ext cx="1371600" cy="5143500"/>
          </a:xfrm>
          <a:prstGeom prst="rect">
            <a:avLst/>
          </a:prstGeom>
          <a:solidFill>
            <a:srgbClr val="162035"/>
          </a:solidFill>
          <a:ln/>
        </p:spPr>
      </p:sp>
      <p:sp>
        <p:nvSpPr>
          <p:cNvPr id="5" name="Text 3"/>
          <p:cNvSpPr/>
          <p:nvPr/>
        </p:nvSpPr>
        <p:spPr>
          <a:xfrm>
            <a:off x="731520" y="640080"/>
            <a:ext cx="6858000" cy="100584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RevWorkforce</a:t>
            </a:r>
            <a:endParaRPr lang="en-US" sz="5200" dirty="0"/>
          </a:p>
        </p:txBody>
      </p:sp>
      <p:sp>
        <p:nvSpPr>
          <p:cNvPr id="6" name="Text 4"/>
          <p:cNvSpPr/>
          <p:nvPr/>
        </p:nvSpPr>
        <p:spPr>
          <a:xfrm>
            <a:off x="731520" y="1600200"/>
            <a:ext cx="6858000" cy="731520"/>
          </a:xfrm>
          <a:prstGeom prst="rect">
            <a:avLst/>
          </a:prstGeom>
          <a:noFill/>
          <a:ln/>
        </p:spPr>
        <p:txBody>
          <a:bodyPr wrap="square" lIns="0" tIns="0" rIns="0" bIns="0" rtlCol="0" anchor="ctr"/>
          <a:lstStyle/>
          <a:p>
            <a:pPr indent="0" marL="0">
              <a:buNone/>
            </a:pPr>
            <a:r>
              <a:rPr lang="en-US" sz="3600" dirty="0">
                <a:solidFill>
                  <a:srgbClr val="C9973A"/>
                </a:solidFill>
                <a:latin typeface="Calibri" pitchFamily="34" charset="0"/>
                <a:ea typeface="Calibri" pitchFamily="34" charset="-122"/>
                <a:cs typeface="Calibri" pitchFamily="34" charset="-120"/>
              </a:rPr>
              <a:t>HRM System</a:t>
            </a:r>
            <a:endParaRPr lang="en-US" sz="3600" dirty="0"/>
          </a:p>
        </p:txBody>
      </p:sp>
      <p:sp>
        <p:nvSpPr>
          <p:cNvPr id="7" name="Shape 5"/>
          <p:cNvSpPr/>
          <p:nvPr/>
        </p:nvSpPr>
        <p:spPr>
          <a:xfrm>
            <a:off x="731520" y="2468880"/>
            <a:ext cx="5029200" cy="54864"/>
          </a:xfrm>
          <a:prstGeom prst="rect">
            <a:avLst/>
          </a:prstGeom>
          <a:solidFill>
            <a:srgbClr val="C9973A"/>
          </a:solidFill>
          <a:ln/>
        </p:spPr>
      </p:sp>
      <p:sp>
        <p:nvSpPr>
          <p:cNvPr id="8" name="Text 6"/>
          <p:cNvSpPr/>
          <p:nvPr/>
        </p:nvSpPr>
        <p:spPr>
          <a:xfrm>
            <a:off x="731520" y="2651760"/>
            <a:ext cx="6400800" cy="411480"/>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Human Resource Management Platform</a:t>
            </a:r>
            <a:endParaRPr lang="en-US" sz="1600" dirty="0"/>
          </a:p>
        </p:txBody>
      </p:sp>
      <p:sp>
        <p:nvSpPr>
          <p:cNvPr id="9" name="Text 7"/>
          <p:cNvSpPr/>
          <p:nvPr/>
        </p:nvSpPr>
        <p:spPr>
          <a:xfrm>
            <a:off x="731520" y="3154680"/>
            <a:ext cx="6400800" cy="320040"/>
          </a:xfrm>
          <a:prstGeom prst="rect">
            <a:avLst/>
          </a:prstGeom>
          <a:noFill/>
          <a:ln/>
        </p:spPr>
        <p:txBody>
          <a:bodyPr wrap="square" lIns="0" tIns="0" rIns="0" bIns="0" rtlCol="0" anchor="ctr"/>
          <a:lstStyle/>
          <a:p>
            <a:pPr indent="0" marL="0">
              <a:buNone/>
            </a:pPr>
            <a:r>
              <a:rPr lang="en-US" sz="1200" dirty="0">
                <a:solidFill>
                  <a:srgbClr val="E8B96A"/>
                </a:solidFill>
                <a:latin typeface="Calibri" pitchFamily="34" charset="0"/>
                <a:ea typeface="Calibri" pitchFamily="34" charset="-122"/>
                <a:cs typeface="Calibri" pitchFamily="34" charset="-120"/>
              </a:rPr>
              <a:t>Spring Boot  •  Angular  •  MySQL  •  JWT Security</a:t>
            </a:r>
            <a:endParaRPr lang="en-US" sz="1200" dirty="0"/>
          </a:p>
        </p:txBody>
      </p:sp>
      <p:sp>
        <p:nvSpPr>
          <p:cNvPr id="10" name="Shape 8"/>
          <p:cNvSpPr/>
          <p:nvPr/>
        </p:nvSpPr>
        <p:spPr>
          <a:xfrm>
            <a:off x="731520" y="4114800"/>
            <a:ext cx="1463040" cy="365760"/>
          </a:xfrm>
          <a:prstGeom prst="rect">
            <a:avLst/>
          </a:prstGeom>
          <a:solidFill>
            <a:srgbClr val="C9973A"/>
          </a:solidFill>
          <a:ln/>
        </p:spPr>
      </p:sp>
      <p:sp>
        <p:nvSpPr>
          <p:cNvPr id="11" name="Text 9"/>
          <p:cNvSpPr/>
          <p:nvPr/>
        </p:nvSpPr>
        <p:spPr>
          <a:xfrm>
            <a:off x="731520" y="4114800"/>
            <a:ext cx="1463040" cy="365760"/>
          </a:xfrm>
          <a:prstGeom prst="rect">
            <a:avLst/>
          </a:prstGeom>
          <a:noFill/>
          <a:ln/>
        </p:spPr>
        <p:txBody>
          <a:bodyPr wrap="square" lIns="0" tIns="0" rIns="0" bIns="0" rtlCol="0" anchor="ctr"/>
          <a:lstStyle/>
          <a:p>
            <a:pPr algn="ctr" indent="0" marL="0">
              <a:buNone/>
            </a:pPr>
            <a:r>
              <a:rPr lang="en-US" sz="1100" b="1" dirty="0">
                <a:solidFill>
                  <a:srgbClr val="12203A"/>
                </a:solidFill>
                <a:latin typeface="Calibri" pitchFamily="34" charset="0"/>
                <a:ea typeface="Calibri" pitchFamily="34" charset="-122"/>
                <a:cs typeface="Calibri" pitchFamily="34" charset="-120"/>
              </a:rPr>
              <a:t>EMPLOYEE</a:t>
            </a:r>
            <a:endParaRPr lang="en-US" sz="1100" dirty="0"/>
          </a:p>
        </p:txBody>
      </p:sp>
      <p:sp>
        <p:nvSpPr>
          <p:cNvPr id="12" name="Shape 10"/>
          <p:cNvSpPr/>
          <p:nvPr/>
        </p:nvSpPr>
        <p:spPr>
          <a:xfrm>
            <a:off x="2468880" y="4114800"/>
            <a:ext cx="1463040" cy="365760"/>
          </a:xfrm>
          <a:prstGeom prst="rect">
            <a:avLst/>
          </a:prstGeom>
          <a:solidFill>
            <a:srgbClr val="C9973A"/>
          </a:solidFill>
          <a:ln/>
        </p:spPr>
      </p:sp>
      <p:sp>
        <p:nvSpPr>
          <p:cNvPr id="13" name="Text 11"/>
          <p:cNvSpPr/>
          <p:nvPr/>
        </p:nvSpPr>
        <p:spPr>
          <a:xfrm>
            <a:off x="2468880" y="4114800"/>
            <a:ext cx="1463040" cy="365760"/>
          </a:xfrm>
          <a:prstGeom prst="rect">
            <a:avLst/>
          </a:prstGeom>
          <a:noFill/>
          <a:ln/>
        </p:spPr>
        <p:txBody>
          <a:bodyPr wrap="square" lIns="0" tIns="0" rIns="0" bIns="0" rtlCol="0" anchor="ctr"/>
          <a:lstStyle/>
          <a:p>
            <a:pPr algn="ctr" indent="0" marL="0">
              <a:buNone/>
            </a:pPr>
            <a:r>
              <a:rPr lang="en-US" sz="1100" b="1" dirty="0">
                <a:solidFill>
                  <a:srgbClr val="12203A"/>
                </a:solidFill>
                <a:latin typeface="Calibri" pitchFamily="34" charset="0"/>
                <a:ea typeface="Calibri" pitchFamily="34" charset="-122"/>
                <a:cs typeface="Calibri" pitchFamily="34" charset="-120"/>
              </a:rPr>
              <a:t>MANAGER</a:t>
            </a:r>
            <a:endParaRPr lang="en-US" sz="1100" dirty="0"/>
          </a:p>
        </p:txBody>
      </p:sp>
      <p:sp>
        <p:nvSpPr>
          <p:cNvPr id="14" name="Shape 12"/>
          <p:cNvSpPr/>
          <p:nvPr/>
        </p:nvSpPr>
        <p:spPr>
          <a:xfrm>
            <a:off x="4206240" y="4114800"/>
            <a:ext cx="1463040" cy="365760"/>
          </a:xfrm>
          <a:prstGeom prst="rect">
            <a:avLst/>
          </a:prstGeom>
          <a:solidFill>
            <a:srgbClr val="C9973A"/>
          </a:solidFill>
          <a:ln/>
        </p:spPr>
      </p:sp>
      <p:sp>
        <p:nvSpPr>
          <p:cNvPr id="15" name="Text 13"/>
          <p:cNvSpPr/>
          <p:nvPr/>
        </p:nvSpPr>
        <p:spPr>
          <a:xfrm>
            <a:off x="4206240" y="4114800"/>
            <a:ext cx="1463040" cy="365760"/>
          </a:xfrm>
          <a:prstGeom prst="rect">
            <a:avLst/>
          </a:prstGeom>
          <a:noFill/>
          <a:ln/>
        </p:spPr>
        <p:txBody>
          <a:bodyPr wrap="square" lIns="0" tIns="0" rIns="0" bIns="0" rtlCol="0" anchor="ctr"/>
          <a:lstStyle/>
          <a:p>
            <a:pPr algn="ctr" indent="0" marL="0">
              <a:buNone/>
            </a:pPr>
            <a:r>
              <a:rPr lang="en-US" sz="1100" b="1" dirty="0">
                <a:solidFill>
                  <a:srgbClr val="12203A"/>
                </a:solidFill>
                <a:latin typeface="Calibri" pitchFamily="34" charset="0"/>
                <a:ea typeface="Calibri" pitchFamily="34" charset="-122"/>
                <a:cs typeface="Calibri" pitchFamily="34" charset="-120"/>
              </a:rPr>
              <a:t>ADMIN</a:t>
            </a:r>
            <a:endParaRPr lang="en-US" sz="1100" dirty="0"/>
          </a:p>
        </p:txBody>
      </p:sp>
      <p:sp>
        <p:nvSpPr>
          <p:cNvPr id="16" name="Text 14"/>
          <p:cNvSpPr/>
          <p:nvPr/>
        </p:nvSpPr>
        <p:spPr>
          <a:xfrm>
            <a:off x="731520" y="4663440"/>
            <a:ext cx="45720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Version 1.0  |  2025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B2A4A"/>
          </a:solidFill>
          <a:ln/>
        </p:spPr>
      </p:sp>
      <p:sp>
        <p:nvSpPr>
          <p:cNvPr id="3" name="Shape 1"/>
          <p:cNvSpPr/>
          <p:nvPr/>
        </p:nvSpPr>
        <p:spPr>
          <a:xfrm>
            <a:off x="0" y="1097280"/>
            <a:ext cx="9144000" cy="54864"/>
          </a:xfrm>
          <a:prstGeom prst="rect">
            <a:avLst/>
          </a:prstGeom>
          <a:solidFill>
            <a:srgbClr val="C9973A"/>
          </a:solidFill>
          <a:ln/>
        </p:spPr>
      </p:sp>
      <p:sp>
        <p:nvSpPr>
          <p:cNvPr id="4" name="Text 2"/>
          <p:cNvSpPr/>
          <p:nvPr/>
        </p:nvSpPr>
        <p:spPr>
          <a:xfrm>
            <a:off x="365760" y="13716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Agenda</a:t>
            </a:r>
            <a:endParaRPr lang="en-US" sz="2600" dirty="0"/>
          </a:p>
        </p:txBody>
      </p:sp>
      <p:sp>
        <p:nvSpPr>
          <p:cNvPr id="5" name="Text 3"/>
          <p:cNvSpPr/>
          <p:nvPr/>
        </p:nvSpPr>
        <p:spPr>
          <a:xfrm>
            <a:off x="365760" y="685800"/>
            <a:ext cx="8229600" cy="347472"/>
          </a:xfrm>
          <a:prstGeom prst="rect">
            <a:avLst/>
          </a:prstGeom>
          <a:noFill/>
          <a:ln/>
        </p:spPr>
        <p:txBody>
          <a:bodyPr wrap="square" lIns="0" tIns="0" rIns="0" bIns="0" rtlCol="0" anchor="ctr"/>
          <a:lstStyle/>
          <a:p>
            <a:pPr indent="0" marL="0">
              <a:buNone/>
            </a:pPr>
            <a:r>
              <a:rPr lang="en-US" sz="1300" dirty="0">
                <a:solidFill>
                  <a:srgbClr val="E8B96A"/>
                </a:solidFill>
                <a:latin typeface="Calibri" pitchFamily="34" charset="0"/>
                <a:ea typeface="Calibri" pitchFamily="34" charset="-122"/>
                <a:cs typeface="Calibri" pitchFamily="34" charset="-120"/>
              </a:rPr>
              <a:t>What we'll cover in this presentation</a:t>
            </a:r>
            <a:endParaRPr lang="en-US" sz="1300" dirty="0"/>
          </a:p>
        </p:txBody>
      </p:sp>
      <p:sp>
        <p:nvSpPr>
          <p:cNvPr id="6" name="Shape 4"/>
          <p:cNvSpPr/>
          <p:nvPr/>
        </p:nvSpPr>
        <p:spPr>
          <a:xfrm>
            <a:off x="365760" y="1325880"/>
            <a:ext cx="411480" cy="347472"/>
          </a:xfrm>
          <a:prstGeom prst="rect">
            <a:avLst/>
          </a:prstGeom>
          <a:solidFill>
            <a:srgbClr val="1B2A4A"/>
          </a:solidFill>
          <a:ln/>
        </p:spPr>
      </p:sp>
      <p:sp>
        <p:nvSpPr>
          <p:cNvPr id="7" name="Text 5"/>
          <p:cNvSpPr/>
          <p:nvPr/>
        </p:nvSpPr>
        <p:spPr>
          <a:xfrm>
            <a:off x="365760" y="1325880"/>
            <a:ext cx="411480" cy="347472"/>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01</a:t>
            </a:r>
            <a:endParaRPr lang="en-US" sz="1100" dirty="0"/>
          </a:p>
        </p:txBody>
      </p:sp>
      <p:sp>
        <p:nvSpPr>
          <p:cNvPr id="8" name="Text 6"/>
          <p:cNvSpPr/>
          <p:nvPr/>
        </p:nvSpPr>
        <p:spPr>
          <a:xfrm>
            <a:off x="896112" y="1344168"/>
            <a:ext cx="3200400" cy="1828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Project Overview</a:t>
            </a:r>
            <a:endParaRPr lang="en-US" sz="1100" dirty="0"/>
          </a:p>
        </p:txBody>
      </p:sp>
      <p:sp>
        <p:nvSpPr>
          <p:cNvPr id="9" name="Text 7"/>
          <p:cNvSpPr/>
          <p:nvPr/>
        </p:nvSpPr>
        <p:spPr>
          <a:xfrm>
            <a:off x="896112" y="1508760"/>
            <a:ext cx="320040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Purpose, scope &amp; goals</a:t>
            </a:r>
            <a:endParaRPr lang="en-US" sz="900" dirty="0"/>
          </a:p>
        </p:txBody>
      </p:sp>
      <p:sp>
        <p:nvSpPr>
          <p:cNvPr id="10" name="Shape 8"/>
          <p:cNvSpPr/>
          <p:nvPr/>
        </p:nvSpPr>
        <p:spPr>
          <a:xfrm>
            <a:off x="365760" y="1837944"/>
            <a:ext cx="411480" cy="347472"/>
          </a:xfrm>
          <a:prstGeom prst="rect">
            <a:avLst/>
          </a:prstGeom>
          <a:solidFill>
            <a:srgbClr val="1B2A4A"/>
          </a:solidFill>
          <a:ln/>
        </p:spPr>
      </p:sp>
      <p:sp>
        <p:nvSpPr>
          <p:cNvPr id="11" name="Text 9"/>
          <p:cNvSpPr/>
          <p:nvPr/>
        </p:nvSpPr>
        <p:spPr>
          <a:xfrm>
            <a:off x="365760" y="1837944"/>
            <a:ext cx="411480" cy="347472"/>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02</a:t>
            </a:r>
            <a:endParaRPr lang="en-US" sz="1100" dirty="0"/>
          </a:p>
        </p:txBody>
      </p:sp>
      <p:sp>
        <p:nvSpPr>
          <p:cNvPr id="12" name="Text 10"/>
          <p:cNvSpPr/>
          <p:nvPr/>
        </p:nvSpPr>
        <p:spPr>
          <a:xfrm>
            <a:off x="896112" y="1856232"/>
            <a:ext cx="3200400" cy="1828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Tech Stack</a:t>
            </a:r>
            <a:endParaRPr lang="en-US" sz="1100" dirty="0"/>
          </a:p>
        </p:txBody>
      </p:sp>
      <p:sp>
        <p:nvSpPr>
          <p:cNvPr id="13" name="Text 11"/>
          <p:cNvSpPr/>
          <p:nvPr/>
        </p:nvSpPr>
        <p:spPr>
          <a:xfrm>
            <a:off x="896112" y="2020824"/>
            <a:ext cx="320040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Spring Boot, Angular, MySQL, JWT</a:t>
            </a:r>
            <a:endParaRPr lang="en-US" sz="900" dirty="0"/>
          </a:p>
        </p:txBody>
      </p:sp>
      <p:sp>
        <p:nvSpPr>
          <p:cNvPr id="14" name="Shape 12"/>
          <p:cNvSpPr/>
          <p:nvPr/>
        </p:nvSpPr>
        <p:spPr>
          <a:xfrm>
            <a:off x="365760" y="2350008"/>
            <a:ext cx="411480" cy="347472"/>
          </a:xfrm>
          <a:prstGeom prst="rect">
            <a:avLst/>
          </a:prstGeom>
          <a:solidFill>
            <a:srgbClr val="1B2A4A"/>
          </a:solidFill>
          <a:ln/>
        </p:spPr>
      </p:sp>
      <p:sp>
        <p:nvSpPr>
          <p:cNvPr id="15" name="Text 13"/>
          <p:cNvSpPr/>
          <p:nvPr/>
        </p:nvSpPr>
        <p:spPr>
          <a:xfrm>
            <a:off x="365760" y="2350008"/>
            <a:ext cx="411480" cy="347472"/>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03</a:t>
            </a:r>
            <a:endParaRPr lang="en-US" sz="1100" dirty="0"/>
          </a:p>
        </p:txBody>
      </p:sp>
      <p:sp>
        <p:nvSpPr>
          <p:cNvPr id="16" name="Text 14"/>
          <p:cNvSpPr/>
          <p:nvPr/>
        </p:nvSpPr>
        <p:spPr>
          <a:xfrm>
            <a:off x="896112" y="2368296"/>
            <a:ext cx="3200400" cy="1828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System Architecture</a:t>
            </a:r>
            <a:endParaRPr lang="en-US" sz="1100" dirty="0"/>
          </a:p>
        </p:txBody>
      </p:sp>
      <p:sp>
        <p:nvSpPr>
          <p:cNvPr id="17" name="Text 15"/>
          <p:cNvSpPr/>
          <p:nvPr/>
        </p:nvSpPr>
        <p:spPr>
          <a:xfrm>
            <a:off x="896112" y="2532888"/>
            <a:ext cx="320040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Layered MVC architecture</a:t>
            </a:r>
            <a:endParaRPr lang="en-US" sz="900" dirty="0"/>
          </a:p>
        </p:txBody>
      </p:sp>
      <p:sp>
        <p:nvSpPr>
          <p:cNvPr id="18" name="Shape 16"/>
          <p:cNvSpPr/>
          <p:nvPr/>
        </p:nvSpPr>
        <p:spPr>
          <a:xfrm>
            <a:off x="365760" y="2862072"/>
            <a:ext cx="411480" cy="347472"/>
          </a:xfrm>
          <a:prstGeom prst="rect">
            <a:avLst/>
          </a:prstGeom>
          <a:solidFill>
            <a:srgbClr val="1B2A4A"/>
          </a:solidFill>
          <a:ln/>
        </p:spPr>
      </p:sp>
      <p:sp>
        <p:nvSpPr>
          <p:cNvPr id="19" name="Text 17"/>
          <p:cNvSpPr/>
          <p:nvPr/>
        </p:nvSpPr>
        <p:spPr>
          <a:xfrm>
            <a:off x="365760" y="2862072"/>
            <a:ext cx="411480" cy="347472"/>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04</a:t>
            </a:r>
            <a:endParaRPr lang="en-US" sz="1100" dirty="0"/>
          </a:p>
        </p:txBody>
      </p:sp>
      <p:sp>
        <p:nvSpPr>
          <p:cNvPr id="20" name="Text 18"/>
          <p:cNvSpPr/>
          <p:nvPr/>
        </p:nvSpPr>
        <p:spPr>
          <a:xfrm>
            <a:off x="896112" y="2880360"/>
            <a:ext cx="3200400" cy="1828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User Roles</a:t>
            </a:r>
            <a:endParaRPr lang="en-US" sz="1100" dirty="0"/>
          </a:p>
        </p:txBody>
      </p:sp>
      <p:sp>
        <p:nvSpPr>
          <p:cNvPr id="21" name="Text 19"/>
          <p:cNvSpPr/>
          <p:nvPr/>
        </p:nvSpPr>
        <p:spPr>
          <a:xfrm>
            <a:off x="896112" y="3044952"/>
            <a:ext cx="320040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Admin, Manager, Employee</a:t>
            </a:r>
            <a:endParaRPr lang="en-US" sz="900" dirty="0"/>
          </a:p>
        </p:txBody>
      </p:sp>
      <p:sp>
        <p:nvSpPr>
          <p:cNvPr id="22" name="Shape 20"/>
          <p:cNvSpPr/>
          <p:nvPr/>
        </p:nvSpPr>
        <p:spPr>
          <a:xfrm>
            <a:off x="365760" y="3374136"/>
            <a:ext cx="411480" cy="347472"/>
          </a:xfrm>
          <a:prstGeom prst="rect">
            <a:avLst/>
          </a:prstGeom>
          <a:solidFill>
            <a:srgbClr val="1B2A4A"/>
          </a:solidFill>
          <a:ln/>
        </p:spPr>
      </p:sp>
      <p:sp>
        <p:nvSpPr>
          <p:cNvPr id="23" name="Text 21"/>
          <p:cNvSpPr/>
          <p:nvPr/>
        </p:nvSpPr>
        <p:spPr>
          <a:xfrm>
            <a:off x="365760" y="3374136"/>
            <a:ext cx="411480" cy="347472"/>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05</a:t>
            </a:r>
            <a:endParaRPr lang="en-US" sz="1100" dirty="0"/>
          </a:p>
        </p:txBody>
      </p:sp>
      <p:sp>
        <p:nvSpPr>
          <p:cNvPr id="24" name="Text 22"/>
          <p:cNvSpPr/>
          <p:nvPr/>
        </p:nvSpPr>
        <p:spPr>
          <a:xfrm>
            <a:off x="896112" y="3392424"/>
            <a:ext cx="3200400" cy="1828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Core Modules</a:t>
            </a:r>
            <a:endParaRPr lang="en-US" sz="1100" dirty="0"/>
          </a:p>
        </p:txBody>
      </p:sp>
      <p:sp>
        <p:nvSpPr>
          <p:cNvPr id="25" name="Text 23"/>
          <p:cNvSpPr/>
          <p:nvPr/>
        </p:nvSpPr>
        <p:spPr>
          <a:xfrm>
            <a:off x="896112" y="3557016"/>
            <a:ext cx="320040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Key functional areas</a:t>
            </a:r>
            <a:endParaRPr lang="en-US" sz="900" dirty="0"/>
          </a:p>
        </p:txBody>
      </p:sp>
      <p:sp>
        <p:nvSpPr>
          <p:cNvPr id="26" name="Shape 24"/>
          <p:cNvSpPr/>
          <p:nvPr/>
        </p:nvSpPr>
        <p:spPr>
          <a:xfrm>
            <a:off x="365760" y="3886200"/>
            <a:ext cx="411480" cy="347472"/>
          </a:xfrm>
          <a:prstGeom prst="rect">
            <a:avLst/>
          </a:prstGeom>
          <a:solidFill>
            <a:srgbClr val="1B2A4A"/>
          </a:solidFill>
          <a:ln/>
        </p:spPr>
      </p:sp>
      <p:sp>
        <p:nvSpPr>
          <p:cNvPr id="27" name="Text 25"/>
          <p:cNvSpPr/>
          <p:nvPr/>
        </p:nvSpPr>
        <p:spPr>
          <a:xfrm>
            <a:off x="365760" y="3886200"/>
            <a:ext cx="411480" cy="347472"/>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06</a:t>
            </a:r>
            <a:endParaRPr lang="en-US" sz="1100" dirty="0"/>
          </a:p>
        </p:txBody>
      </p:sp>
      <p:sp>
        <p:nvSpPr>
          <p:cNvPr id="28" name="Text 26"/>
          <p:cNvSpPr/>
          <p:nvPr/>
        </p:nvSpPr>
        <p:spPr>
          <a:xfrm>
            <a:off x="896112" y="3904488"/>
            <a:ext cx="3200400" cy="1828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Leave Management</a:t>
            </a:r>
            <a:endParaRPr lang="en-US" sz="1100" dirty="0"/>
          </a:p>
        </p:txBody>
      </p:sp>
      <p:sp>
        <p:nvSpPr>
          <p:cNvPr id="29" name="Text 27"/>
          <p:cNvSpPr/>
          <p:nvPr/>
        </p:nvSpPr>
        <p:spPr>
          <a:xfrm>
            <a:off x="896112" y="4069080"/>
            <a:ext cx="320040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Apply, approve &amp; track leaves</a:t>
            </a:r>
            <a:endParaRPr lang="en-US" sz="900" dirty="0"/>
          </a:p>
        </p:txBody>
      </p:sp>
      <p:sp>
        <p:nvSpPr>
          <p:cNvPr id="30" name="Shape 28"/>
          <p:cNvSpPr/>
          <p:nvPr/>
        </p:nvSpPr>
        <p:spPr>
          <a:xfrm>
            <a:off x="365760" y="4398264"/>
            <a:ext cx="411480" cy="347472"/>
          </a:xfrm>
          <a:prstGeom prst="rect">
            <a:avLst/>
          </a:prstGeom>
          <a:solidFill>
            <a:srgbClr val="1B2A4A"/>
          </a:solidFill>
          <a:ln/>
        </p:spPr>
      </p:sp>
      <p:sp>
        <p:nvSpPr>
          <p:cNvPr id="31" name="Text 29"/>
          <p:cNvSpPr/>
          <p:nvPr/>
        </p:nvSpPr>
        <p:spPr>
          <a:xfrm>
            <a:off x="365760" y="4398264"/>
            <a:ext cx="411480" cy="347472"/>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07</a:t>
            </a:r>
            <a:endParaRPr lang="en-US" sz="1100" dirty="0"/>
          </a:p>
        </p:txBody>
      </p:sp>
      <p:sp>
        <p:nvSpPr>
          <p:cNvPr id="32" name="Text 30"/>
          <p:cNvSpPr/>
          <p:nvPr/>
        </p:nvSpPr>
        <p:spPr>
          <a:xfrm>
            <a:off x="896112" y="4416552"/>
            <a:ext cx="3200400" cy="1828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Performance Reviews</a:t>
            </a:r>
            <a:endParaRPr lang="en-US" sz="1100" dirty="0"/>
          </a:p>
        </p:txBody>
      </p:sp>
      <p:sp>
        <p:nvSpPr>
          <p:cNvPr id="33" name="Text 31"/>
          <p:cNvSpPr/>
          <p:nvPr/>
        </p:nvSpPr>
        <p:spPr>
          <a:xfrm>
            <a:off x="896112" y="4581144"/>
            <a:ext cx="320040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Goal tracking &amp; reviews</a:t>
            </a:r>
            <a:endParaRPr lang="en-US" sz="900" dirty="0"/>
          </a:p>
        </p:txBody>
      </p:sp>
      <p:sp>
        <p:nvSpPr>
          <p:cNvPr id="34" name="Shape 32"/>
          <p:cNvSpPr/>
          <p:nvPr/>
        </p:nvSpPr>
        <p:spPr>
          <a:xfrm>
            <a:off x="4663440" y="1325880"/>
            <a:ext cx="411480" cy="347472"/>
          </a:xfrm>
          <a:prstGeom prst="rect">
            <a:avLst/>
          </a:prstGeom>
          <a:solidFill>
            <a:srgbClr val="1B2A4A"/>
          </a:solidFill>
          <a:ln/>
        </p:spPr>
      </p:sp>
      <p:sp>
        <p:nvSpPr>
          <p:cNvPr id="35" name="Text 33"/>
          <p:cNvSpPr/>
          <p:nvPr/>
        </p:nvSpPr>
        <p:spPr>
          <a:xfrm>
            <a:off x="4663440" y="1325880"/>
            <a:ext cx="411480" cy="347472"/>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08</a:t>
            </a:r>
            <a:endParaRPr lang="en-US" sz="1100" dirty="0"/>
          </a:p>
        </p:txBody>
      </p:sp>
      <p:sp>
        <p:nvSpPr>
          <p:cNvPr id="36" name="Text 34"/>
          <p:cNvSpPr/>
          <p:nvPr/>
        </p:nvSpPr>
        <p:spPr>
          <a:xfrm>
            <a:off x="5193792" y="1344168"/>
            <a:ext cx="3474720" cy="1828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Security</a:t>
            </a:r>
            <a:endParaRPr lang="en-US" sz="1100" dirty="0"/>
          </a:p>
        </p:txBody>
      </p:sp>
      <p:sp>
        <p:nvSpPr>
          <p:cNvPr id="37" name="Text 35"/>
          <p:cNvSpPr/>
          <p:nvPr/>
        </p:nvSpPr>
        <p:spPr>
          <a:xfrm>
            <a:off x="5193792" y="1508760"/>
            <a:ext cx="347472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JWT authentication &amp; RBAC</a:t>
            </a:r>
            <a:endParaRPr lang="en-US" sz="900" dirty="0"/>
          </a:p>
        </p:txBody>
      </p:sp>
      <p:sp>
        <p:nvSpPr>
          <p:cNvPr id="38" name="Shape 36"/>
          <p:cNvSpPr/>
          <p:nvPr/>
        </p:nvSpPr>
        <p:spPr>
          <a:xfrm>
            <a:off x="4663440" y="1837944"/>
            <a:ext cx="411480" cy="347472"/>
          </a:xfrm>
          <a:prstGeom prst="rect">
            <a:avLst/>
          </a:prstGeom>
          <a:solidFill>
            <a:srgbClr val="1B2A4A"/>
          </a:solidFill>
          <a:ln/>
        </p:spPr>
      </p:sp>
      <p:sp>
        <p:nvSpPr>
          <p:cNvPr id="39" name="Text 37"/>
          <p:cNvSpPr/>
          <p:nvPr/>
        </p:nvSpPr>
        <p:spPr>
          <a:xfrm>
            <a:off x="4663440" y="1837944"/>
            <a:ext cx="411480" cy="347472"/>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09</a:t>
            </a:r>
            <a:endParaRPr lang="en-US" sz="1100" dirty="0"/>
          </a:p>
        </p:txBody>
      </p:sp>
      <p:sp>
        <p:nvSpPr>
          <p:cNvPr id="40" name="Text 38"/>
          <p:cNvSpPr/>
          <p:nvPr/>
        </p:nvSpPr>
        <p:spPr>
          <a:xfrm>
            <a:off x="5193792" y="1856232"/>
            <a:ext cx="3474720" cy="1828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Database Design</a:t>
            </a:r>
            <a:endParaRPr lang="en-US" sz="1100" dirty="0"/>
          </a:p>
        </p:txBody>
      </p:sp>
      <p:sp>
        <p:nvSpPr>
          <p:cNvPr id="41" name="Text 39"/>
          <p:cNvSpPr/>
          <p:nvPr/>
        </p:nvSpPr>
        <p:spPr>
          <a:xfrm>
            <a:off x="5193792" y="2020824"/>
            <a:ext cx="347472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Entities &amp; relationships</a:t>
            </a:r>
            <a:endParaRPr lang="en-US" sz="900" dirty="0"/>
          </a:p>
        </p:txBody>
      </p:sp>
      <p:sp>
        <p:nvSpPr>
          <p:cNvPr id="42" name="Shape 40"/>
          <p:cNvSpPr/>
          <p:nvPr/>
        </p:nvSpPr>
        <p:spPr>
          <a:xfrm>
            <a:off x="4663440" y="2350008"/>
            <a:ext cx="411480" cy="347472"/>
          </a:xfrm>
          <a:prstGeom prst="rect">
            <a:avLst/>
          </a:prstGeom>
          <a:solidFill>
            <a:srgbClr val="1B2A4A"/>
          </a:solidFill>
          <a:ln/>
        </p:spPr>
      </p:sp>
      <p:sp>
        <p:nvSpPr>
          <p:cNvPr id="43" name="Text 41"/>
          <p:cNvSpPr/>
          <p:nvPr/>
        </p:nvSpPr>
        <p:spPr>
          <a:xfrm>
            <a:off x="4663440" y="2350008"/>
            <a:ext cx="411480" cy="347472"/>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10</a:t>
            </a:r>
            <a:endParaRPr lang="en-US" sz="1100" dirty="0"/>
          </a:p>
        </p:txBody>
      </p:sp>
      <p:sp>
        <p:nvSpPr>
          <p:cNvPr id="44" name="Text 42"/>
          <p:cNvSpPr/>
          <p:nvPr/>
        </p:nvSpPr>
        <p:spPr>
          <a:xfrm>
            <a:off x="5193792" y="2368296"/>
            <a:ext cx="3474720" cy="1828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API Design</a:t>
            </a:r>
            <a:endParaRPr lang="en-US" sz="1100" dirty="0"/>
          </a:p>
        </p:txBody>
      </p:sp>
      <p:sp>
        <p:nvSpPr>
          <p:cNvPr id="45" name="Text 43"/>
          <p:cNvSpPr/>
          <p:nvPr/>
        </p:nvSpPr>
        <p:spPr>
          <a:xfrm>
            <a:off x="5193792" y="2532888"/>
            <a:ext cx="347472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REST endpoints &amp; Swagger</a:t>
            </a:r>
            <a:endParaRPr lang="en-US" sz="900" dirty="0"/>
          </a:p>
        </p:txBody>
      </p:sp>
      <p:sp>
        <p:nvSpPr>
          <p:cNvPr id="46" name="Shape 44"/>
          <p:cNvSpPr/>
          <p:nvPr/>
        </p:nvSpPr>
        <p:spPr>
          <a:xfrm>
            <a:off x="4663440" y="2862072"/>
            <a:ext cx="411480" cy="347472"/>
          </a:xfrm>
          <a:prstGeom prst="rect">
            <a:avLst/>
          </a:prstGeom>
          <a:solidFill>
            <a:srgbClr val="1B2A4A"/>
          </a:solidFill>
          <a:ln/>
        </p:spPr>
      </p:sp>
      <p:sp>
        <p:nvSpPr>
          <p:cNvPr id="47" name="Text 45"/>
          <p:cNvSpPr/>
          <p:nvPr/>
        </p:nvSpPr>
        <p:spPr>
          <a:xfrm>
            <a:off x="4663440" y="2862072"/>
            <a:ext cx="411480" cy="347472"/>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11</a:t>
            </a:r>
            <a:endParaRPr lang="en-US" sz="1100" dirty="0"/>
          </a:p>
        </p:txBody>
      </p:sp>
      <p:sp>
        <p:nvSpPr>
          <p:cNvPr id="48" name="Text 46"/>
          <p:cNvSpPr/>
          <p:nvPr/>
        </p:nvSpPr>
        <p:spPr>
          <a:xfrm>
            <a:off x="5193792" y="2880360"/>
            <a:ext cx="3474720" cy="1828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Frontend</a:t>
            </a:r>
            <a:endParaRPr lang="en-US" sz="1100" dirty="0"/>
          </a:p>
        </p:txBody>
      </p:sp>
      <p:sp>
        <p:nvSpPr>
          <p:cNvPr id="49" name="Text 47"/>
          <p:cNvSpPr/>
          <p:nvPr/>
        </p:nvSpPr>
        <p:spPr>
          <a:xfrm>
            <a:off x="5193792" y="3044952"/>
            <a:ext cx="347472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Angular 17 structure</a:t>
            </a:r>
            <a:endParaRPr lang="en-US" sz="900" dirty="0"/>
          </a:p>
        </p:txBody>
      </p:sp>
      <p:sp>
        <p:nvSpPr>
          <p:cNvPr id="50" name="Shape 48"/>
          <p:cNvSpPr/>
          <p:nvPr/>
        </p:nvSpPr>
        <p:spPr>
          <a:xfrm>
            <a:off x="4663440" y="3374136"/>
            <a:ext cx="411480" cy="347472"/>
          </a:xfrm>
          <a:prstGeom prst="rect">
            <a:avLst/>
          </a:prstGeom>
          <a:solidFill>
            <a:srgbClr val="1B2A4A"/>
          </a:solidFill>
          <a:ln/>
        </p:spPr>
      </p:sp>
      <p:sp>
        <p:nvSpPr>
          <p:cNvPr id="51" name="Text 49"/>
          <p:cNvSpPr/>
          <p:nvPr/>
        </p:nvSpPr>
        <p:spPr>
          <a:xfrm>
            <a:off x="4663440" y="3374136"/>
            <a:ext cx="411480" cy="347472"/>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12</a:t>
            </a:r>
            <a:endParaRPr lang="en-US" sz="1100" dirty="0"/>
          </a:p>
        </p:txBody>
      </p:sp>
      <p:sp>
        <p:nvSpPr>
          <p:cNvPr id="52" name="Text 50"/>
          <p:cNvSpPr/>
          <p:nvPr/>
        </p:nvSpPr>
        <p:spPr>
          <a:xfrm>
            <a:off x="5193792" y="3392424"/>
            <a:ext cx="3474720" cy="1828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Testing</a:t>
            </a:r>
            <a:endParaRPr lang="en-US" sz="1100" dirty="0"/>
          </a:p>
        </p:txBody>
      </p:sp>
      <p:sp>
        <p:nvSpPr>
          <p:cNvPr id="53" name="Text 51"/>
          <p:cNvSpPr/>
          <p:nvPr/>
        </p:nvSpPr>
        <p:spPr>
          <a:xfrm>
            <a:off x="5193792" y="3557016"/>
            <a:ext cx="347472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Unit tests coverage</a:t>
            </a:r>
            <a:endParaRPr lang="en-US" sz="900" dirty="0"/>
          </a:p>
        </p:txBody>
      </p:sp>
      <p:sp>
        <p:nvSpPr>
          <p:cNvPr id="54" name="Shape 52"/>
          <p:cNvSpPr/>
          <p:nvPr/>
        </p:nvSpPr>
        <p:spPr>
          <a:xfrm>
            <a:off x="4663440" y="3886200"/>
            <a:ext cx="411480" cy="347472"/>
          </a:xfrm>
          <a:prstGeom prst="rect">
            <a:avLst/>
          </a:prstGeom>
          <a:solidFill>
            <a:srgbClr val="1B2A4A"/>
          </a:solidFill>
          <a:ln/>
        </p:spPr>
      </p:sp>
      <p:sp>
        <p:nvSpPr>
          <p:cNvPr id="55" name="Text 53"/>
          <p:cNvSpPr/>
          <p:nvPr/>
        </p:nvSpPr>
        <p:spPr>
          <a:xfrm>
            <a:off x="4663440" y="3886200"/>
            <a:ext cx="411480" cy="347472"/>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13</a:t>
            </a:r>
            <a:endParaRPr lang="en-US" sz="1100" dirty="0"/>
          </a:p>
        </p:txBody>
      </p:sp>
      <p:sp>
        <p:nvSpPr>
          <p:cNvPr id="56" name="Text 54"/>
          <p:cNvSpPr/>
          <p:nvPr/>
        </p:nvSpPr>
        <p:spPr>
          <a:xfrm>
            <a:off x="5193792" y="3904488"/>
            <a:ext cx="3474720" cy="1828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Key Features Summary</a:t>
            </a:r>
            <a:endParaRPr lang="en-US" sz="1100" dirty="0"/>
          </a:p>
        </p:txBody>
      </p:sp>
      <p:sp>
        <p:nvSpPr>
          <p:cNvPr id="57" name="Text 55"/>
          <p:cNvSpPr/>
          <p:nvPr/>
        </p:nvSpPr>
        <p:spPr>
          <a:xfrm>
            <a:off x="5193792" y="4069080"/>
            <a:ext cx="347472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What makes it complete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B2A4A"/>
          </a:solidFill>
          <a:ln/>
        </p:spPr>
      </p:sp>
      <p:sp>
        <p:nvSpPr>
          <p:cNvPr id="3" name="Shape 1"/>
          <p:cNvSpPr/>
          <p:nvPr/>
        </p:nvSpPr>
        <p:spPr>
          <a:xfrm>
            <a:off x="0" y="1097280"/>
            <a:ext cx="9144000" cy="54864"/>
          </a:xfrm>
          <a:prstGeom prst="rect">
            <a:avLst/>
          </a:prstGeom>
          <a:solidFill>
            <a:srgbClr val="C9973A"/>
          </a:solidFill>
          <a:ln/>
        </p:spPr>
      </p:sp>
      <p:sp>
        <p:nvSpPr>
          <p:cNvPr id="4" name="Text 2"/>
          <p:cNvSpPr/>
          <p:nvPr/>
        </p:nvSpPr>
        <p:spPr>
          <a:xfrm>
            <a:off x="365760" y="13716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Project Overview</a:t>
            </a:r>
            <a:endParaRPr lang="en-US" sz="2600" dirty="0"/>
          </a:p>
        </p:txBody>
      </p:sp>
      <p:sp>
        <p:nvSpPr>
          <p:cNvPr id="5" name="Text 3"/>
          <p:cNvSpPr/>
          <p:nvPr/>
        </p:nvSpPr>
        <p:spPr>
          <a:xfrm>
            <a:off x="365760" y="685800"/>
            <a:ext cx="8229600" cy="347472"/>
          </a:xfrm>
          <a:prstGeom prst="rect">
            <a:avLst/>
          </a:prstGeom>
          <a:noFill/>
          <a:ln/>
        </p:spPr>
        <p:txBody>
          <a:bodyPr wrap="square" lIns="0" tIns="0" rIns="0" bIns="0" rtlCol="0" anchor="ctr"/>
          <a:lstStyle/>
          <a:p>
            <a:pPr indent="0" marL="0">
              <a:buNone/>
            </a:pPr>
            <a:r>
              <a:rPr lang="en-US" sz="1300" dirty="0">
                <a:solidFill>
                  <a:srgbClr val="E8B96A"/>
                </a:solidFill>
                <a:latin typeface="Calibri" pitchFamily="34" charset="0"/>
                <a:ea typeface="Calibri" pitchFamily="34" charset="-122"/>
                <a:cs typeface="Calibri" pitchFamily="34" charset="-120"/>
              </a:rPr>
              <a:t>RevWorkforce – A complete HR Management platform</a:t>
            </a:r>
            <a:endParaRPr lang="en-US" sz="1300" dirty="0"/>
          </a:p>
        </p:txBody>
      </p:sp>
      <p:sp>
        <p:nvSpPr>
          <p:cNvPr id="6" name="Shape 4"/>
          <p:cNvSpPr/>
          <p:nvPr/>
        </p:nvSpPr>
        <p:spPr>
          <a:xfrm>
            <a:off x="365760" y="1280160"/>
            <a:ext cx="4846320" cy="34747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365760" y="1280160"/>
            <a:ext cx="4846320" cy="73152"/>
          </a:xfrm>
          <a:prstGeom prst="rect">
            <a:avLst/>
          </a:prstGeom>
          <a:solidFill>
            <a:srgbClr val="C9973A"/>
          </a:solidFill>
          <a:ln/>
        </p:spPr>
      </p:sp>
      <p:sp>
        <p:nvSpPr>
          <p:cNvPr id="8" name="Text 6"/>
          <p:cNvSpPr/>
          <p:nvPr/>
        </p:nvSpPr>
        <p:spPr>
          <a:xfrm>
            <a:off x="548640" y="1417320"/>
            <a:ext cx="4572000" cy="27432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What is RevWorkforce?</a:t>
            </a:r>
            <a:endParaRPr lang="en-US" sz="1400" dirty="0"/>
          </a:p>
        </p:txBody>
      </p:sp>
      <p:sp>
        <p:nvSpPr>
          <p:cNvPr id="9" name="Text 7"/>
          <p:cNvSpPr/>
          <p:nvPr/>
        </p:nvSpPr>
        <p:spPr>
          <a:xfrm>
            <a:off x="548640" y="1783080"/>
            <a:ext cx="4480560" cy="1463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RevWorkforce is a full-stack Human Resource Management (HRM) system built with Spring Boot on the backend and Angular on the frontend. It digitizes and streamlines core HR operations including employee lifecycle management, leave workflows, performance reviews, goal tracking, announcements, and notifications — all protected by role-based JWT security.</a:t>
            </a:r>
            <a:endParaRPr lang="en-US" sz="1100" dirty="0"/>
          </a:p>
        </p:txBody>
      </p:sp>
      <p:sp>
        <p:nvSpPr>
          <p:cNvPr id="10" name="Shape 8"/>
          <p:cNvSpPr/>
          <p:nvPr/>
        </p:nvSpPr>
        <p:spPr>
          <a:xfrm>
            <a:off x="548640" y="3310128"/>
            <a:ext cx="128016" cy="128016"/>
          </a:xfrm>
          <a:prstGeom prst="ellipse">
            <a:avLst/>
          </a:prstGeom>
          <a:solidFill>
            <a:srgbClr val="C9973A"/>
          </a:solidFill>
          <a:ln/>
        </p:spPr>
      </p:sp>
      <p:sp>
        <p:nvSpPr>
          <p:cNvPr id="11" name="Text 9"/>
          <p:cNvSpPr/>
          <p:nvPr/>
        </p:nvSpPr>
        <p:spPr>
          <a:xfrm>
            <a:off x="749808" y="3291840"/>
            <a:ext cx="4297680" cy="20116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Centralized employee data management</a:t>
            </a:r>
            <a:endParaRPr lang="en-US" sz="1050" dirty="0"/>
          </a:p>
        </p:txBody>
      </p:sp>
      <p:sp>
        <p:nvSpPr>
          <p:cNvPr id="12" name="Shape 10"/>
          <p:cNvSpPr/>
          <p:nvPr/>
        </p:nvSpPr>
        <p:spPr>
          <a:xfrm>
            <a:off x="548640" y="3557016"/>
            <a:ext cx="128016" cy="128016"/>
          </a:xfrm>
          <a:prstGeom prst="ellipse">
            <a:avLst/>
          </a:prstGeom>
          <a:solidFill>
            <a:srgbClr val="C9973A"/>
          </a:solidFill>
          <a:ln/>
        </p:spPr>
      </p:sp>
      <p:sp>
        <p:nvSpPr>
          <p:cNvPr id="13" name="Text 11"/>
          <p:cNvSpPr/>
          <p:nvPr/>
        </p:nvSpPr>
        <p:spPr>
          <a:xfrm>
            <a:off x="749808" y="3538728"/>
            <a:ext cx="4297680" cy="20116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Automated leave application &amp; approval workflows</a:t>
            </a:r>
            <a:endParaRPr lang="en-US" sz="1050" dirty="0"/>
          </a:p>
        </p:txBody>
      </p:sp>
      <p:sp>
        <p:nvSpPr>
          <p:cNvPr id="14" name="Shape 12"/>
          <p:cNvSpPr/>
          <p:nvPr/>
        </p:nvSpPr>
        <p:spPr>
          <a:xfrm>
            <a:off x="548640" y="3803904"/>
            <a:ext cx="128016" cy="128016"/>
          </a:xfrm>
          <a:prstGeom prst="ellipse">
            <a:avLst/>
          </a:prstGeom>
          <a:solidFill>
            <a:srgbClr val="C9973A"/>
          </a:solidFill>
          <a:ln/>
        </p:spPr>
      </p:sp>
      <p:sp>
        <p:nvSpPr>
          <p:cNvPr id="15" name="Text 13"/>
          <p:cNvSpPr/>
          <p:nvPr/>
        </p:nvSpPr>
        <p:spPr>
          <a:xfrm>
            <a:off x="749808" y="3785616"/>
            <a:ext cx="4297680" cy="20116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Performance review &amp; goal tracking system</a:t>
            </a:r>
            <a:endParaRPr lang="en-US" sz="1050" dirty="0"/>
          </a:p>
        </p:txBody>
      </p:sp>
      <p:sp>
        <p:nvSpPr>
          <p:cNvPr id="16" name="Shape 14"/>
          <p:cNvSpPr/>
          <p:nvPr/>
        </p:nvSpPr>
        <p:spPr>
          <a:xfrm>
            <a:off x="548640" y="4050792"/>
            <a:ext cx="128016" cy="128016"/>
          </a:xfrm>
          <a:prstGeom prst="ellipse">
            <a:avLst/>
          </a:prstGeom>
          <a:solidFill>
            <a:srgbClr val="C9973A"/>
          </a:solidFill>
          <a:ln/>
        </p:spPr>
      </p:sp>
      <p:sp>
        <p:nvSpPr>
          <p:cNvPr id="17" name="Text 15"/>
          <p:cNvSpPr/>
          <p:nvPr/>
        </p:nvSpPr>
        <p:spPr>
          <a:xfrm>
            <a:off x="749808" y="4032504"/>
            <a:ext cx="4297680" cy="20116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Role-based access: Admin, Manager, Employee</a:t>
            </a:r>
            <a:endParaRPr lang="en-US" sz="1050" dirty="0"/>
          </a:p>
        </p:txBody>
      </p:sp>
      <p:sp>
        <p:nvSpPr>
          <p:cNvPr id="18" name="Shape 16"/>
          <p:cNvSpPr/>
          <p:nvPr/>
        </p:nvSpPr>
        <p:spPr>
          <a:xfrm>
            <a:off x="548640" y="4297680"/>
            <a:ext cx="128016" cy="128016"/>
          </a:xfrm>
          <a:prstGeom prst="ellipse">
            <a:avLst/>
          </a:prstGeom>
          <a:solidFill>
            <a:srgbClr val="C9973A"/>
          </a:solidFill>
          <a:ln/>
        </p:spPr>
      </p:sp>
      <p:sp>
        <p:nvSpPr>
          <p:cNvPr id="19" name="Text 17"/>
          <p:cNvSpPr/>
          <p:nvPr/>
        </p:nvSpPr>
        <p:spPr>
          <a:xfrm>
            <a:off x="749808" y="4279392"/>
            <a:ext cx="4297680" cy="20116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Real-time notifications &amp; announcements</a:t>
            </a:r>
            <a:endParaRPr lang="en-US" sz="1050" dirty="0"/>
          </a:p>
        </p:txBody>
      </p:sp>
      <p:sp>
        <p:nvSpPr>
          <p:cNvPr id="20" name="Shape 18"/>
          <p:cNvSpPr/>
          <p:nvPr/>
        </p:nvSpPr>
        <p:spPr>
          <a:xfrm>
            <a:off x="548640" y="4544568"/>
            <a:ext cx="128016" cy="128016"/>
          </a:xfrm>
          <a:prstGeom prst="ellipse">
            <a:avLst/>
          </a:prstGeom>
          <a:solidFill>
            <a:srgbClr val="C9973A"/>
          </a:solidFill>
          <a:ln/>
        </p:spPr>
      </p:sp>
      <p:sp>
        <p:nvSpPr>
          <p:cNvPr id="21" name="Text 19"/>
          <p:cNvSpPr/>
          <p:nvPr/>
        </p:nvSpPr>
        <p:spPr>
          <a:xfrm>
            <a:off x="749808" y="4526280"/>
            <a:ext cx="4297680" cy="20116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QR code &amp; Excel report generation</a:t>
            </a:r>
            <a:endParaRPr lang="en-US" sz="1050" dirty="0"/>
          </a:p>
        </p:txBody>
      </p:sp>
      <p:sp>
        <p:nvSpPr>
          <p:cNvPr id="22" name="Shape 20"/>
          <p:cNvSpPr/>
          <p:nvPr/>
        </p:nvSpPr>
        <p:spPr>
          <a:xfrm>
            <a:off x="5577840" y="1280160"/>
            <a:ext cx="1600200" cy="1554480"/>
          </a:xfrm>
          <a:prstGeom prst="rect">
            <a:avLst/>
          </a:prstGeom>
          <a:solidFill>
            <a:srgbClr val="1B2A4A"/>
          </a:solidFill>
          <a:ln/>
          <a:effectLst>
            <a:outerShdw sx="100000" sy="100000" kx="0" ky="0" algn="bl" rotWithShape="0" blurRad="101600" dist="38100" dir="8100000">
              <a:srgbClr val="000000">
                <a:alpha val="12000"/>
              </a:srgbClr>
            </a:outerShdw>
          </a:effectLst>
        </p:spPr>
      </p:sp>
      <p:sp>
        <p:nvSpPr>
          <p:cNvPr id="23" name="Text 21"/>
          <p:cNvSpPr/>
          <p:nvPr/>
        </p:nvSpPr>
        <p:spPr>
          <a:xfrm>
            <a:off x="5577840" y="1554480"/>
            <a:ext cx="1600200" cy="640080"/>
          </a:xfrm>
          <a:prstGeom prst="rect">
            <a:avLst/>
          </a:prstGeom>
          <a:noFill/>
          <a:ln/>
        </p:spPr>
        <p:txBody>
          <a:bodyPr wrap="square" lIns="0" tIns="0" rIns="0" bIns="0" rtlCol="0" anchor="ctr"/>
          <a:lstStyle/>
          <a:p>
            <a:pPr algn="ctr" indent="0" marL="0">
              <a:buNone/>
            </a:pPr>
            <a:r>
              <a:rPr lang="en-US" sz="3600" b="1" dirty="0">
                <a:solidFill>
                  <a:srgbClr val="C9973A"/>
                </a:solidFill>
                <a:latin typeface="Calibri" pitchFamily="34" charset="0"/>
                <a:ea typeface="Calibri" pitchFamily="34" charset="-122"/>
                <a:cs typeface="Calibri" pitchFamily="34" charset="-120"/>
              </a:rPr>
              <a:t>3</a:t>
            </a:r>
            <a:endParaRPr lang="en-US" sz="3600" dirty="0"/>
          </a:p>
        </p:txBody>
      </p:sp>
      <p:sp>
        <p:nvSpPr>
          <p:cNvPr id="24" name="Text 22"/>
          <p:cNvSpPr/>
          <p:nvPr/>
        </p:nvSpPr>
        <p:spPr>
          <a:xfrm>
            <a:off x="5577840" y="2240280"/>
            <a:ext cx="1600200" cy="4114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User Roles</a:t>
            </a:r>
            <a:endParaRPr lang="en-US" sz="1100" dirty="0"/>
          </a:p>
        </p:txBody>
      </p:sp>
      <p:sp>
        <p:nvSpPr>
          <p:cNvPr id="25" name="Shape 23"/>
          <p:cNvSpPr/>
          <p:nvPr/>
        </p:nvSpPr>
        <p:spPr>
          <a:xfrm>
            <a:off x="7360920" y="1280160"/>
            <a:ext cx="1600200" cy="1554480"/>
          </a:xfrm>
          <a:prstGeom prst="rect">
            <a:avLst/>
          </a:prstGeom>
          <a:solidFill>
            <a:srgbClr val="1B2A4A"/>
          </a:solidFill>
          <a:ln/>
          <a:effectLst>
            <a:outerShdw sx="100000" sy="100000" kx="0" ky="0" algn="bl" rotWithShape="0" blurRad="101600" dist="38100" dir="8100000">
              <a:srgbClr val="000000">
                <a:alpha val="12000"/>
              </a:srgbClr>
            </a:outerShdw>
          </a:effectLst>
        </p:spPr>
      </p:sp>
      <p:sp>
        <p:nvSpPr>
          <p:cNvPr id="26" name="Text 24"/>
          <p:cNvSpPr/>
          <p:nvPr/>
        </p:nvSpPr>
        <p:spPr>
          <a:xfrm>
            <a:off x="7360920" y="1554480"/>
            <a:ext cx="1600200" cy="640080"/>
          </a:xfrm>
          <a:prstGeom prst="rect">
            <a:avLst/>
          </a:prstGeom>
          <a:noFill/>
          <a:ln/>
        </p:spPr>
        <p:txBody>
          <a:bodyPr wrap="square" lIns="0" tIns="0" rIns="0" bIns="0" rtlCol="0" anchor="ctr"/>
          <a:lstStyle/>
          <a:p>
            <a:pPr algn="ctr" indent="0" marL="0">
              <a:buNone/>
            </a:pPr>
            <a:r>
              <a:rPr lang="en-US" sz="3600" b="1" dirty="0">
                <a:solidFill>
                  <a:srgbClr val="C9973A"/>
                </a:solidFill>
                <a:latin typeface="Calibri" pitchFamily="34" charset="0"/>
                <a:ea typeface="Calibri" pitchFamily="34" charset="-122"/>
                <a:cs typeface="Calibri" pitchFamily="34" charset="-120"/>
              </a:rPr>
              <a:t>10+</a:t>
            </a:r>
            <a:endParaRPr lang="en-US" sz="3600" dirty="0"/>
          </a:p>
        </p:txBody>
      </p:sp>
      <p:sp>
        <p:nvSpPr>
          <p:cNvPr id="27" name="Text 25"/>
          <p:cNvSpPr/>
          <p:nvPr/>
        </p:nvSpPr>
        <p:spPr>
          <a:xfrm>
            <a:off x="7360920" y="2240280"/>
            <a:ext cx="1600200" cy="4114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Core Modules</a:t>
            </a:r>
            <a:endParaRPr lang="en-US" sz="1100" dirty="0"/>
          </a:p>
        </p:txBody>
      </p:sp>
      <p:sp>
        <p:nvSpPr>
          <p:cNvPr id="28" name="Shape 26"/>
          <p:cNvSpPr/>
          <p:nvPr/>
        </p:nvSpPr>
        <p:spPr>
          <a:xfrm>
            <a:off x="5577840" y="3017520"/>
            <a:ext cx="1600200" cy="1554480"/>
          </a:xfrm>
          <a:prstGeom prst="rect">
            <a:avLst/>
          </a:prstGeom>
          <a:solidFill>
            <a:srgbClr val="1B2A4A"/>
          </a:solidFill>
          <a:ln/>
          <a:effectLst>
            <a:outerShdw sx="100000" sy="100000" kx="0" ky="0" algn="bl" rotWithShape="0" blurRad="101600" dist="38100" dir="8100000">
              <a:srgbClr val="000000">
                <a:alpha val="12000"/>
              </a:srgbClr>
            </a:outerShdw>
          </a:effectLst>
        </p:spPr>
      </p:sp>
      <p:sp>
        <p:nvSpPr>
          <p:cNvPr id="29" name="Text 27"/>
          <p:cNvSpPr/>
          <p:nvPr/>
        </p:nvSpPr>
        <p:spPr>
          <a:xfrm>
            <a:off x="5577840" y="3291840"/>
            <a:ext cx="1600200" cy="640080"/>
          </a:xfrm>
          <a:prstGeom prst="rect">
            <a:avLst/>
          </a:prstGeom>
          <a:noFill/>
          <a:ln/>
        </p:spPr>
        <p:txBody>
          <a:bodyPr wrap="square" lIns="0" tIns="0" rIns="0" bIns="0" rtlCol="0" anchor="ctr"/>
          <a:lstStyle/>
          <a:p>
            <a:pPr algn="ctr" indent="0" marL="0">
              <a:buNone/>
            </a:pPr>
            <a:r>
              <a:rPr lang="en-US" sz="3600" b="1" dirty="0">
                <a:solidFill>
                  <a:srgbClr val="C9973A"/>
                </a:solidFill>
                <a:latin typeface="Calibri" pitchFamily="34" charset="0"/>
                <a:ea typeface="Calibri" pitchFamily="34" charset="-122"/>
                <a:cs typeface="Calibri" pitchFamily="34" charset="-120"/>
              </a:rPr>
              <a:t>20+</a:t>
            </a:r>
            <a:endParaRPr lang="en-US" sz="3600" dirty="0"/>
          </a:p>
        </p:txBody>
      </p:sp>
      <p:sp>
        <p:nvSpPr>
          <p:cNvPr id="30" name="Text 28"/>
          <p:cNvSpPr/>
          <p:nvPr/>
        </p:nvSpPr>
        <p:spPr>
          <a:xfrm>
            <a:off x="5577840" y="3977640"/>
            <a:ext cx="1600200" cy="4114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REST APIs</a:t>
            </a:r>
            <a:endParaRPr lang="en-US" sz="1100" dirty="0"/>
          </a:p>
        </p:txBody>
      </p:sp>
      <p:sp>
        <p:nvSpPr>
          <p:cNvPr id="31" name="Shape 29"/>
          <p:cNvSpPr/>
          <p:nvPr/>
        </p:nvSpPr>
        <p:spPr>
          <a:xfrm>
            <a:off x="7360920" y="3017520"/>
            <a:ext cx="1600200" cy="1554480"/>
          </a:xfrm>
          <a:prstGeom prst="rect">
            <a:avLst/>
          </a:prstGeom>
          <a:solidFill>
            <a:srgbClr val="1B2A4A"/>
          </a:solidFill>
          <a:ln/>
          <a:effectLst>
            <a:outerShdw sx="100000" sy="100000" kx="0" ky="0" algn="bl" rotWithShape="0" blurRad="101600" dist="38100" dir="8100000">
              <a:srgbClr val="000000">
                <a:alpha val="12000"/>
              </a:srgbClr>
            </a:outerShdw>
          </a:effectLst>
        </p:spPr>
      </p:sp>
      <p:sp>
        <p:nvSpPr>
          <p:cNvPr id="32" name="Text 30"/>
          <p:cNvSpPr/>
          <p:nvPr/>
        </p:nvSpPr>
        <p:spPr>
          <a:xfrm>
            <a:off x="7360920" y="3291840"/>
            <a:ext cx="1600200" cy="640080"/>
          </a:xfrm>
          <a:prstGeom prst="rect">
            <a:avLst/>
          </a:prstGeom>
          <a:noFill/>
          <a:ln/>
        </p:spPr>
        <p:txBody>
          <a:bodyPr wrap="square" lIns="0" tIns="0" rIns="0" bIns="0" rtlCol="0" anchor="ctr"/>
          <a:lstStyle/>
          <a:p>
            <a:pPr algn="ctr" indent="0" marL="0">
              <a:buNone/>
            </a:pPr>
            <a:r>
              <a:rPr lang="en-US" sz="3600" b="1" dirty="0">
                <a:solidFill>
                  <a:srgbClr val="C9973A"/>
                </a:solidFill>
                <a:latin typeface="Calibri" pitchFamily="34" charset="0"/>
                <a:ea typeface="Calibri" pitchFamily="34" charset="-122"/>
                <a:cs typeface="Calibri" pitchFamily="34" charset="-120"/>
              </a:rPr>
              <a:t>3</a:t>
            </a:r>
            <a:endParaRPr lang="en-US" sz="3600" dirty="0"/>
          </a:p>
        </p:txBody>
      </p:sp>
      <p:sp>
        <p:nvSpPr>
          <p:cNvPr id="33" name="Text 31"/>
          <p:cNvSpPr/>
          <p:nvPr/>
        </p:nvSpPr>
        <p:spPr>
          <a:xfrm>
            <a:off x="7360920" y="3977640"/>
            <a:ext cx="1600200" cy="4114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Unit Test Suites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B2A4A"/>
          </a:solidFill>
          <a:ln/>
        </p:spPr>
      </p:sp>
      <p:sp>
        <p:nvSpPr>
          <p:cNvPr id="3" name="Shape 1"/>
          <p:cNvSpPr/>
          <p:nvPr/>
        </p:nvSpPr>
        <p:spPr>
          <a:xfrm>
            <a:off x="0" y="1097280"/>
            <a:ext cx="9144000" cy="54864"/>
          </a:xfrm>
          <a:prstGeom prst="rect">
            <a:avLst/>
          </a:prstGeom>
          <a:solidFill>
            <a:srgbClr val="C9973A"/>
          </a:solidFill>
          <a:ln/>
        </p:spPr>
      </p:sp>
      <p:sp>
        <p:nvSpPr>
          <p:cNvPr id="4" name="Text 2"/>
          <p:cNvSpPr/>
          <p:nvPr/>
        </p:nvSpPr>
        <p:spPr>
          <a:xfrm>
            <a:off x="365760" y="13716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Technology Stack</a:t>
            </a:r>
            <a:endParaRPr lang="en-US" sz="2600" dirty="0"/>
          </a:p>
        </p:txBody>
      </p:sp>
      <p:sp>
        <p:nvSpPr>
          <p:cNvPr id="5" name="Text 3"/>
          <p:cNvSpPr/>
          <p:nvPr/>
        </p:nvSpPr>
        <p:spPr>
          <a:xfrm>
            <a:off x="365760" y="685800"/>
            <a:ext cx="8229600" cy="347472"/>
          </a:xfrm>
          <a:prstGeom prst="rect">
            <a:avLst/>
          </a:prstGeom>
          <a:noFill/>
          <a:ln/>
        </p:spPr>
        <p:txBody>
          <a:bodyPr wrap="square" lIns="0" tIns="0" rIns="0" bIns="0" rtlCol="0" anchor="ctr"/>
          <a:lstStyle/>
          <a:p>
            <a:pPr indent="0" marL="0">
              <a:buNone/>
            </a:pPr>
            <a:r>
              <a:rPr lang="en-US" sz="1300" dirty="0">
                <a:solidFill>
                  <a:srgbClr val="E8B96A"/>
                </a:solidFill>
                <a:latin typeface="Calibri" pitchFamily="34" charset="0"/>
                <a:ea typeface="Calibri" pitchFamily="34" charset="-122"/>
                <a:cs typeface="Calibri" pitchFamily="34" charset="-120"/>
              </a:rPr>
              <a:t>Tools, frameworks and libraries used</a:t>
            </a:r>
            <a:endParaRPr lang="en-US" sz="1300" dirty="0"/>
          </a:p>
        </p:txBody>
      </p:sp>
      <p:sp>
        <p:nvSpPr>
          <p:cNvPr id="6" name="Shape 4"/>
          <p:cNvSpPr/>
          <p:nvPr/>
        </p:nvSpPr>
        <p:spPr>
          <a:xfrm>
            <a:off x="274320" y="1234440"/>
            <a:ext cx="2011680" cy="411480"/>
          </a:xfrm>
          <a:prstGeom prst="rect">
            <a:avLst/>
          </a:prstGeom>
          <a:solidFill>
            <a:srgbClr val="0D9488"/>
          </a:solidFill>
          <a:ln/>
        </p:spPr>
      </p:sp>
      <p:sp>
        <p:nvSpPr>
          <p:cNvPr id="7" name="Text 5"/>
          <p:cNvSpPr/>
          <p:nvPr/>
        </p:nvSpPr>
        <p:spPr>
          <a:xfrm>
            <a:off x="274320" y="1234440"/>
            <a:ext cx="20116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Frontend</a:t>
            </a:r>
            <a:endParaRPr lang="en-US" sz="1300" dirty="0"/>
          </a:p>
        </p:txBody>
      </p:sp>
      <p:sp>
        <p:nvSpPr>
          <p:cNvPr id="8" name="Shape 6"/>
          <p:cNvSpPr/>
          <p:nvPr/>
        </p:nvSpPr>
        <p:spPr>
          <a:xfrm>
            <a:off x="274320" y="1645920"/>
            <a:ext cx="2011680" cy="3200400"/>
          </a:xfrm>
          <a:prstGeom prst="rect">
            <a:avLst/>
          </a:prstGeom>
          <a:solidFill>
            <a:srgbClr val="FFFFFF"/>
          </a:solidFill>
          <a:ln w="6350">
            <a:solidFill>
              <a:srgbClr val="CBD5E1"/>
            </a:solidFill>
            <a:prstDash val="solid"/>
          </a:ln>
          <a:effectLst>
            <a:outerShdw sx="100000" sy="100000" kx="0" ky="0" algn="bl" rotWithShape="0" blurRad="101600" dist="38100" dir="8100000">
              <a:srgbClr val="000000">
                <a:alpha val="12000"/>
              </a:srgbClr>
            </a:outerShdw>
          </a:effectLst>
        </p:spPr>
      </p:sp>
      <p:sp>
        <p:nvSpPr>
          <p:cNvPr id="9" name="Shape 7"/>
          <p:cNvSpPr/>
          <p:nvPr/>
        </p:nvSpPr>
        <p:spPr>
          <a:xfrm>
            <a:off x="384048" y="1828800"/>
            <a:ext cx="54864" cy="329184"/>
          </a:xfrm>
          <a:prstGeom prst="rect">
            <a:avLst/>
          </a:prstGeom>
          <a:solidFill>
            <a:srgbClr val="0D9488"/>
          </a:solidFill>
          <a:ln/>
        </p:spPr>
      </p:sp>
      <p:sp>
        <p:nvSpPr>
          <p:cNvPr id="10" name="Text 8"/>
          <p:cNvSpPr/>
          <p:nvPr/>
        </p:nvSpPr>
        <p:spPr>
          <a:xfrm>
            <a:off x="512064" y="1828800"/>
            <a:ext cx="169164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Angular 17 (Standalone Components)</a:t>
            </a:r>
            <a:endParaRPr lang="en-US" sz="950" dirty="0"/>
          </a:p>
        </p:txBody>
      </p:sp>
      <p:sp>
        <p:nvSpPr>
          <p:cNvPr id="11" name="Shape 9"/>
          <p:cNvSpPr/>
          <p:nvPr/>
        </p:nvSpPr>
        <p:spPr>
          <a:xfrm>
            <a:off x="384048" y="2377440"/>
            <a:ext cx="54864" cy="329184"/>
          </a:xfrm>
          <a:prstGeom prst="rect">
            <a:avLst/>
          </a:prstGeom>
          <a:solidFill>
            <a:srgbClr val="0D9488"/>
          </a:solidFill>
          <a:ln/>
        </p:spPr>
      </p:sp>
      <p:sp>
        <p:nvSpPr>
          <p:cNvPr id="12" name="Text 10"/>
          <p:cNvSpPr/>
          <p:nvPr/>
        </p:nvSpPr>
        <p:spPr>
          <a:xfrm>
            <a:off x="512064" y="2377440"/>
            <a:ext cx="169164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TypeScript</a:t>
            </a:r>
            <a:endParaRPr lang="en-US" sz="950" dirty="0"/>
          </a:p>
        </p:txBody>
      </p:sp>
      <p:sp>
        <p:nvSpPr>
          <p:cNvPr id="13" name="Shape 11"/>
          <p:cNvSpPr/>
          <p:nvPr/>
        </p:nvSpPr>
        <p:spPr>
          <a:xfrm>
            <a:off x="384048" y="2926080"/>
            <a:ext cx="54864" cy="329184"/>
          </a:xfrm>
          <a:prstGeom prst="rect">
            <a:avLst/>
          </a:prstGeom>
          <a:solidFill>
            <a:srgbClr val="0D9488"/>
          </a:solidFill>
          <a:ln/>
        </p:spPr>
      </p:sp>
      <p:sp>
        <p:nvSpPr>
          <p:cNvPr id="14" name="Text 12"/>
          <p:cNvSpPr/>
          <p:nvPr/>
        </p:nvSpPr>
        <p:spPr>
          <a:xfrm>
            <a:off x="512064" y="2926080"/>
            <a:ext cx="169164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Angular Router (Lazy Loading)</a:t>
            </a:r>
            <a:endParaRPr lang="en-US" sz="950" dirty="0"/>
          </a:p>
        </p:txBody>
      </p:sp>
      <p:sp>
        <p:nvSpPr>
          <p:cNvPr id="15" name="Shape 13"/>
          <p:cNvSpPr/>
          <p:nvPr/>
        </p:nvSpPr>
        <p:spPr>
          <a:xfrm>
            <a:off x="384048" y="3474720"/>
            <a:ext cx="54864" cy="329184"/>
          </a:xfrm>
          <a:prstGeom prst="rect">
            <a:avLst/>
          </a:prstGeom>
          <a:solidFill>
            <a:srgbClr val="0D9488"/>
          </a:solidFill>
          <a:ln/>
        </p:spPr>
      </p:sp>
      <p:sp>
        <p:nvSpPr>
          <p:cNvPr id="16" name="Text 14"/>
          <p:cNvSpPr/>
          <p:nvPr/>
        </p:nvSpPr>
        <p:spPr>
          <a:xfrm>
            <a:off x="512064" y="3474720"/>
            <a:ext cx="169164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HTTP Client + Interceptors</a:t>
            </a:r>
            <a:endParaRPr lang="en-US" sz="950" dirty="0"/>
          </a:p>
        </p:txBody>
      </p:sp>
      <p:sp>
        <p:nvSpPr>
          <p:cNvPr id="17" name="Shape 15"/>
          <p:cNvSpPr/>
          <p:nvPr/>
        </p:nvSpPr>
        <p:spPr>
          <a:xfrm>
            <a:off x="384048" y="4023360"/>
            <a:ext cx="54864" cy="329184"/>
          </a:xfrm>
          <a:prstGeom prst="rect">
            <a:avLst/>
          </a:prstGeom>
          <a:solidFill>
            <a:srgbClr val="0D9488"/>
          </a:solidFill>
          <a:ln/>
        </p:spPr>
      </p:sp>
      <p:sp>
        <p:nvSpPr>
          <p:cNvPr id="18" name="Text 16"/>
          <p:cNvSpPr/>
          <p:nvPr/>
        </p:nvSpPr>
        <p:spPr>
          <a:xfrm>
            <a:off x="512064" y="4023360"/>
            <a:ext cx="169164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SCSS Styling</a:t>
            </a:r>
            <a:endParaRPr lang="en-US" sz="950" dirty="0"/>
          </a:p>
        </p:txBody>
      </p:sp>
      <p:sp>
        <p:nvSpPr>
          <p:cNvPr id="19" name="Shape 17"/>
          <p:cNvSpPr/>
          <p:nvPr/>
        </p:nvSpPr>
        <p:spPr>
          <a:xfrm>
            <a:off x="2423160" y="1234440"/>
            <a:ext cx="2011680" cy="411480"/>
          </a:xfrm>
          <a:prstGeom prst="rect">
            <a:avLst/>
          </a:prstGeom>
          <a:solidFill>
            <a:srgbClr val="1B2A4A"/>
          </a:solidFill>
          <a:ln/>
        </p:spPr>
      </p:sp>
      <p:sp>
        <p:nvSpPr>
          <p:cNvPr id="20" name="Text 18"/>
          <p:cNvSpPr/>
          <p:nvPr/>
        </p:nvSpPr>
        <p:spPr>
          <a:xfrm>
            <a:off x="2423160" y="1234440"/>
            <a:ext cx="20116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Backend</a:t>
            </a:r>
            <a:endParaRPr lang="en-US" sz="1300" dirty="0"/>
          </a:p>
        </p:txBody>
      </p:sp>
      <p:sp>
        <p:nvSpPr>
          <p:cNvPr id="21" name="Shape 19"/>
          <p:cNvSpPr/>
          <p:nvPr/>
        </p:nvSpPr>
        <p:spPr>
          <a:xfrm>
            <a:off x="2423160" y="1645920"/>
            <a:ext cx="2011680" cy="3200400"/>
          </a:xfrm>
          <a:prstGeom prst="rect">
            <a:avLst/>
          </a:prstGeom>
          <a:solidFill>
            <a:srgbClr val="FFFFFF"/>
          </a:solidFill>
          <a:ln w="6350">
            <a:solidFill>
              <a:srgbClr val="CBD5E1"/>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2532888" y="1828800"/>
            <a:ext cx="54864" cy="329184"/>
          </a:xfrm>
          <a:prstGeom prst="rect">
            <a:avLst/>
          </a:prstGeom>
          <a:solidFill>
            <a:srgbClr val="1B2A4A"/>
          </a:solidFill>
          <a:ln/>
        </p:spPr>
      </p:sp>
      <p:sp>
        <p:nvSpPr>
          <p:cNvPr id="23" name="Text 21"/>
          <p:cNvSpPr/>
          <p:nvPr/>
        </p:nvSpPr>
        <p:spPr>
          <a:xfrm>
            <a:off x="2660904" y="1828800"/>
            <a:ext cx="169164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Spring Boot 3.2.0</a:t>
            </a:r>
            <a:endParaRPr lang="en-US" sz="950" dirty="0"/>
          </a:p>
        </p:txBody>
      </p:sp>
      <p:sp>
        <p:nvSpPr>
          <p:cNvPr id="24" name="Shape 22"/>
          <p:cNvSpPr/>
          <p:nvPr/>
        </p:nvSpPr>
        <p:spPr>
          <a:xfrm>
            <a:off x="2532888" y="2377440"/>
            <a:ext cx="54864" cy="329184"/>
          </a:xfrm>
          <a:prstGeom prst="rect">
            <a:avLst/>
          </a:prstGeom>
          <a:solidFill>
            <a:srgbClr val="1B2A4A"/>
          </a:solidFill>
          <a:ln/>
        </p:spPr>
      </p:sp>
      <p:sp>
        <p:nvSpPr>
          <p:cNvPr id="25" name="Text 23"/>
          <p:cNvSpPr/>
          <p:nvPr/>
        </p:nvSpPr>
        <p:spPr>
          <a:xfrm>
            <a:off x="2660904" y="2377440"/>
            <a:ext cx="169164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Spring Security + JWT (jjwt 0.12.3)</a:t>
            </a:r>
            <a:endParaRPr lang="en-US" sz="950" dirty="0"/>
          </a:p>
        </p:txBody>
      </p:sp>
      <p:sp>
        <p:nvSpPr>
          <p:cNvPr id="26" name="Shape 24"/>
          <p:cNvSpPr/>
          <p:nvPr/>
        </p:nvSpPr>
        <p:spPr>
          <a:xfrm>
            <a:off x="2532888" y="2926080"/>
            <a:ext cx="54864" cy="329184"/>
          </a:xfrm>
          <a:prstGeom prst="rect">
            <a:avLst/>
          </a:prstGeom>
          <a:solidFill>
            <a:srgbClr val="1B2A4A"/>
          </a:solidFill>
          <a:ln/>
        </p:spPr>
      </p:sp>
      <p:sp>
        <p:nvSpPr>
          <p:cNvPr id="27" name="Text 25"/>
          <p:cNvSpPr/>
          <p:nvPr/>
        </p:nvSpPr>
        <p:spPr>
          <a:xfrm>
            <a:off x="2660904" y="2926080"/>
            <a:ext cx="169164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Spring Data JPA / Hibernate</a:t>
            </a:r>
            <a:endParaRPr lang="en-US" sz="950" dirty="0"/>
          </a:p>
        </p:txBody>
      </p:sp>
      <p:sp>
        <p:nvSpPr>
          <p:cNvPr id="28" name="Shape 26"/>
          <p:cNvSpPr/>
          <p:nvPr/>
        </p:nvSpPr>
        <p:spPr>
          <a:xfrm>
            <a:off x="2532888" y="3474720"/>
            <a:ext cx="54864" cy="329184"/>
          </a:xfrm>
          <a:prstGeom prst="rect">
            <a:avLst/>
          </a:prstGeom>
          <a:solidFill>
            <a:srgbClr val="1B2A4A"/>
          </a:solidFill>
          <a:ln/>
        </p:spPr>
      </p:sp>
      <p:sp>
        <p:nvSpPr>
          <p:cNvPr id="29" name="Text 27"/>
          <p:cNvSpPr/>
          <p:nvPr/>
        </p:nvSpPr>
        <p:spPr>
          <a:xfrm>
            <a:off x="2660904" y="3474720"/>
            <a:ext cx="169164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Lombok</a:t>
            </a:r>
            <a:endParaRPr lang="en-US" sz="950" dirty="0"/>
          </a:p>
        </p:txBody>
      </p:sp>
      <p:sp>
        <p:nvSpPr>
          <p:cNvPr id="30" name="Shape 28"/>
          <p:cNvSpPr/>
          <p:nvPr/>
        </p:nvSpPr>
        <p:spPr>
          <a:xfrm>
            <a:off x="2532888" y="4023360"/>
            <a:ext cx="54864" cy="329184"/>
          </a:xfrm>
          <a:prstGeom prst="rect">
            <a:avLst/>
          </a:prstGeom>
          <a:solidFill>
            <a:srgbClr val="1B2A4A"/>
          </a:solidFill>
          <a:ln/>
        </p:spPr>
      </p:sp>
      <p:sp>
        <p:nvSpPr>
          <p:cNvPr id="31" name="Text 29"/>
          <p:cNvSpPr/>
          <p:nvPr/>
        </p:nvSpPr>
        <p:spPr>
          <a:xfrm>
            <a:off x="2660904" y="4023360"/>
            <a:ext cx="169164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Springdoc OpenAPI (Swagger)</a:t>
            </a:r>
            <a:endParaRPr lang="en-US" sz="950" dirty="0"/>
          </a:p>
        </p:txBody>
      </p:sp>
      <p:sp>
        <p:nvSpPr>
          <p:cNvPr id="32" name="Shape 30"/>
          <p:cNvSpPr/>
          <p:nvPr/>
        </p:nvSpPr>
        <p:spPr>
          <a:xfrm>
            <a:off x="4572000" y="1234440"/>
            <a:ext cx="2011680" cy="411480"/>
          </a:xfrm>
          <a:prstGeom prst="rect">
            <a:avLst/>
          </a:prstGeom>
          <a:solidFill>
            <a:srgbClr val="C9973A"/>
          </a:solidFill>
          <a:ln/>
        </p:spPr>
      </p:sp>
      <p:sp>
        <p:nvSpPr>
          <p:cNvPr id="33" name="Text 31"/>
          <p:cNvSpPr/>
          <p:nvPr/>
        </p:nvSpPr>
        <p:spPr>
          <a:xfrm>
            <a:off x="4572000" y="1234440"/>
            <a:ext cx="20116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Database</a:t>
            </a:r>
            <a:endParaRPr lang="en-US" sz="1300" dirty="0"/>
          </a:p>
        </p:txBody>
      </p:sp>
      <p:sp>
        <p:nvSpPr>
          <p:cNvPr id="34" name="Shape 32"/>
          <p:cNvSpPr/>
          <p:nvPr/>
        </p:nvSpPr>
        <p:spPr>
          <a:xfrm>
            <a:off x="4572000" y="1645920"/>
            <a:ext cx="2011680" cy="3200400"/>
          </a:xfrm>
          <a:prstGeom prst="rect">
            <a:avLst/>
          </a:prstGeom>
          <a:solidFill>
            <a:srgbClr val="FFFFFF"/>
          </a:solidFill>
          <a:ln w="6350">
            <a:solidFill>
              <a:srgbClr val="CBD5E1"/>
            </a:solidFill>
            <a:prstDash val="solid"/>
          </a:ln>
          <a:effectLst>
            <a:outerShdw sx="100000" sy="100000" kx="0" ky="0" algn="bl" rotWithShape="0" blurRad="101600" dist="38100" dir="8100000">
              <a:srgbClr val="000000">
                <a:alpha val="12000"/>
              </a:srgbClr>
            </a:outerShdw>
          </a:effectLst>
        </p:spPr>
      </p:sp>
      <p:sp>
        <p:nvSpPr>
          <p:cNvPr id="35" name="Shape 33"/>
          <p:cNvSpPr/>
          <p:nvPr/>
        </p:nvSpPr>
        <p:spPr>
          <a:xfrm>
            <a:off x="4681728" y="1828800"/>
            <a:ext cx="54864" cy="329184"/>
          </a:xfrm>
          <a:prstGeom prst="rect">
            <a:avLst/>
          </a:prstGeom>
          <a:solidFill>
            <a:srgbClr val="C9973A"/>
          </a:solidFill>
          <a:ln/>
        </p:spPr>
      </p:sp>
      <p:sp>
        <p:nvSpPr>
          <p:cNvPr id="36" name="Text 34"/>
          <p:cNvSpPr/>
          <p:nvPr/>
        </p:nvSpPr>
        <p:spPr>
          <a:xfrm>
            <a:off x="4809744" y="1828800"/>
            <a:ext cx="169164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MySQL 8.0</a:t>
            </a:r>
            <a:endParaRPr lang="en-US" sz="950" dirty="0"/>
          </a:p>
        </p:txBody>
      </p:sp>
      <p:sp>
        <p:nvSpPr>
          <p:cNvPr id="37" name="Shape 35"/>
          <p:cNvSpPr/>
          <p:nvPr/>
        </p:nvSpPr>
        <p:spPr>
          <a:xfrm>
            <a:off x="4681728" y="2377440"/>
            <a:ext cx="54864" cy="329184"/>
          </a:xfrm>
          <a:prstGeom prst="rect">
            <a:avLst/>
          </a:prstGeom>
          <a:solidFill>
            <a:srgbClr val="C9973A"/>
          </a:solidFill>
          <a:ln/>
        </p:spPr>
      </p:sp>
      <p:sp>
        <p:nvSpPr>
          <p:cNvPr id="38" name="Text 36"/>
          <p:cNvSpPr/>
          <p:nvPr/>
        </p:nvSpPr>
        <p:spPr>
          <a:xfrm>
            <a:off x="4809744" y="2377440"/>
            <a:ext cx="169164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JPA Entities &amp; Repositories</a:t>
            </a:r>
            <a:endParaRPr lang="en-US" sz="950" dirty="0"/>
          </a:p>
        </p:txBody>
      </p:sp>
      <p:sp>
        <p:nvSpPr>
          <p:cNvPr id="39" name="Shape 37"/>
          <p:cNvSpPr/>
          <p:nvPr/>
        </p:nvSpPr>
        <p:spPr>
          <a:xfrm>
            <a:off x="4681728" y="2926080"/>
            <a:ext cx="54864" cy="329184"/>
          </a:xfrm>
          <a:prstGeom prst="rect">
            <a:avLst/>
          </a:prstGeom>
          <a:solidFill>
            <a:srgbClr val="C9973A"/>
          </a:solidFill>
          <a:ln/>
        </p:spPr>
      </p:sp>
      <p:sp>
        <p:nvSpPr>
          <p:cNvPr id="40" name="Text 38"/>
          <p:cNvSpPr/>
          <p:nvPr/>
        </p:nvSpPr>
        <p:spPr>
          <a:xfrm>
            <a:off x="4809744" y="2926080"/>
            <a:ext cx="169164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DDL-auto: update</a:t>
            </a:r>
            <a:endParaRPr lang="en-US" sz="950" dirty="0"/>
          </a:p>
        </p:txBody>
      </p:sp>
      <p:sp>
        <p:nvSpPr>
          <p:cNvPr id="41" name="Shape 39"/>
          <p:cNvSpPr/>
          <p:nvPr/>
        </p:nvSpPr>
        <p:spPr>
          <a:xfrm>
            <a:off x="4681728" y="3474720"/>
            <a:ext cx="54864" cy="329184"/>
          </a:xfrm>
          <a:prstGeom prst="rect">
            <a:avLst/>
          </a:prstGeom>
          <a:solidFill>
            <a:srgbClr val="C9973A"/>
          </a:solidFill>
          <a:ln/>
        </p:spPr>
      </p:sp>
      <p:sp>
        <p:nvSpPr>
          <p:cNvPr id="42" name="Text 40"/>
          <p:cNvSpPr/>
          <p:nvPr/>
        </p:nvSpPr>
        <p:spPr>
          <a:xfrm>
            <a:off x="4809744" y="3474720"/>
            <a:ext cx="169164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Relational schema with FK constraints</a:t>
            </a:r>
            <a:endParaRPr lang="en-US" sz="950" dirty="0"/>
          </a:p>
        </p:txBody>
      </p:sp>
      <p:sp>
        <p:nvSpPr>
          <p:cNvPr id="43" name="Shape 41"/>
          <p:cNvSpPr/>
          <p:nvPr/>
        </p:nvSpPr>
        <p:spPr>
          <a:xfrm>
            <a:off x="6720840" y="1234440"/>
            <a:ext cx="2011680" cy="411480"/>
          </a:xfrm>
          <a:prstGeom prst="rect">
            <a:avLst/>
          </a:prstGeom>
          <a:solidFill>
            <a:srgbClr val="EA580C"/>
          </a:solidFill>
          <a:ln/>
        </p:spPr>
      </p:sp>
      <p:sp>
        <p:nvSpPr>
          <p:cNvPr id="44" name="Text 42"/>
          <p:cNvSpPr/>
          <p:nvPr/>
        </p:nvSpPr>
        <p:spPr>
          <a:xfrm>
            <a:off x="6720840" y="1234440"/>
            <a:ext cx="20116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Tools &amp; Others</a:t>
            </a:r>
            <a:endParaRPr lang="en-US" sz="1300" dirty="0"/>
          </a:p>
        </p:txBody>
      </p:sp>
      <p:sp>
        <p:nvSpPr>
          <p:cNvPr id="45" name="Shape 43"/>
          <p:cNvSpPr/>
          <p:nvPr/>
        </p:nvSpPr>
        <p:spPr>
          <a:xfrm>
            <a:off x="6720840" y="1645920"/>
            <a:ext cx="2011680" cy="3200400"/>
          </a:xfrm>
          <a:prstGeom prst="rect">
            <a:avLst/>
          </a:prstGeom>
          <a:solidFill>
            <a:srgbClr val="FFFFFF"/>
          </a:solidFill>
          <a:ln w="6350">
            <a:solidFill>
              <a:srgbClr val="CBD5E1"/>
            </a:solidFill>
            <a:prstDash val="solid"/>
          </a:ln>
          <a:effectLst>
            <a:outerShdw sx="100000" sy="100000" kx="0" ky="0" algn="bl" rotWithShape="0" blurRad="101600" dist="38100" dir="8100000">
              <a:srgbClr val="000000">
                <a:alpha val="12000"/>
              </a:srgbClr>
            </a:outerShdw>
          </a:effectLst>
        </p:spPr>
      </p:sp>
      <p:sp>
        <p:nvSpPr>
          <p:cNvPr id="46" name="Shape 44"/>
          <p:cNvSpPr/>
          <p:nvPr/>
        </p:nvSpPr>
        <p:spPr>
          <a:xfrm>
            <a:off x="6830568" y="1828800"/>
            <a:ext cx="54864" cy="329184"/>
          </a:xfrm>
          <a:prstGeom prst="rect">
            <a:avLst/>
          </a:prstGeom>
          <a:solidFill>
            <a:srgbClr val="EA580C"/>
          </a:solidFill>
          <a:ln/>
        </p:spPr>
      </p:sp>
      <p:sp>
        <p:nvSpPr>
          <p:cNvPr id="47" name="Text 45"/>
          <p:cNvSpPr/>
          <p:nvPr/>
        </p:nvSpPr>
        <p:spPr>
          <a:xfrm>
            <a:off x="6958584" y="1828800"/>
            <a:ext cx="169164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Maven (Build)</a:t>
            </a:r>
            <a:endParaRPr lang="en-US" sz="950" dirty="0"/>
          </a:p>
        </p:txBody>
      </p:sp>
      <p:sp>
        <p:nvSpPr>
          <p:cNvPr id="48" name="Shape 46"/>
          <p:cNvSpPr/>
          <p:nvPr/>
        </p:nvSpPr>
        <p:spPr>
          <a:xfrm>
            <a:off x="6830568" y="2377440"/>
            <a:ext cx="54864" cy="329184"/>
          </a:xfrm>
          <a:prstGeom prst="rect">
            <a:avLst/>
          </a:prstGeom>
          <a:solidFill>
            <a:srgbClr val="EA580C"/>
          </a:solidFill>
          <a:ln/>
        </p:spPr>
      </p:sp>
      <p:sp>
        <p:nvSpPr>
          <p:cNvPr id="49" name="Text 47"/>
          <p:cNvSpPr/>
          <p:nvPr/>
        </p:nvSpPr>
        <p:spPr>
          <a:xfrm>
            <a:off x="6958584" y="2377440"/>
            <a:ext cx="169164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ZXing (QR Code gen)</a:t>
            </a:r>
            <a:endParaRPr lang="en-US" sz="950" dirty="0"/>
          </a:p>
        </p:txBody>
      </p:sp>
      <p:sp>
        <p:nvSpPr>
          <p:cNvPr id="50" name="Shape 48"/>
          <p:cNvSpPr/>
          <p:nvPr/>
        </p:nvSpPr>
        <p:spPr>
          <a:xfrm>
            <a:off x="6830568" y="2926080"/>
            <a:ext cx="54864" cy="329184"/>
          </a:xfrm>
          <a:prstGeom prst="rect">
            <a:avLst/>
          </a:prstGeom>
          <a:solidFill>
            <a:srgbClr val="EA580C"/>
          </a:solidFill>
          <a:ln/>
        </p:spPr>
      </p:sp>
      <p:sp>
        <p:nvSpPr>
          <p:cNvPr id="51" name="Text 49"/>
          <p:cNvSpPr/>
          <p:nvPr/>
        </p:nvSpPr>
        <p:spPr>
          <a:xfrm>
            <a:off x="6958584" y="2926080"/>
            <a:ext cx="169164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Apache POI (Excel reports)</a:t>
            </a:r>
            <a:endParaRPr lang="en-US" sz="950" dirty="0"/>
          </a:p>
        </p:txBody>
      </p:sp>
      <p:sp>
        <p:nvSpPr>
          <p:cNvPr id="52" name="Shape 50"/>
          <p:cNvSpPr/>
          <p:nvPr/>
        </p:nvSpPr>
        <p:spPr>
          <a:xfrm>
            <a:off x="6830568" y="3474720"/>
            <a:ext cx="54864" cy="329184"/>
          </a:xfrm>
          <a:prstGeom prst="rect">
            <a:avLst/>
          </a:prstGeom>
          <a:solidFill>
            <a:srgbClr val="EA580C"/>
          </a:solidFill>
          <a:ln/>
        </p:spPr>
      </p:sp>
      <p:sp>
        <p:nvSpPr>
          <p:cNvPr id="53" name="Text 51"/>
          <p:cNvSpPr/>
          <p:nvPr/>
        </p:nvSpPr>
        <p:spPr>
          <a:xfrm>
            <a:off x="6958584" y="3474720"/>
            <a:ext cx="169164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BCrypt password encoding</a:t>
            </a:r>
            <a:endParaRPr lang="en-US" sz="950" dirty="0"/>
          </a:p>
        </p:txBody>
      </p:sp>
      <p:sp>
        <p:nvSpPr>
          <p:cNvPr id="54" name="Shape 52"/>
          <p:cNvSpPr/>
          <p:nvPr/>
        </p:nvSpPr>
        <p:spPr>
          <a:xfrm>
            <a:off x="6830568" y="4023360"/>
            <a:ext cx="54864" cy="329184"/>
          </a:xfrm>
          <a:prstGeom prst="rect">
            <a:avLst/>
          </a:prstGeom>
          <a:solidFill>
            <a:srgbClr val="EA580C"/>
          </a:solidFill>
          <a:ln/>
        </p:spPr>
      </p:sp>
      <p:sp>
        <p:nvSpPr>
          <p:cNvPr id="55" name="Text 53"/>
          <p:cNvSpPr/>
          <p:nvPr/>
        </p:nvSpPr>
        <p:spPr>
          <a:xfrm>
            <a:off x="6958584" y="4023360"/>
            <a:ext cx="169164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Audit Log system</a:t>
            </a:r>
            <a:endParaRPr lang="en-US" sz="950" dirty="0"/>
          </a:p>
        </p:txBody>
      </p:sp>
      <p:sp>
        <p:nvSpPr>
          <p:cNvPr id="56" name="Text 54"/>
          <p:cNvSpPr/>
          <p:nvPr/>
        </p:nvSpPr>
        <p:spPr>
          <a:xfrm>
            <a:off x="274320" y="4773168"/>
            <a:ext cx="8595360" cy="256032"/>
          </a:xfrm>
          <a:prstGeom prst="rect">
            <a:avLst/>
          </a:prstGeom>
          <a:noFill/>
          <a:ln/>
        </p:spPr>
        <p:txBody>
          <a:bodyPr wrap="square" lIns="0" tIns="0" rIns="0" bIns="0" rtlCol="0" anchor="ctr"/>
          <a:lstStyle/>
          <a:p>
            <a:pPr algn="ctr" indent="0" marL="0">
              <a:buNone/>
            </a:pPr>
            <a:r>
              <a:rPr lang="en-US" sz="950" i="1" dirty="0">
                <a:solidFill>
                  <a:srgbClr val="64748B"/>
                </a:solidFill>
                <a:latin typeface="Calibri" pitchFamily="34" charset="0"/>
                <a:ea typeface="Calibri" pitchFamily="34" charset="-122"/>
                <a:cs typeface="Calibri" pitchFamily="34" charset="-120"/>
              </a:rPr>
              <a:t>All components are integrated, tested and production-ready with CORS, JWT, and Swagger configured.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B2A4A"/>
          </a:solidFill>
          <a:ln/>
        </p:spPr>
      </p:sp>
      <p:sp>
        <p:nvSpPr>
          <p:cNvPr id="3" name="Shape 1"/>
          <p:cNvSpPr/>
          <p:nvPr/>
        </p:nvSpPr>
        <p:spPr>
          <a:xfrm>
            <a:off x="0" y="1097280"/>
            <a:ext cx="9144000" cy="54864"/>
          </a:xfrm>
          <a:prstGeom prst="rect">
            <a:avLst/>
          </a:prstGeom>
          <a:solidFill>
            <a:srgbClr val="C9973A"/>
          </a:solidFill>
          <a:ln/>
        </p:spPr>
      </p:sp>
      <p:sp>
        <p:nvSpPr>
          <p:cNvPr id="4" name="Text 2"/>
          <p:cNvSpPr/>
          <p:nvPr/>
        </p:nvSpPr>
        <p:spPr>
          <a:xfrm>
            <a:off x="365760" y="13716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System Architecture</a:t>
            </a:r>
            <a:endParaRPr lang="en-US" sz="2600" dirty="0"/>
          </a:p>
        </p:txBody>
      </p:sp>
      <p:sp>
        <p:nvSpPr>
          <p:cNvPr id="5" name="Text 3"/>
          <p:cNvSpPr/>
          <p:nvPr/>
        </p:nvSpPr>
        <p:spPr>
          <a:xfrm>
            <a:off x="365760" y="685800"/>
            <a:ext cx="8229600" cy="347472"/>
          </a:xfrm>
          <a:prstGeom prst="rect">
            <a:avLst/>
          </a:prstGeom>
          <a:noFill/>
          <a:ln/>
        </p:spPr>
        <p:txBody>
          <a:bodyPr wrap="square" lIns="0" tIns="0" rIns="0" bIns="0" rtlCol="0" anchor="ctr"/>
          <a:lstStyle/>
          <a:p>
            <a:pPr indent="0" marL="0">
              <a:buNone/>
            </a:pPr>
            <a:r>
              <a:rPr lang="en-US" sz="1300" dirty="0">
                <a:solidFill>
                  <a:srgbClr val="E8B96A"/>
                </a:solidFill>
                <a:latin typeface="Calibri" pitchFamily="34" charset="0"/>
                <a:ea typeface="Calibri" pitchFamily="34" charset="-122"/>
                <a:cs typeface="Calibri" pitchFamily="34" charset="-120"/>
              </a:rPr>
              <a:t>Layered MVC architecture — Frontend ↔ Backend ↔ Database</a:t>
            </a:r>
            <a:endParaRPr lang="en-US" sz="1300" dirty="0"/>
          </a:p>
        </p:txBody>
      </p:sp>
      <p:sp>
        <p:nvSpPr>
          <p:cNvPr id="6" name="Shape 4"/>
          <p:cNvSpPr/>
          <p:nvPr/>
        </p:nvSpPr>
        <p:spPr>
          <a:xfrm>
            <a:off x="274320" y="1234440"/>
            <a:ext cx="2743200" cy="411480"/>
          </a:xfrm>
          <a:prstGeom prst="rect">
            <a:avLst/>
          </a:prstGeom>
          <a:solidFill>
            <a:srgbClr val="0D9488"/>
          </a:solidFill>
          <a:ln/>
        </p:spPr>
      </p:sp>
      <p:sp>
        <p:nvSpPr>
          <p:cNvPr id="7" name="Text 5"/>
          <p:cNvSpPr/>
          <p:nvPr/>
        </p:nvSpPr>
        <p:spPr>
          <a:xfrm>
            <a:off x="274320" y="1234440"/>
            <a:ext cx="27432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Frontend (Angular)</a:t>
            </a:r>
            <a:endParaRPr lang="en-US" sz="1200" dirty="0"/>
          </a:p>
        </p:txBody>
      </p:sp>
      <p:sp>
        <p:nvSpPr>
          <p:cNvPr id="8" name="Shape 6"/>
          <p:cNvSpPr/>
          <p:nvPr/>
        </p:nvSpPr>
        <p:spPr>
          <a:xfrm>
            <a:off x="274320" y="1645920"/>
            <a:ext cx="2743200" cy="32461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9" name="Shape 7"/>
          <p:cNvSpPr/>
          <p:nvPr/>
        </p:nvSpPr>
        <p:spPr>
          <a:xfrm>
            <a:off x="274320" y="1645920"/>
            <a:ext cx="2743200" cy="539496"/>
          </a:xfrm>
          <a:prstGeom prst="rect">
            <a:avLst/>
          </a:prstGeom>
          <a:solidFill>
            <a:srgbClr val="F4F6FB"/>
          </a:solidFill>
          <a:ln w="3810">
            <a:solidFill>
              <a:srgbClr val="CBD5E1"/>
            </a:solidFill>
            <a:prstDash val="solid"/>
          </a:ln>
        </p:spPr>
      </p:sp>
      <p:sp>
        <p:nvSpPr>
          <p:cNvPr id="10" name="Text 8"/>
          <p:cNvSpPr/>
          <p:nvPr/>
        </p:nvSpPr>
        <p:spPr>
          <a:xfrm>
            <a:off x="411480" y="1645920"/>
            <a:ext cx="2468880" cy="539496"/>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Login / Auth</a:t>
            </a:r>
            <a:endParaRPr lang="en-US" sz="1050" dirty="0"/>
          </a:p>
        </p:txBody>
      </p:sp>
      <p:sp>
        <p:nvSpPr>
          <p:cNvPr id="11" name="Shape 9"/>
          <p:cNvSpPr/>
          <p:nvPr/>
        </p:nvSpPr>
        <p:spPr>
          <a:xfrm>
            <a:off x="274320" y="2185416"/>
            <a:ext cx="2743200" cy="539496"/>
          </a:xfrm>
          <a:prstGeom prst="rect">
            <a:avLst/>
          </a:prstGeom>
          <a:solidFill>
            <a:srgbClr val="FFFFFF"/>
          </a:solidFill>
          <a:ln w="3810">
            <a:solidFill>
              <a:srgbClr val="CBD5E1"/>
            </a:solidFill>
            <a:prstDash val="solid"/>
          </a:ln>
        </p:spPr>
      </p:sp>
      <p:sp>
        <p:nvSpPr>
          <p:cNvPr id="12" name="Text 10"/>
          <p:cNvSpPr/>
          <p:nvPr/>
        </p:nvSpPr>
        <p:spPr>
          <a:xfrm>
            <a:off x="411480" y="2185416"/>
            <a:ext cx="2468880" cy="539496"/>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Admin Dashboard</a:t>
            </a:r>
            <a:endParaRPr lang="en-US" sz="1050" dirty="0"/>
          </a:p>
        </p:txBody>
      </p:sp>
      <p:sp>
        <p:nvSpPr>
          <p:cNvPr id="13" name="Shape 11"/>
          <p:cNvSpPr/>
          <p:nvPr/>
        </p:nvSpPr>
        <p:spPr>
          <a:xfrm>
            <a:off x="274320" y="2724912"/>
            <a:ext cx="2743200" cy="539496"/>
          </a:xfrm>
          <a:prstGeom prst="rect">
            <a:avLst/>
          </a:prstGeom>
          <a:solidFill>
            <a:srgbClr val="F4F6FB"/>
          </a:solidFill>
          <a:ln w="3810">
            <a:solidFill>
              <a:srgbClr val="CBD5E1"/>
            </a:solidFill>
            <a:prstDash val="solid"/>
          </a:ln>
        </p:spPr>
      </p:sp>
      <p:sp>
        <p:nvSpPr>
          <p:cNvPr id="14" name="Text 12"/>
          <p:cNvSpPr/>
          <p:nvPr/>
        </p:nvSpPr>
        <p:spPr>
          <a:xfrm>
            <a:off x="411480" y="2724912"/>
            <a:ext cx="2468880" cy="539496"/>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Manager Dashboard</a:t>
            </a:r>
            <a:endParaRPr lang="en-US" sz="1050" dirty="0"/>
          </a:p>
        </p:txBody>
      </p:sp>
      <p:sp>
        <p:nvSpPr>
          <p:cNvPr id="15" name="Shape 13"/>
          <p:cNvSpPr/>
          <p:nvPr/>
        </p:nvSpPr>
        <p:spPr>
          <a:xfrm>
            <a:off x="274320" y="3264408"/>
            <a:ext cx="2743200" cy="539496"/>
          </a:xfrm>
          <a:prstGeom prst="rect">
            <a:avLst/>
          </a:prstGeom>
          <a:solidFill>
            <a:srgbClr val="FFFFFF"/>
          </a:solidFill>
          <a:ln w="3810">
            <a:solidFill>
              <a:srgbClr val="CBD5E1"/>
            </a:solidFill>
            <a:prstDash val="solid"/>
          </a:ln>
        </p:spPr>
      </p:sp>
      <p:sp>
        <p:nvSpPr>
          <p:cNvPr id="16" name="Text 14"/>
          <p:cNvSpPr/>
          <p:nvPr/>
        </p:nvSpPr>
        <p:spPr>
          <a:xfrm>
            <a:off x="411480" y="3264408"/>
            <a:ext cx="2468880" cy="539496"/>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Employee Portal</a:t>
            </a:r>
            <a:endParaRPr lang="en-US" sz="1050" dirty="0"/>
          </a:p>
        </p:txBody>
      </p:sp>
      <p:sp>
        <p:nvSpPr>
          <p:cNvPr id="17" name="Shape 15"/>
          <p:cNvSpPr/>
          <p:nvPr/>
        </p:nvSpPr>
        <p:spPr>
          <a:xfrm>
            <a:off x="274320" y="3803904"/>
            <a:ext cx="2743200" cy="539496"/>
          </a:xfrm>
          <a:prstGeom prst="rect">
            <a:avLst/>
          </a:prstGeom>
          <a:solidFill>
            <a:srgbClr val="F4F6FB"/>
          </a:solidFill>
          <a:ln w="3810">
            <a:solidFill>
              <a:srgbClr val="CBD5E1"/>
            </a:solidFill>
            <a:prstDash val="solid"/>
          </a:ln>
        </p:spPr>
      </p:sp>
      <p:sp>
        <p:nvSpPr>
          <p:cNvPr id="18" name="Text 16"/>
          <p:cNvSpPr/>
          <p:nvPr/>
        </p:nvSpPr>
        <p:spPr>
          <a:xfrm>
            <a:off x="411480" y="3803904"/>
            <a:ext cx="2468880" cy="539496"/>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Route Guards</a:t>
            </a:r>
            <a:endParaRPr lang="en-US" sz="1050" dirty="0"/>
          </a:p>
        </p:txBody>
      </p:sp>
      <p:sp>
        <p:nvSpPr>
          <p:cNvPr id="19" name="Shape 17"/>
          <p:cNvSpPr/>
          <p:nvPr/>
        </p:nvSpPr>
        <p:spPr>
          <a:xfrm>
            <a:off x="274320" y="4343400"/>
            <a:ext cx="2743200" cy="539496"/>
          </a:xfrm>
          <a:prstGeom prst="rect">
            <a:avLst/>
          </a:prstGeom>
          <a:solidFill>
            <a:srgbClr val="FFFFFF"/>
          </a:solidFill>
          <a:ln w="3810">
            <a:solidFill>
              <a:srgbClr val="CBD5E1"/>
            </a:solidFill>
            <a:prstDash val="solid"/>
          </a:ln>
        </p:spPr>
      </p:sp>
      <p:sp>
        <p:nvSpPr>
          <p:cNvPr id="20" name="Text 18"/>
          <p:cNvSpPr/>
          <p:nvPr/>
        </p:nvSpPr>
        <p:spPr>
          <a:xfrm>
            <a:off x="411480" y="4343400"/>
            <a:ext cx="2468880" cy="539496"/>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JWT Interceptor</a:t>
            </a:r>
            <a:endParaRPr lang="en-US" sz="1050" dirty="0"/>
          </a:p>
        </p:txBody>
      </p:sp>
      <p:sp>
        <p:nvSpPr>
          <p:cNvPr id="21" name="Shape 19"/>
          <p:cNvSpPr/>
          <p:nvPr/>
        </p:nvSpPr>
        <p:spPr>
          <a:xfrm>
            <a:off x="3246120" y="1234440"/>
            <a:ext cx="2743200" cy="411480"/>
          </a:xfrm>
          <a:prstGeom prst="rect">
            <a:avLst/>
          </a:prstGeom>
          <a:solidFill>
            <a:srgbClr val="1B2A4A"/>
          </a:solidFill>
          <a:ln/>
        </p:spPr>
      </p:sp>
      <p:sp>
        <p:nvSpPr>
          <p:cNvPr id="22" name="Text 20"/>
          <p:cNvSpPr/>
          <p:nvPr/>
        </p:nvSpPr>
        <p:spPr>
          <a:xfrm>
            <a:off x="3246120" y="1234440"/>
            <a:ext cx="27432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Backend (Spring Boot)</a:t>
            </a:r>
            <a:endParaRPr lang="en-US" sz="1200" dirty="0"/>
          </a:p>
        </p:txBody>
      </p:sp>
      <p:sp>
        <p:nvSpPr>
          <p:cNvPr id="23" name="Shape 21"/>
          <p:cNvSpPr/>
          <p:nvPr/>
        </p:nvSpPr>
        <p:spPr>
          <a:xfrm>
            <a:off x="3246120" y="1645920"/>
            <a:ext cx="2743200" cy="32461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4" name="Shape 22"/>
          <p:cNvSpPr/>
          <p:nvPr/>
        </p:nvSpPr>
        <p:spPr>
          <a:xfrm>
            <a:off x="3246120" y="1645920"/>
            <a:ext cx="2743200" cy="539496"/>
          </a:xfrm>
          <a:prstGeom prst="rect">
            <a:avLst/>
          </a:prstGeom>
          <a:solidFill>
            <a:srgbClr val="F4F6FB"/>
          </a:solidFill>
          <a:ln w="3810">
            <a:solidFill>
              <a:srgbClr val="CBD5E1"/>
            </a:solidFill>
            <a:prstDash val="solid"/>
          </a:ln>
        </p:spPr>
      </p:sp>
      <p:sp>
        <p:nvSpPr>
          <p:cNvPr id="25" name="Text 23"/>
          <p:cNvSpPr/>
          <p:nvPr/>
        </p:nvSpPr>
        <p:spPr>
          <a:xfrm>
            <a:off x="3383280" y="1645920"/>
            <a:ext cx="2468880" cy="539496"/>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REST Controllers</a:t>
            </a:r>
            <a:endParaRPr lang="en-US" sz="1050" dirty="0"/>
          </a:p>
        </p:txBody>
      </p:sp>
      <p:sp>
        <p:nvSpPr>
          <p:cNvPr id="26" name="Shape 24"/>
          <p:cNvSpPr/>
          <p:nvPr/>
        </p:nvSpPr>
        <p:spPr>
          <a:xfrm>
            <a:off x="3246120" y="2185416"/>
            <a:ext cx="2743200" cy="539496"/>
          </a:xfrm>
          <a:prstGeom prst="rect">
            <a:avLst/>
          </a:prstGeom>
          <a:solidFill>
            <a:srgbClr val="FFFFFF"/>
          </a:solidFill>
          <a:ln w="3810">
            <a:solidFill>
              <a:srgbClr val="CBD5E1"/>
            </a:solidFill>
            <a:prstDash val="solid"/>
          </a:ln>
        </p:spPr>
      </p:sp>
      <p:sp>
        <p:nvSpPr>
          <p:cNvPr id="27" name="Text 25"/>
          <p:cNvSpPr/>
          <p:nvPr/>
        </p:nvSpPr>
        <p:spPr>
          <a:xfrm>
            <a:off x="3383280" y="2185416"/>
            <a:ext cx="2468880" cy="539496"/>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Service Layer</a:t>
            </a:r>
            <a:endParaRPr lang="en-US" sz="1050" dirty="0"/>
          </a:p>
        </p:txBody>
      </p:sp>
      <p:sp>
        <p:nvSpPr>
          <p:cNvPr id="28" name="Shape 26"/>
          <p:cNvSpPr/>
          <p:nvPr/>
        </p:nvSpPr>
        <p:spPr>
          <a:xfrm>
            <a:off x="3246120" y="2724912"/>
            <a:ext cx="2743200" cy="539496"/>
          </a:xfrm>
          <a:prstGeom prst="rect">
            <a:avLst/>
          </a:prstGeom>
          <a:solidFill>
            <a:srgbClr val="F4F6FB"/>
          </a:solidFill>
          <a:ln w="3810">
            <a:solidFill>
              <a:srgbClr val="CBD5E1"/>
            </a:solidFill>
            <a:prstDash val="solid"/>
          </a:ln>
        </p:spPr>
      </p:sp>
      <p:sp>
        <p:nvSpPr>
          <p:cNvPr id="29" name="Text 27"/>
          <p:cNvSpPr/>
          <p:nvPr/>
        </p:nvSpPr>
        <p:spPr>
          <a:xfrm>
            <a:off x="3383280" y="2724912"/>
            <a:ext cx="2468880" cy="539496"/>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JWT Auth Filter</a:t>
            </a:r>
            <a:endParaRPr lang="en-US" sz="1050" dirty="0"/>
          </a:p>
        </p:txBody>
      </p:sp>
      <p:sp>
        <p:nvSpPr>
          <p:cNvPr id="30" name="Shape 28"/>
          <p:cNvSpPr/>
          <p:nvPr/>
        </p:nvSpPr>
        <p:spPr>
          <a:xfrm>
            <a:off x="3246120" y="3264408"/>
            <a:ext cx="2743200" cy="539496"/>
          </a:xfrm>
          <a:prstGeom prst="rect">
            <a:avLst/>
          </a:prstGeom>
          <a:solidFill>
            <a:srgbClr val="FFFFFF"/>
          </a:solidFill>
          <a:ln w="3810">
            <a:solidFill>
              <a:srgbClr val="CBD5E1"/>
            </a:solidFill>
            <a:prstDash val="solid"/>
          </a:ln>
        </p:spPr>
      </p:sp>
      <p:sp>
        <p:nvSpPr>
          <p:cNvPr id="31" name="Text 29"/>
          <p:cNvSpPr/>
          <p:nvPr/>
        </p:nvSpPr>
        <p:spPr>
          <a:xfrm>
            <a:off x="3383280" y="3264408"/>
            <a:ext cx="2468880" cy="539496"/>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Repository (JPA)</a:t>
            </a:r>
            <a:endParaRPr lang="en-US" sz="1050" dirty="0"/>
          </a:p>
        </p:txBody>
      </p:sp>
      <p:sp>
        <p:nvSpPr>
          <p:cNvPr id="32" name="Shape 30"/>
          <p:cNvSpPr/>
          <p:nvPr/>
        </p:nvSpPr>
        <p:spPr>
          <a:xfrm>
            <a:off x="3246120" y="3803904"/>
            <a:ext cx="2743200" cy="539496"/>
          </a:xfrm>
          <a:prstGeom prst="rect">
            <a:avLst/>
          </a:prstGeom>
          <a:solidFill>
            <a:srgbClr val="F4F6FB"/>
          </a:solidFill>
          <a:ln w="3810">
            <a:solidFill>
              <a:srgbClr val="CBD5E1"/>
            </a:solidFill>
            <a:prstDash val="solid"/>
          </a:ln>
        </p:spPr>
      </p:sp>
      <p:sp>
        <p:nvSpPr>
          <p:cNvPr id="33" name="Text 31"/>
          <p:cNvSpPr/>
          <p:nvPr/>
        </p:nvSpPr>
        <p:spPr>
          <a:xfrm>
            <a:off x="3383280" y="3803904"/>
            <a:ext cx="2468880" cy="539496"/>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Security Config</a:t>
            </a:r>
            <a:endParaRPr lang="en-US" sz="1050" dirty="0"/>
          </a:p>
        </p:txBody>
      </p:sp>
      <p:sp>
        <p:nvSpPr>
          <p:cNvPr id="34" name="Shape 32"/>
          <p:cNvSpPr/>
          <p:nvPr/>
        </p:nvSpPr>
        <p:spPr>
          <a:xfrm>
            <a:off x="3246120" y="4343400"/>
            <a:ext cx="2743200" cy="539496"/>
          </a:xfrm>
          <a:prstGeom prst="rect">
            <a:avLst/>
          </a:prstGeom>
          <a:solidFill>
            <a:srgbClr val="FFFFFF"/>
          </a:solidFill>
          <a:ln w="3810">
            <a:solidFill>
              <a:srgbClr val="CBD5E1"/>
            </a:solidFill>
            <a:prstDash val="solid"/>
          </a:ln>
        </p:spPr>
      </p:sp>
      <p:sp>
        <p:nvSpPr>
          <p:cNvPr id="35" name="Text 33"/>
          <p:cNvSpPr/>
          <p:nvPr/>
        </p:nvSpPr>
        <p:spPr>
          <a:xfrm>
            <a:off x="3383280" y="4343400"/>
            <a:ext cx="2468880" cy="539496"/>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Swagger UI</a:t>
            </a:r>
            <a:endParaRPr lang="en-US" sz="1050" dirty="0"/>
          </a:p>
        </p:txBody>
      </p:sp>
      <p:sp>
        <p:nvSpPr>
          <p:cNvPr id="36" name="Shape 34"/>
          <p:cNvSpPr/>
          <p:nvPr/>
        </p:nvSpPr>
        <p:spPr>
          <a:xfrm>
            <a:off x="6217920" y="1234440"/>
            <a:ext cx="2743200" cy="411480"/>
          </a:xfrm>
          <a:prstGeom prst="rect">
            <a:avLst/>
          </a:prstGeom>
          <a:solidFill>
            <a:srgbClr val="C9973A"/>
          </a:solidFill>
          <a:ln/>
        </p:spPr>
      </p:sp>
      <p:sp>
        <p:nvSpPr>
          <p:cNvPr id="37" name="Text 35"/>
          <p:cNvSpPr/>
          <p:nvPr/>
        </p:nvSpPr>
        <p:spPr>
          <a:xfrm>
            <a:off x="6217920" y="1234440"/>
            <a:ext cx="27432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Database (MySQL)</a:t>
            </a:r>
            <a:endParaRPr lang="en-US" sz="1200" dirty="0"/>
          </a:p>
        </p:txBody>
      </p:sp>
      <p:sp>
        <p:nvSpPr>
          <p:cNvPr id="38" name="Shape 36"/>
          <p:cNvSpPr/>
          <p:nvPr/>
        </p:nvSpPr>
        <p:spPr>
          <a:xfrm>
            <a:off x="6217920" y="1645920"/>
            <a:ext cx="2743200" cy="32461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9" name="Shape 37"/>
          <p:cNvSpPr/>
          <p:nvPr/>
        </p:nvSpPr>
        <p:spPr>
          <a:xfrm>
            <a:off x="6217920" y="1645920"/>
            <a:ext cx="2743200" cy="539496"/>
          </a:xfrm>
          <a:prstGeom prst="rect">
            <a:avLst/>
          </a:prstGeom>
          <a:solidFill>
            <a:srgbClr val="F4F6FB"/>
          </a:solidFill>
          <a:ln w="3810">
            <a:solidFill>
              <a:srgbClr val="CBD5E1"/>
            </a:solidFill>
            <a:prstDash val="solid"/>
          </a:ln>
        </p:spPr>
      </p:sp>
      <p:sp>
        <p:nvSpPr>
          <p:cNvPr id="40" name="Text 38"/>
          <p:cNvSpPr/>
          <p:nvPr/>
        </p:nvSpPr>
        <p:spPr>
          <a:xfrm>
            <a:off x="6355080" y="1645920"/>
            <a:ext cx="2468880" cy="539496"/>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users</a:t>
            </a:r>
            <a:endParaRPr lang="en-US" sz="1050" dirty="0"/>
          </a:p>
        </p:txBody>
      </p:sp>
      <p:sp>
        <p:nvSpPr>
          <p:cNvPr id="41" name="Shape 39"/>
          <p:cNvSpPr/>
          <p:nvPr/>
        </p:nvSpPr>
        <p:spPr>
          <a:xfrm>
            <a:off x="6217920" y="2185416"/>
            <a:ext cx="2743200" cy="539496"/>
          </a:xfrm>
          <a:prstGeom prst="rect">
            <a:avLst/>
          </a:prstGeom>
          <a:solidFill>
            <a:srgbClr val="FFFFFF"/>
          </a:solidFill>
          <a:ln w="3810">
            <a:solidFill>
              <a:srgbClr val="CBD5E1"/>
            </a:solidFill>
            <a:prstDash val="solid"/>
          </a:ln>
        </p:spPr>
      </p:sp>
      <p:sp>
        <p:nvSpPr>
          <p:cNvPr id="42" name="Text 40"/>
          <p:cNvSpPr/>
          <p:nvPr/>
        </p:nvSpPr>
        <p:spPr>
          <a:xfrm>
            <a:off x="6355080" y="2185416"/>
            <a:ext cx="2468880" cy="539496"/>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leave_applications</a:t>
            </a:r>
            <a:endParaRPr lang="en-US" sz="1050" dirty="0"/>
          </a:p>
        </p:txBody>
      </p:sp>
      <p:sp>
        <p:nvSpPr>
          <p:cNvPr id="43" name="Shape 41"/>
          <p:cNvSpPr/>
          <p:nvPr/>
        </p:nvSpPr>
        <p:spPr>
          <a:xfrm>
            <a:off x="6217920" y="2724912"/>
            <a:ext cx="2743200" cy="539496"/>
          </a:xfrm>
          <a:prstGeom prst="rect">
            <a:avLst/>
          </a:prstGeom>
          <a:solidFill>
            <a:srgbClr val="F4F6FB"/>
          </a:solidFill>
          <a:ln w="3810">
            <a:solidFill>
              <a:srgbClr val="CBD5E1"/>
            </a:solidFill>
            <a:prstDash val="solid"/>
          </a:ln>
        </p:spPr>
      </p:sp>
      <p:sp>
        <p:nvSpPr>
          <p:cNvPr id="44" name="Text 42"/>
          <p:cNvSpPr/>
          <p:nvPr/>
        </p:nvSpPr>
        <p:spPr>
          <a:xfrm>
            <a:off x="6355080" y="2724912"/>
            <a:ext cx="2468880" cy="539496"/>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performance_reviews</a:t>
            </a:r>
            <a:endParaRPr lang="en-US" sz="1050" dirty="0"/>
          </a:p>
        </p:txBody>
      </p:sp>
      <p:sp>
        <p:nvSpPr>
          <p:cNvPr id="45" name="Shape 43"/>
          <p:cNvSpPr/>
          <p:nvPr/>
        </p:nvSpPr>
        <p:spPr>
          <a:xfrm>
            <a:off x="6217920" y="3264408"/>
            <a:ext cx="2743200" cy="539496"/>
          </a:xfrm>
          <a:prstGeom prst="rect">
            <a:avLst/>
          </a:prstGeom>
          <a:solidFill>
            <a:srgbClr val="FFFFFF"/>
          </a:solidFill>
          <a:ln w="3810">
            <a:solidFill>
              <a:srgbClr val="CBD5E1"/>
            </a:solidFill>
            <a:prstDash val="solid"/>
          </a:ln>
        </p:spPr>
      </p:sp>
      <p:sp>
        <p:nvSpPr>
          <p:cNvPr id="46" name="Text 44"/>
          <p:cNvSpPr/>
          <p:nvPr/>
        </p:nvSpPr>
        <p:spPr>
          <a:xfrm>
            <a:off x="6355080" y="3264408"/>
            <a:ext cx="2468880" cy="539496"/>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employee_goals</a:t>
            </a:r>
            <a:endParaRPr lang="en-US" sz="1050" dirty="0"/>
          </a:p>
        </p:txBody>
      </p:sp>
      <p:sp>
        <p:nvSpPr>
          <p:cNvPr id="47" name="Shape 45"/>
          <p:cNvSpPr/>
          <p:nvPr/>
        </p:nvSpPr>
        <p:spPr>
          <a:xfrm>
            <a:off x="6217920" y="3803904"/>
            <a:ext cx="2743200" cy="539496"/>
          </a:xfrm>
          <a:prstGeom prst="rect">
            <a:avLst/>
          </a:prstGeom>
          <a:solidFill>
            <a:srgbClr val="F4F6FB"/>
          </a:solidFill>
          <a:ln w="3810">
            <a:solidFill>
              <a:srgbClr val="CBD5E1"/>
            </a:solidFill>
            <a:prstDash val="solid"/>
          </a:ln>
        </p:spPr>
      </p:sp>
      <p:sp>
        <p:nvSpPr>
          <p:cNvPr id="48" name="Text 46"/>
          <p:cNvSpPr/>
          <p:nvPr/>
        </p:nvSpPr>
        <p:spPr>
          <a:xfrm>
            <a:off x="6355080" y="3803904"/>
            <a:ext cx="2468880" cy="539496"/>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announcements</a:t>
            </a:r>
            <a:endParaRPr lang="en-US" sz="1050" dirty="0"/>
          </a:p>
        </p:txBody>
      </p:sp>
      <p:sp>
        <p:nvSpPr>
          <p:cNvPr id="49" name="Shape 47"/>
          <p:cNvSpPr/>
          <p:nvPr/>
        </p:nvSpPr>
        <p:spPr>
          <a:xfrm>
            <a:off x="6217920" y="4343400"/>
            <a:ext cx="2743200" cy="539496"/>
          </a:xfrm>
          <a:prstGeom prst="rect">
            <a:avLst/>
          </a:prstGeom>
          <a:solidFill>
            <a:srgbClr val="FFFFFF"/>
          </a:solidFill>
          <a:ln w="3810">
            <a:solidFill>
              <a:srgbClr val="CBD5E1"/>
            </a:solidFill>
            <a:prstDash val="solid"/>
          </a:ln>
        </p:spPr>
      </p:sp>
      <p:sp>
        <p:nvSpPr>
          <p:cNvPr id="50" name="Text 48"/>
          <p:cNvSpPr/>
          <p:nvPr/>
        </p:nvSpPr>
        <p:spPr>
          <a:xfrm>
            <a:off x="6355080" y="4343400"/>
            <a:ext cx="2468880" cy="539496"/>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audit_logs</a:t>
            </a:r>
            <a:endParaRPr lang="en-US" sz="1050" dirty="0"/>
          </a:p>
        </p:txBody>
      </p:sp>
      <p:sp>
        <p:nvSpPr>
          <p:cNvPr id="51" name="Shape 49"/>
          <p:cNvSpPr/>
          <p:nvPr/>
        </p:nvSpPr>
        <p:spPr>
          <a:xfrm>
            <a:off x="3017520" y="3154680"/>
            <a:ext cx="228600" cy="54864"/>
          </a:xfrm>
          <a:prstGeom prst="rect">
            <a:avLst/>
          </a:prstGeom>
          <a:solidFill>
            <a:srgbClr val="C9973A"/>
          </a:solidFill>
          <a:ln/>
        </p:spPr>
      </p:sp>
      <p:sp>
        <p:nvSpPr>
          <p:cNvPr id="52" name="Text 50"/>
          <p:cNvSpPr/>
          <p:nvPr/>
        </p:nvSpPr>
        <p:spPr>
          <a:xfrm>
            <a:off x="2994660" y="2971800"/>
            <a:ext cx="365760" cy="365760"/>
          </a:xfrm>
          <a:prstGeom prst="rect">
            <a:avLst/>
          </a:prstGeom>
          <a:noFill/>
          <a:ln/>
        </p:spPr>
        <p:txBody>
          <a:bodyPr wrap="square" lIns="0" tIns="0" rIns="0" bIns="0" rtlCol="0" anchor="ctr"/>
          <a:lstStyle/>
          <a:p>
            <a:pPr algn="ctr" indent="0" marL="0">
              <a:buNone/>
            </a:pPr>
            <a:r>
              <a:rPr lang="en-US" sz="1800" dirty="0">
                <a:solidFill>
                  <a:srgbClr val="C9973A"/>
                </a:solidFill>
              </a:rPr>
              <a:t>↔</a:t>
            </a:r>
            <a:endParaRPr lang="en-US" sz="1800" dirty="0"/>
          </a:p>
        </p:txBody>
      </p:sp>
      <p:sp>
        <p:nvSpPr>
          <p:cNvPr id="53" name="Shape 51"/>
          <p:cNvSpPr/>
          <p:nvPr/>
        </p:nvSpPr>
        <p:spPr>
          <a:xfrm>
            <a:off x="5989320" y="3154680"/>
            <a:ext cx="228600" cy="54864"/>
          </a:xfrm>
          <a:prstGeom prst="rect">
            <a:avLst/>
          </a:prstGeom>
          <a:solidFill>
            <a:srgbClr val="C9973A"/>
          </a:solidFill>
          <a:ln/>
        </p:spPr>
      </p:sp>
      <p:sp>
        <p:nvSpPr>
          <p:cNvPr id="54" name="Text 52"/>
          <p:cNvSpPr/>
          <p:nvPr/>
        </p:nvSpPr>
        <p:spPr>
          <a:xfrm>
            <a:off x="5966460" y="2971800"/>
            <a:ext cx="365760" cy="365760"/>
          </a:xfrm>
          <a:prstGeom prst="rect">
            <a:avLst/>
          </a:prstGeom>
          <a:noFill/>
          <a:ln/>
        </p:spPr>
        <p:txBody>
          <a:bodyPr wrap="square" lIns="0" tIns="0" rIns="0" bIns="0" rtlCol="0" anchor="ctr"/>
          <a:lstStyle/>
          <a:p>
            <a:pPr algn="ctr" indent="0" marL="0">
              <a:buNone/>
            </a:pPr>
            <a:r>
              <a:rPr lang="en-US" sz="1800" dirty="0">
                <a:solidFill>
                  <a:srgbClr val="C9973A"/>
                </a:solidFill>
              </a:rPr>
              <a:t>↔</a:t>
            </a:r>
            <a:endParaRPr lang="en-US" sz="1800" dirty="0"/>
          </a:p>
        </p:txBody>
      </p:sp>
      <p:sp>
        <p:nvSpPr>
          <p:cNvPr id="55" name="Text 53"/>
          <p:cNvSpPr/>
          <p:nvPr/>
        </p:nvSpPr>
        <p:spPr>
          <a:xfrm>
            <a:off x="2743200" y="4956048"/>
            <a:ext cx="1463040" cy="182880"/>
          </a:xfrm>
          <a:prstGeom prst="rect">
            <a:avLst/>
          </a:prstGeom>
          <a:noFill/>
          <a:ln/>
        </p:spPr>
        <p:txBody>
          <a:bodyPr wrap="square" lIns="0" tIns="0" rIns="0" bIns="0" rtlCol="0" anchor="ctr"/>
          <a:lstStyle/>
          <a:p>
            <a:pPr algn="ctr" indent="0" marL="0">
              <a:buNone/>
            </a:pPr>
            <a:r>
              <a:rPr lang="en-US" sz="850" i="1" dirty="0">
                <a:solidFill>
                  <a:srgbClr val="64748B"/>
                </a:solidFill>
                <a:latin typeface="Calibri" pitchFamily="34" charset="0"/>
                <a:ea typeface="Calibri" pitchFamily="34" charset="-122"/>
                <a:cs typeface="Calibri" pitchFamily="34" charset="-120"/>
              </a:rPr>
              <a:t>HTTP/REST (JSON)</a:t>
            </a:r>
            <a:endParaRPr lang="en-US" sz="850" dirty="0"/>
          </a:p>
        </p:txBody>
      </p:sp>
      <p:sp>
        <p:nvSpPr>
          <p:cNvPr id="56" name="Text 54"/>
          <p:cNvSpPr/>
          <p:nvPr/>
        </p:nvSpPr>
        <p:spPr>
          <a:xfrm>
            <a:off x="5715000" y="4956048"/>
            <a:ext cx="1188720" cy="182880"/>
          </a:xfrm>
          <a:prstGeom prst="rect">
            <a:avLst/>
          </a:prstGeom>
          <a:noFill/>
          <a:ln/>
        </p:spPr>
        <p:txBody>
          <a:bodyPr wrap="square" lIns="0" tIns="0" rIns="0" bIns="0" rtlCol="0" anchor="ctr"/>
          <a:lstStyle/>
          <a:p>
            <a:pPr algn="ctr" indent="0" marL="0">
              <a:buNone/>
            </a:pPr>
            <a:r>
              <a:rPr lang="en-US" sz="850" i="1" dirty="0">
                <a:solidFill>
                  <a:srgbClr val="64748B"/>
                </a:solidFill>
                <a:latin typeface="Calibri" pitchFamily="34" charset="0"/>
                <a:ea typeface="Calibri" pitchFamily="34" charset="-122"/>
                <a:cs typeface="Calibri" pitchFamily="34" charset="-120"/>
              </a:rPr>
              <a:t>JPA / JDBC</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B2A4A"/>
          </a:solidFill>
          <a:ln/>
        </p:spPr>
      </p:sp>
      <p:sp>
        <p:nvSpPr>
          <p:cNvPr id="3" name="Shape 1"/>
          <p:cNvSpPr/>
          <p:nvPr/>
        </p:nvSpPr>
        <p:spPr>
          <a:xfrm>
            <a:off x="0" y="1097280"/>
            <a:ext cx="9144000" cy="54864"/>
          </a:xfrm>
          <a:prstGeom prst="rect">
            <a:avLst/>
          </a:prstGeom>
          <a:solidFill>
            <a:srgbClr val="C9973A"/>
          </a:solidFill>
          <a:ln/>
        </p:spPr>
      </p:sp>
      <p:sp>
        <p:nvSpPr>
          <p:cNvPr id="4" name="Text 2"/>
          <p:cNvSpPr/>
          <p:nvPr/>
        </p:nvSpPr>
        <p:spPr>
          <a:xfrm>
            <a:off x="365760" y="13716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User Roles &amp; Access Control</a:t>
            </a:r>
            <a:endParaRPr lang="en-US" sz="2600" dirty="0"/>
          </a:p>
        </p:txBody>
      </p:sp>
      <p:sp>
        <p:nvSpPr>
          <p:cNvPr id="5" name="Text 3"/>
          <p:cNvSpPr/>
          <p:nvPr/>
        </p:nvSpPr>
        <p:spPr>
          <a:xfrm>
            <a:off x="365760" y="685800"/>
            <a:ext cx="8229600" cy="347472"/>
          </a:xfrm>
          <a:prstGeom prst="rect">
            <a:avLst/>
          </a:prstGeom>
          <a:noFill/>
          <a:ln/>
        </p:spPr>
        <p:txBody>
          <a:bodyPr wrap="square" lIns="0" tIns="0" rIns="0" bIns="0" rtlCol="0" anchor="ctr"/>
          <a:lstStyle/>
          <a:p>
            <a:pPr indent="0" marL="0">
              <a:buNone/>
            </a:pPr>
            <a:r>
              <a:rPr lang="en-US" sz="1300" dirty="0">
                <a:solidFill>
                  <a:srgbClr val="E8B96A"/>
                </a:solidFill>
                <a:latin typeface="Calibri" pitchFamily="34" charset="0"/>
                <a:ea typeface="Calibri" pitchFamily="34" charset="-122"/>
                <a:cs typeface="Calibri" pitchFamily="34" charset="-120"/>
              </a:rPr>
              <a:t>Three distinct roles with RBAC enforced via Spring Security + JWT</a:t>
            </a:r>
            <a:endParaRPr lang="en-US" sz="1300" dirty="0"/>
          </a:p>
        </p:txBody>
      </p:sp>
      <p:sp>
        <p:nvSpPr>
          <p:cNvPr id="6" name="Shape 4"/>
          <p:cNvSpPr/>
          <p:nvPr/>
        </p:nvSpPr>
        <p:spPr>
          <a:xfrm>
            <a:off x="274320" y="1234440"/>
            <a:ext cx="2743200" cy="640080"/>
          </a:xfrm>
          <a:prstGeom prst="rect">
            <a:avLst/>
          </a:prstGeom>
          <a:solidFill>
            <a:srgbClr val="1B2A4A"/>
          </a:solidFill>
          <a:ln/>
        </p:spPr>
      </p:sp>
      <p:sp>
        <p:nvSpPr>
          <p:cNvPr id="7" name="Shape 5"/>
          <p:cNvSpPr/>
          <p:nvPr/>
        </p:nvSpPr>
        <p:spPr>
          <a:xfrm>
            <a:off x="411480" y="1298448"/>
            <a:ext cx="457200" cy="457200"/>
          </a:xfrm>
          <a:prstGeom prst="ellipse">
            <a:avLst/>
          </a:prstGeom>
          <a:solidFill>
            <a:srgbClr val="FFFFFF"/>
          </a:solidFill>
          <a:ln/>
        </p:spPr>
      </p:sp>
      <p:sp>
        <p:nvSpPr>
          <p:cNvPr id="8" name="Text 6"/>
          <p:cNvSpPr/>
          <p:nvPr/>
        </p:nvSpPr>
        <p:spPr>
          <a:xfrm>
            <a:off x="411480" y="1298448"/>
            <a:ext cx="457200" cy="45720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9" name="Text 7"/>
          <p:cNvSpPr/>
          <p:nvPr/>
        </p:nvSpPr>
        <p:spPr>
          <a:xfrm>
            <a:off x="960120" y="1325880"/>
            <a:ext cx="192024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ADMIN</a:t>
            </a:r>
            <a:endParaRPr lang="en-US" sz="1800" dirty="0"/>
          </a:p>
        </p:txBody>
      </p:sp>
      <p:sp>
        <p:nvSpPr>
          <p:cNvPr id="10" name="Shape 8"/>
          <p:cNvSpPr/>
          <p:nvPr/>
        </p:nvSpPr>
        <p:spPr>
          <a:xfrm>
            <a:off x="274320" y="1874520"/>
            <a:ext cx="2743200" cy="30175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Shape 9"/>
          <p:cNvSpPr/>
          <p:nvPr/>
        </p:nvSpPr>
        <p:spPr>
          <a:xfrm>
            <a:off x="411480" y="1993392"/>
            <a:ext cx="109728" cy="109728"/>
          </a:xfrm>
          <a:prstGeom prst="ellipse">
            <a:avLst/>
          </a:prstGeom>
          <a:solidFill>
            <a:srgbClr val="1B2A4A"/>
          </a:solidFill>
          <a:ln/>
        </p:spPr>
      </p:sp>
      <p:sp>
        <p:nvSpPr>
          <p:cNvPr id="12" name="Text 10"/>
          <p:cNvSpPr/>
          <p:nvPr/>
        </p:nvSpPr>
        <p:spPr>
          <a:xfrm>
            <a:off x="594360" y="1947672"/>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Add / edit / deactivate employees</a:t>
            </a:r>
            <a:endParaRPr lang="en-US" sz="950" dirty="0"/>
          </a:p>
        </p:txBody>
      </p:sp>
      <p:sp>
        <p:nvSpPr>
          <p:cNvPr id="13" name="Shape 11"/>
          <p:cNvSpPr/>
          <p:nvPr/>
        </p:nvSpPr>
        <p:spPr>
          <a:xfrm>
            <a:off x="411480" y="2350008"/>
            <a:ext cx="109728" cy="109728"/>
          </a:xfrm>
          <a:prstGeom prst="ellipse">
            <a:avLst/>
          </a:prstGeom>
          <a:solidFill>
            <a:srgbClr val="1B2A4A"/>
          </a:solidFill>
          <a:ln/>
        </p:spPr>
      </p:sp>
      <p:sp>
        <p:nvSpPr>
          <p:cNvPr id="14" name="Text 12"/>
          <p:cNvSpPr/>
          <p:nvPr/>
        </p:nvSpPr>
        <p:spPr>
          <a:xfrm>
            <a:off x="594360" y="2304288"/>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Manage departments &amp; designations</a:t>
            </a:r>
            <a:endParaRPr lang="en-US" sz="950" dirty="0"/>
          </a:p>
        </p:txBody>
      </p:sp>
      <p:sp>
        <p:nvSpPr>
          <p:cNvPr id="15" name="Shape 13"/>
          <p:cNvSpPr/>
          <p:nvPr/>
        </p:nvSpPr>
        <p:spPr>
          <a:xfrm>
            <a:off x="411480" y="2706624"/>
            <a:ext cx="109728" cy="109728"/>
          </a:xfrm>
          <a:prstGeom prst="ellipse">
            <a:avLst/>
          </a:prstGeom>
          <a:solidFill>
            <a:srgbClr val="1B2A4A"/>
          </a:solidFill>
          <a:ln/>
        </p:spPr>
      </p:sp>
      <p:sp>
        <p:nvSpPr>
          <p:cNvPr id="16" name="Text 14"/>
          <p:cNvSpPr/>
          <p:nvPr/>
        </p:nvSpPr>
        <p:spPr>
          <a:xfrm>
            <a:off x="594360" y="2660904"/>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Configure leave types &amp; holidays</a:t>
            </a:r>
            <a:endParaRPr lang="en-US" sz="950" dirty="0"/>
          </a:p>
        </p:txBody>
      </p:sp>
      <p:sp>
        <p:nvSpPr>
          <p:cNvPr id="17" name="Shape 15"/>
          <p:cNvSpPr/>
          <p:nvPr/>
        </p:nvSpPr>
        <p:spPr>
          <a:xfrm>
            <a:off x="411480" y="3063240"/>
            <a:ext cx="109728" cy="109728"/>
          </a:xfrm>
          <a:prstGeom prst="ellipse">
            <a:avLst/>
          </a:prstGeom>
          <a:solidFill>
            <a:srgbClr val="1B2A4A"/>
          </a:solidFill>
          <a:ln/>
        </p:spPr>
      </p:sp>
      <p:sp>
        <p:nvSpPr>
          <p:cNvPr id="18" name="Text 16"/>
          <p:cNvSpPr/>
          <p:nvPr/>
        </p:nvSpPr>
        <p:spPr>
          <a:xfrm>
            <a:off x="594360" y="3017520"/>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View all leave requests</a:t>
            </a:r>
            <a:endParaRPr lang="en-US" sz="950" dirty="0"/>
          </a:p>
        </p:txBody>
      </p:sp>
      <p:sp>
        <p:nvSpPr>
          <p:cNvPr id="19" name="Shape 17"/>
          <p:cNvSpPr/>
          <p:nvPr/>
        </p:nvSpPr>
        <p:spPr>
          <a:xfrm>
            <a:off x="411480" y="3419856"/>
            <a:ext cx="109728" cy="109728"/>
          </a:xfrm>
          <a:prstGeom prst="ellipse">
            <a:avLst/>
          </a:prstGeom>
          <a:solidFill>
            <a:srgbClr val="1B2A4A"/>
          </a:solidFill>
          <a:ln/>
        </p:spPr>
      </p:sp>
      <p:sp>
        <p:nvSpPr>
          <p:cNvPr id="20" name="Text 18"/>
          <p:cNvSpPr/>
          <p:nvPr/>
        </p:nvSpPr>
        <p:spPr>
          <a:xfrm>
            <a:off x="594360" y="3374136"/>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Post announcements</a:t>
            </a:r>
            <a:endParaRPr lang="en-US" sz="950" dirty="0"/>
          </a:p>
        </p:txBody>
      </p:sp>
      <p:sp>
        <p:nvSpPr>
          <p:cNvPr id="21" name="Shape 19"/>
          <p:cNvSpPr/>
          <p:nvPr/>
        </p:nvSpPr>
        <p:spPr>
          <a:xfrm>
            <a:off x="411480" y="3776472"/>
            <a:ext cx="109728" cy="109728"/>
          </a:xfrm>
          <a:prstGeom prst="ellipse">
            <a:avLst/>
          </a:prstGeom>
          <a:solidFill>
            <a:srgbClr val="1B2A4A"/>
          </a:solidFill>
          <a:ln/>
        </p:spPr>
      </p:sp>
      <p:sp>
        <p:nvSpPr>
          <p:cNvPr id="22" name="Text 20"/>
          <p:cNvSpPr/>
          <p:nvPr/>
        </p:nvSpPr>
        <p:spPr>
          <a:xfrm>
            <a:off x="594360" y="3730752"/>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View audit logs &amp; generate reports</a:t>
            </a:r>
            <a:endParaRPr lang="en-US" sz="950" dirty="0"/>
          </a:p>
        </p:txBody>
      </p:sp>
      <p:sp>
        <p:nvSpPr>
          <p:cNvPr id="23" name="Shape 21"/>
          <p:cNvSpPr/>
          <p:nvPr/>
        </p:nvSpPr>
        <p:spPr>
          <a:xfrm>
            <a:off x="411480" y="4133088"/>
            <a:ext cx="109728" cy="109728"/>
          </a:xfrm>
          <a:prstGeom prst="ellipse">
            <a:avLst/>
          </a:prstGeom>
          <a:solidFill>
            <a:srgbClr val="1B2A4A"/>
          </a:solidFill>
          <a:ln/>
        </p:spPr>
      </p:sp>
      <p:sp>
        <p:nvSpPr>
          <p:cNvPr id="24" name="Text 22"/>
          <p:cNvSpPr/>
          <p:nvPr/>
        </p:nvSpPr>
        <p:spPr>
          <a:xfrm>
            <a:off x="594360" y="4087368"/>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View all goals across org</a:t>
            </a:r>
            <a:endParaRPr lang="en-US" sz="950" dirty="0"/>
          </a:p>
        </p:txBody>
      </p:sp>
      <p:sp>
        <p:nvSpPr>
          <p:cNvPr id="25" name="Shape 23"/>
          <p:cNvSpPr/>
          <p:nvPr/>
        </p:nvSpPr>
        <p:spPr>
          <a:xfrm>
            <a:off x="411480" y="4489704"/>
            <a:ext cx="109728" cy="109728"/>
          </a:xfrm>
          <a:prstGeom prst="ellipse">
            <a:avLst/>
          </a:prstGeom>
          <a:solidFill>
            <a:srgbClr val="1B2A4A"/>
          </a:solidFill>
          <a:ln/>
        </p:spPr>
      </p:sp>
      <p:sp>
        <p:nvSpPr>
          <p:cNvPr id="26" name="Text 24"/>
          <p:cNvSpPr/>
          <p:nvPr/>
        </p:nvSpPr>
        <p:spPr>
          <a:xfrm>
            <a:off x="594360" y="4443984"/>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Access left employees list</a:t>
            </a:r>
            <a:endParaRPr lang="en-US" sz="950" dirty="0"/>
          </a:p>
        </p:txBody>
      </p:sp>
      <p:sp>
        <p:nvSpPr>
          <p:cNvPr id="27" name="Shape 25"/>
          <p:cNvSpPr/>
          <p:nvPr/>
        </p:nvSpPr>
        <p:spPr>
          <a:xfrm>
            <a:off x="3200400" y="1234440"/>
            <a:ext cx="2743200" cy="640080"/>
          </a:xfrm>
          <a:prstGeom prst="rect">
            <a:avLst/>
          </a:prstGeom>
          <a:solidFill>
            <a:srgbClr val="0D9488"/>
          </a:solidFill>
          <a:ln/>
        </p:spPr>
      </p:sp>
      <p:sp>
        <p:nvSpPr>
          <p:cNvPr id="28" name="Shape 26"/>
          <p:cNvSpPr/>
          <p:nvPr/>
        </p:nvSpPr>
        <p:spPr>
          <a:xfrm>
            <a:off x="3337560" y="1298448"/>
            <a:ext cx="457200" cy="457200"/>
          </a:xfrm>
          <a:prstGeom prst="ellipse">
            <a:avLst/>
          </a:prstGeom>
          <a:solidFill>
            <a:srgbClr val="FFFFFF"/>
          </a:solidFill>
          <a:ln/>
        </p:spPr>
      </p:sp>
      <p:sp>
        <p:nvSpPr>
          <p:cNvPr id="29" name="Text 27"/>
          <p:cNvSpPr/>
          <p:nvPr/>
        </p:nvSpPr>
        <p:spPr>
          <a:xfrm>
            <a:off x="3337560" y="1298448"/>
            <a:ext cx="457200" cy="45720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30" name="Text 28"/>
          <p:cNvSpPr/>
          <p:nvPr/>
        </p:nvSpPr>
        <p:spPr>
          <a:xfrm>
            <a:off x="3886200" y="1325880"/>
            <a:ext cx="192024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MANAGER</a:t>
            </a:r>
            <a:endParaRPr lang="en-US" sz="1800" dirty="0"/>
          </a:p>
        </p:txBody>
      </p:sp>
      <p:sp>
        <p:nvSpPr>
          <p:cNvPr id="31" name="Shape 29"/>
          <p:cNvSpPr/>
          <p:nvPr/>
        </p:nvSpPr>
        <p:spPr>
          <a:xfrm>
            <a:off x="3200400" y="1874520"/>
            <a:ext cx="2743200" cy="30175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2" name="Shape 30"/>
          <p:cNvSpPr/>
          <p:nvPr/>
        </p:nvSpPr>
        <p:spPr>
          <a:xfrm>
            <a:off x="3337560" y="1993392"/>
            <a:ext cx="109728" cy="109728"/>
          </a:xfrm>
          <a:prstGeom prst="ellipse">
            <a:avLst/>
          </a:prstGeom>
          <a:solidFill>
            <a:srgbClr val="0D9488"/>
          </a:solidFill>
          <a:ln/>
        </p:spPr>
      </p:sp>
      <p:sp>
        <p:nvSpPr>
          <p:cNvPr id="33" name="Text 31"/>
          <p:cNvSpPr/>
          <p:nvPr/>
        </p:nvSpPr>
        <p:spPr>
          <a:xfrm>
            <a:off x="3520440" y="1947672"/>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View team members</a:t>
            </a:r>
            <a:endParaRPr lang="en-US" sz="950" dirty="0"/>
          </a:p>
        </p:txBody>
      </p:sp>
      <p:sp>
        <p:nvSpPr>
          <p:cNvPr id="34" name="Shape 32"/>
          <p:cNvSpPr/>
          <p:nvPr/>
        </p:nvSpPr>
        <p:spPr>
          <a:xfrm>
            <a:off x="3337560" y="2350008"/>
            <a:ext cx="109728" cy="109728"/>
          </a:xfrm>
          <a:prstGeom prst="ellipse">
            <a:avLst/>
          </a:prstGeom>
          <a:solidFill>
            <a:srgbClr val="0D9488"/>
          </a:solidFill>
          <a:ln/>
        </p:spPr>
      </p:sp>
      <p:sp>
        <p:nvSpPr>
          <p:cNvPr id="35" name="Text 33"/>
          <p:cNvSpPr/>
          <p:nvPr/>
        </p:nvSpPr>
        <p:spPr>
          <a:xfrm>
            <a:off x="3520440" y="2304288"/>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Approve / reject leave requests</a:t>
            </a:r>
            <a:endParaRPr lang="en-US" sz="950" dirty="0"/>
          </a:p>
        </p:txBody>
      </p:sp>
      <p:sp>
        <p:nvSpPr>
          <p:cNvPr id="36" name="Shape 34"/>
          <p:cNvSpPr/>
          <p:nvPr/>
        </p:nvSpPr>
        <p:spPr>
          <a:xfrm>
            <a:off x="3337560" y="2706624"/>
            <a:ext cx="109728" cy="109728"/>
          </a:xfrm>
          <a:prstGeom prst="ellipse">
            <a:avLst/>
          </a:prstGeom>
          <a:solidFill>
            <a:srgbClr val="0D9488"/>
          </a:solidFill>
          <a:ln/>
        </p:spPr>
      </p:sp>
      <p:sp>
        <p:nvSpPr>
          <p:cNvPr id="37" name="Text 35"/>
          <p:cNvSpPr/>
          <p:nvPr/>
        </p:nvSpPr>
        <p:spPr>
          <a:xfrm>
            <a:off x="3520440" y="2660904"/>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Provide performance review feedback</a:t>
            </a:r>
            <a:endParaRPr lang="en-US" sz="950" dirty="0"/>
          </a:p>
        </p:txBody>
      </p:sp>
      <p:sp>
        <p:nvSpPr>
          <p:cNvPr id="38" name="Shape 36"/>
          <p:cNvSpPr/>
          <p:nvPr/>
        </p:nvSpPr>
        <p:spPr>
          <a:xfrm>
            <a:off x="3337560" y="3063240"/>
            <a:ext cx="109728" cy="109728"/>
          </a:xfrm>
          <a:prstGeom prst="ellipse">
            <a:avLst/>
          </a:prstGeom>
          <a:solidFill>
            <a:srgbClr val="0D9488"/>
          </a:solidFill>
          <a:ln/>
        </p:spPr>
      </p:sp>
      <p:sp>
        <p:nvSpPr>
          <p:cNvPr id="39" name="Text 37"/>
          <p:cNvSpPr/>
          <p:nvPr/>
        </p:nvSpPr>
        <p:spPr>
          <a:xfrm>
            <a:off x="3520440" y="3017520"/>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Set &amp; track employee goals</a:t>
            </a:r>
            <a:endParaRPr lang="en-US" sz="950" dirty="0"/>
          </a:p>
        </p:txBody>
      </p:sp>
      <p:sp>
        <p:nvSpPr>
          <p:cNvPr id="40" name="Shape 38"/>
          <p:cNvSpPr/>
          <p:nvPr/>
        </p:nvSpPr>
        <p:spPr>
          <a:xfrm>
            <a:off x="3337560" y="3419856"/>
            <a:ext cx="109728" cy="109728"/>
          </a:xfrm>
          <a:prstGeom prst="ellipse">
            <a:avLst/>
          </a:prstGeom>
          <a:solidFill>
            <a:srgbClr val="0D9488"/>
          </a:solidFill>
          <a:ln/>
        </p:spPr>
      </p:sp>
      <p:sp>
        <p:nvSpPr>
          <p:cNvPr id="41" name="Text 39"/>
          <p:cNvSpPr/>
          <p:nvPr/>
        </p:nvSpPr>
        <p:spPr>
          <a:xfrm>
            <a:off x="3520440" y="3374136"/>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View team dashboard stats</a:t>
            </a:r>
            <a:endParaRPr lang="en-US" sz="950" dirty="0"/>
          </a:p>
        </p:txBody>
      </p:sp>
      <p:sp>
        <p:nvSpPr>
          <p:cNvPr id="42" name="Shape 40"/>
          <p:cNvSpPr/>
          <p:nvPr/>
        </p:nvSpPr>
        <p:spPr>
          <a:xfrm>
            <a:off x="3337560" y="3776472"/>
            <a:ext cx="109728" cy="109728"/>
          </a:xfrm>
          <a:prstGeom prst="ellipse">
            <a:avLst/>
          </a:prstGeom>
          <a:solidFill>
            <a:srgbClr val="0D9488"/>
          </a:solidFill>
          <a:ln/>
        </p:spPr>
      </p:sp>
      <p:sp>
        <p:nvSpPr>
          <p:cNvPr id="43" name="Text 41"/>
          <p:cNvSpPr/>
          <p:nvPr/>
        </p:nvSpPr>
        <p:spPr>
          <a:xfrm>
            <a:off x="3520440" y="3730752"/>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View employee profiles</a:t>
            </a:r>
            <a:endParaRPr lang="en-US" sz="950" dirty="0"/>
          </a:p>
        </p:txBody>
      </p:sp>
      <p:sp>
        <p:nvSpPr>
          <p:cNvPr id="44" name="Shape 42"/>
          <p:cNvSpPr/>
          <p:nvPr/>
        </p:nvSpPr>
        <p:spPr>
          <a:xfrm>
            <a:off x="3337560" y="4133088"/>
            <a:ext cx="109728" cy="109728"/>
          </a:xfrm>
          <a:prstGeom prst="ellipse">
            <a:avLst/>
          </a:prstGeom>
          <a:solidFill>
            <a:srgbClr val="0D9488"/>
          </a:solidFill>
          <a:ln/>
        </p:spPr>
      </p:sp>
      <p:sp>
        <p:nvSpPr>
          <p:cNvPr id="45" name="Text 43"/>
          <p:cNvSpPr/>
          <p:nvPr/>
        </p:nvSpPr>
        <p:spPr>
          <a:xfrm>
            <a:off x="3520440" y="4087368"/>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Get leave notifications</a:t>
            </a:r>
            <a:endParaRPr lang="en-US" sz="950" dirty="0"/>
          </a:p>
        </p:txBody>
      </p:sp>
      <p:sp>
        <p:nvSpPr>
          <p:cNvPr id="46" name="Shape 44"/>
          <p:cNvSpPr/>
          <p:nvPr/>
        </p:nvSpPr>
        <p:spPr>
          <a:xfrm>
            <a:off x="6126480" y="1234440"/>
            <a:ext cx="2743200" cy="640080"/>
          </a:xfrm>
          <a:prstGeom prst="rect">
            <a:avLst/>
          </a:prstGeom>
          <a:solidFill>
            <a:srgbClr val="C9973A"/>
          </a:solidFill>
          <a:ln/>
        </p:spPr>
      </p:sp>
      <p:sp>
        <p:nvSpPr>
          <p:cNvPr id="47" name="Shape 45"/>
          <p:cNvSpPr/>
          <p:nvPr/>
        </p:nvSpPr>
        <p:spPr>
          <a:xfrm>
            <a:off x="6263640" y="1298448"/>
            <a:ext cx="457200" cy="457200"/>
          </a:xfrm>
          <a:prstGeom prst="ellipse">
            <a:avLst/>
          </a:prstGeom>
          <a:solidFill>
            <a:srgbClr val="FFFFFF"/>
          </a:solidFill>
          <a:ln/>
        </p:spPr>
      </p:sp>
      <p:sp>
        <p:nvSpPr>
          <p:cNvPr id="48" name="Text 46"/>
          <p:cNvSpPr/>
          <p:nvPr/>
        </p:nvSpPr>
        <p:spPr>
          <a:xfrm>
            <a:off x="6263640" y="1298448"/>
            <a:ext cx="457200" cy="45720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49" name="Text 47"/>
          <p:cNvSpPr/>
          <p:nvPr/>
        </p:nvSpPr>
        <p:spPr>
          <a:xfrm>
            <a:off x="6812280" y="1325880"/>
            <a:ext cx="192024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EMPLOYEE</a:t>
            </a:r>
            <a:endParaRPr lang="en-US" sz="1800" dirty="0"/>
          </a:p>
        </p:txBody>
      </p:sp>
      <p:sp>
        <p:nvSpPr>
          <p:cNvPr id="50" name="Shape 48"/>
          <p:cNvSpPr/>
          <p:nvPr/>
        </p:nvSpPr>
        <p:spPr>
          <a:xfrm>
            <a:off x="6126480" y="1874520"/>
            <a:ext cx="2743200" cy="30175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1" name="Shape 49"/>
          <p:cNvSpPr/>
          <p:nvPr/>
        </p:nvSpPr>
        <p:spPr>
          <a:xfrm>
            <a:off x="6263640" y="1993392"/>
            <a:ext cx="109728" cy="109728"/>
          </a:xfrm>
          <a:prstGeom prst="ellipse">
            <a:avLst/>
          </a:prstGeom>
          <a:solidFill>
            <a:srgbClr val="C9973A"/>
          </a:solidFill>
          <a:ln/>
        </p:spPr>
      </p:sp>
      <p:sp>
        <p:nvSpPr>
          <p:cNvPr id="52" name="Text 50"/>
          <p:cNvSpPr/>
          <p:nvPr/>
        </p:nvSpPr>
        <p:spPr>
          <a:xfrm>
            <a:off x="6446520" y="1947672"/>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Apply for leave</a:t>
            </a:r>
            <a:endParaRPr lang="en-US" sz="950" dirty="0"/>
          </a:p>
        </p:txBody>
      </p:sp>
      <p:sp>
        <p:nvSpPr>
          <p:cNvPr id="53" name="Shape 51"/>
          <p:cNvSpPr/>
          <p:nvPr/>
        </p:nvSpPr>
        <p:spPr>
          <a:xfrm>
            <a:off x="6263640" y="2350008"/>
            <a:ext cx="109728" cy="109728"/>
          </a:xfrm>
          <a:prstGeom prst="ellipse">
            <a:avLst/>
          </a:prstGeom>
          <a:solidFill>
            <a:srgbClr val="C9973A"/>
          </a:solidFill>
          <a:ln/>
        </p:spPr>
      </p:sp>
      <p:sp>
        <p:nvSpPr>
          <p:cNvPr id="54" name="Text 52"/>
          <p:cNvSpPr/>
          <p:nvPr/>
        </p:nvSpPr>
        <p:spPr>
          <a:xfrm>
            <a:off x="6446520" y="2304288"/>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Track leave balance</a:t>
            </a:r>
            <a:endParaRPr lang="en-US" sz="950" dirty="0"/>
          </a:p>
        </p:txBody>
      </p:sp>
      <p:sp>
        <p:nvSpPr>
          <p:cNvPr id="55" name="Shape 53"/>
          <p:cNvSpPr/>
          <p:nvPr/>
        </p:nvSpPr>
        <p:spPr>
          <a:xfrm>
            <a:off x="6263640" y="2706624"/>
            <a:ext cx="109728" cy="109728"/>
          </a:xfrm>
          <a:prstGeom prst="ellipse">
            <a:avLst/>
          </a:prstGeom>
          <a:solidFill>
            <a:srgbClr val="C9973A"/>
          </a:solidFill>
          <a:ln/>
        </p:spPr>
      </p:sp>
      <p:sp>
        <p:nvSpPr>
          <p:cNvPr id="56" name="Text 54"/>
          <p:cNvSpPr/>
          <p:nvPr/>
        </p:nvSpPr>
        <p:spPr>
          <a:xfrm>
            <a:off x="6446520" y="2660904"/>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Submit performance self-review</a:t>
            </a:r>
            <a:endParaRPr lang="en-US" sz="950" dirty="0"/>
          </a:p>
        </p:txBody>
      </p:sp>
      <p:sp>
        <p:nvSpPr>
          <p:cNvPr id="57" name="Shape 55"/>
          <p:cNvSpPr/>
          <p:nvPr/>
        </p:nvSpPr>
        <p:spPr>
          <a:xfrm>
            <a:off x="6263640" y="3063240"/>
            <a:ext cx="109728" cy="109728"/>
          </a:xfrm>
          <a:prstGeom prst="ellipse">
            <a:avLst/>
          </a:prstGeom>
          <a:solidFill>
            <a:srgbClr val="C9973A"/>
          </a:solidFill>
          <a:ln/>
        </p:spPr>
      </p:sp>
      <p:sp>
        <p:nvSpPr>
          <p:cNvPr id="58" name="Text 56"/>
          <p:cNvSpPr/>
          <p:nvPr/>
        </p:nvSpPr>
        <p:spPr>
          <a:xfrm>
            <a:off x="6446520" y="3017520"/>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Set &amp; update personal goals</a:t>
            </a:r>
            <a:endParaRPr lang="en-US" sz="950" dirty="0"/>
          </a:p>
        </p:txBody>
      </p:sp>
      <p:sp>
        <p:nvSpPr>
          <p:cNvPr id="59" name="Shape 57"/>
          <p:cNvSpPr/>
          <p:nvPr/>
        </p:nvSpPr>
        <p:spPr>
          <a:xfrm>
            <a:off x="6263640" y="3419856"/>
            <a:ext cx="109728" cy="109728"/>
          </a:xfrm>
          <a:prstGeom prst="ellipse">
            <a:avLst/>
          </a:prstGeom>
          <a:solidFill>
            <a:srgbClr val="C9973A"/>
          </a:solidFill>
          <a:ln/>
        </p:spPr>
      </p:sp>
      <p:sp>
        <p:nvSpPr>
          <p:cNvPr id="60" name="Text 58"/>
          <p:cNvSpPr/>
          <p:nvPr/>
        </p:nvSpPr>
        <p:spPr>
          <a:xfrm>
            <a:off x="6446520" y="3374136"/>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View announcements &amp; holidays</a:t>
            </a:r>
            <a:endParaRPr lang="en-US" sz="950" dirty="0"/>
          </a:p>
        </p:txBody>
      </p:sp>
      <p:sp>
        <p:nvSpPr>
          <p:cNvPr id="61" name="Shape 59"/>
          <p:cNvSpPr/>
          <p:nvPr/>
        </p:nvSpPr>
        <p:spPr>
          <a:xfrm>
            <a:off x="6263640" y="3776472"/>
            <a:ext cx="109728" cy="109728"/>
          </a:xfrm>
          <a:prstGeom prst="ellipse">
            <a:avLst/>
          </a:prstGeom>
          <a:solidFill>
            <a:srgbClr val="C9973A"/>
          </a:solidFill>
          <a:ln/>
        </p:spPr>
      </p:sp>
      <p:sp>
        <p:nvSpPr>
          <p:cNvPr id="62" name="Text 60"/>
          <p:cNvSpPr/>
          <p:nvPr/>
        </p:nvSpPr>
        <p:spPr>
          <a:xfrm>
            <a:off x="6446520" y="3730752"/>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Browse employee directory</a:t>
            </a:r>
            <a:endParaRPr lang="en-US" sz="950" dirty="0"/>
          </a:p>
        </p:txBody>
      </p:sp>
      <p:sp>
        <p:nvSpPr>
          <p:cNvPr id="63" name="Shape 61"/>
          <p:cNvSpPr/>
          <p:nvPr/>
        </p:nvSpPr>
        <p:spPr>
          <a:xfrm>
            <a:off x="6263640" y="4133088"/>
            <a:ext cx="109728" cy="109728"/>
          </a:xfrm>
          <a:prstGeom prst="ellipse">
            <a:avLst/>
          </a:prstGeom>
          <a:solidFill>
            <a:srgbClr val="C9973A"/>
          </a:solidFill>
          <a:ln/>
        </p:spPr>
      </p:sp>
      <p:sp>
        <p:nvSpPr>
          <p:cNvPr id="64" name="Text 62"/>
          <p:cNvSpPr/>
          <p:nvPr/>
        </p:nvSpPr>
        <p:spPr>
          <a:xfrm>
            <a:off x="6446520" y="4087368"/>
            <a:ext cx="233172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Manage own profile</a:t>
            </a:r>
            <a:endParaRPr lang="en-US" sz="950" dirty="0"/>
          </a:p>
        </p:txBody>
      </p:sp>
      <p:sp>
        <p:nvSpPr>
          <p:cNvPr id="65" name="Text 63"/>
          <p:cNvSpPr/>
          <p:nvPr/>
        </p:nvSpPr>
        <p:spPr>
          <a:xfrm>
            <a:off x="274320" y="4919472"/>
            <a:ext cx="8595360" cy="201168"/>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Route guards enforce role-based navigation in Angular. Spring Security enforces it server-side via JWT claims.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B2A4A"/>
          </a:solidFill>
          <a:ln/>
        </p:spPr>
      </p:sp>
      <p:sp>
        <p:nvSpPr>
          <p:cNvPr id="3" name="Shape 1"/>
          <p:cNvSpPr/>
          <p:nvPr/>
        </p:nvSpPr>
        <p:spPr>
          <a:xfrm>
            <a:off x="0" y="1097280"/>
            <a:ext cx="9144000" cy="54864"/>
          </a:xfrm>
          <a:prstGeom prst="rect">
            <a:avLst/>
          </a:prstGeom>
          <a:solidFill>
            <a:srgbClr val="C9973A"/>
          </a:solidFill>
          <a:ln/>
        </p:spPr>
      </p:sp>
      <p:sp>
        <p:nvSpPr>
          <p:cNvPr id="4" name="Text 2"/>
          <p:cNvSpPr/>
          <p:nvPr/>
        </p:nvSpPr>
        <p:spPr>
          <a:xfrm>
            <a:off x="365760" y="13716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Core Modules</a:t>
            </a:r>
            <a:endParaRPr lang="en-US" sz="2600" dirty="0"/>
          </a:p>
        </p:txBody>
      </p:sp>
      <p:sp>
        <p:nvSpPr>
          <p:cNvPr id="5" name="Text 3"/>
          <p:cNvSpPr/>
          <p:nvPr/>
        </p:nvSpPr>
        <p:spPr>
          <a:xfrm>
            <a:off x="365760" y="685800"/>
            <a:ext cx="8229600" cy="347472"/>
          </a:xfrm>
          <a:prstGeom prst="rect">
            <a:avLst/>
          </a:prstGeom>
          <a:noFill/>
          <a:ln/>
        </p:spPr>
        <p:txBody>
          <a:bodyPr wrap="square" lIns="0" tIns="0" rIns="0" bIns="0" rtlCol="0" anchor="ctr"/>
          <a:lstStyle/>
          <a:p>
            <a:pPr indent="0" marL="0">
              <a:buNone/>
            </a:pPr>
            <a:r>
              <a:rPr lang="en-US" sz="1300" dirty="0">
                <a:solidFill>
                  <a:srgbClr val="E8B96A"/>
                </a:solidFill>
                <a:latin typeface="Calibri" pitchFamily="34" charset="0"/>
                <a:ea typeface="Calibri" pitchFamily="34" charset="-122"/>
                <a:cs typeface="Calibri" pitchFamily="34" charset="-120"/>
              </a:rPr>
              <a:t>Feature breakdown across all system components</a:t>
            </a:r>
            <a:endParaRPr lang="en-US" sz="1300" dirty="0"/>
          </a:p>
        </p:txBody>
      </p:sp>
      <p:sp>
        <p:nvSpPr>
          <p:cNvPr id="6" name="Shape 4"/>
          <p:cNvSpPr/>
          <p:nvPr/>
        </p:nvSpPr>
        <p:spPr>
          <a:xfrm>
            <a:off x="228600" y="1298448"/>
            <a:ext cx="2011680" cy="114300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228600" y="1298448"/>
            <a:ext cx="2011680" cy="54864"/>
          </a:xfrm>
          <a:prstGeom prst="rect">
            <a:avLst/>
          </a:prstGeom>
          <a:solidFill>
            <a:srgbClr val="C9973A"/>
          </a:solidFill>
          <a:ln/>
        </p:spPr>
      </p:sp>
      <p:sp>
        <p:nvSpPr>
          <p:cNvPr id="8" name="Text 6"/>
          <p:cNvSpPr/>
          <p:nvPr/>
        </p:nvSpPr>
        <p:spPr>
          <a:xfrm>
            <a:off x="320040" y="1408176"/>
            <a:ext cx="347472" cy="347472"/>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9" name="Text 7"/>
          <p:cNvSpPr/>
          <p:nvPr/>
        </p:nvSpPr>
        <p:spPr>
          <a:xfrm>
            <a:off x="704088" y="1435608"/>
            <a:ext cx="1463040" cy="27432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Authentication</a:t>
            </a:r>
            <a:endParaRPr lang="en-US" sz="1050" dirty="0"/>
          </a:p>
        </p:txBody>
      </p:sp>
      <p:sp>
        <p:nvSpPr>
          <p:cNvPr id="10" name="Text 8"/>
          <p:cNvSpPr/>
          <p:nvPr/>
        </p:nvSpPr>
        <p:spPr>
          <a:xfrm>
            <a:off x="320040" y="1773936"/>
            <a:ext cx="1828800" cy="6217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JWT login, BCrypt password hashing, role extraction from token</a:t>
            </a:r>
            <a:endParaRPr lang="en-US" sz="900" dirty="0"/>
          </a:p>
        </p:txBody>
      </p:sp>
      <p:sp>
        <p:nvSpPr>
          <p:cNvPr id="11" name="Shape 9"/>
          <p:cNvSpPr/>
          <p:nvPr/>
        </p:nvSpPr>
        <p:spPr>
          <a:xfrm>
            <a:off x="2423160" y="1298448"/>
            <a:ext cx="2011680" cy="114300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2423160" y="1298448"/>
            <a:ext cx="2011680" cy="54864"/>
          </a:xfrm>
          <a:prstGeom prst="rect">
            <a:avLst/>
          </a:prstGeom>
          <a:solidFill>
            <a:srgbClr val="C9973A"/>
          </a:solidFill>
          <a:ln/>
        </p:spPr>
      </p:sp>
      <p:sp>
        <p:nvSpPr>
          <p:cNvPr id="13" name="Text 11"/>
          <p:cNvSpPr/>
          <p:nvPr/>
        </p:nvSpPr>
        <p:spPr>
          <a:xfrm>
            <a:off x="2514600" y="1408176"/>
            <a:ext cx="347472" cy="347472"/>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14" name="Text 12"/>
          <p:cNvSpPr/>
          <p:nvPr/>
        </p:nvSpPr>
        <p:spPr>
          <a:xfrm>
            <a:off x="2898648" y="1435608"/>
            <a:ext cx="1463040" cy="27432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Employee Mgmt</a:t>
            </a:r>
            <a:endParaRPr lang="en-US" sz="1050" dirty="0"/>
          </a:p>
        </p:txBody>
      </p:sp>
      <p:sp>
        <p:nvSpPr>
          <p:cNvPr id="15" name="Text 13"/>
          <p:cNvSpPr/>
          <p:nvPr/>
        </p:nvSpPr>
        <p:spPr>
          <a:xfrm>
            <a:off x="2514600" y="1773936"/>
            <a:ext cx="1828800" cy="6217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Add, edit, deactivate employees; assign dept, designation &amp; manager</a:t>
            </a:r>
            <a:endParaRPr lang="en-US" sz="900" dirty="0"/>
          </a:p>
        </p:txBody>
      </p:sp>
      <p:sp>
        <p:nvSpPr>
          <p:cNvPr id="16" name="Shape 14"/>
          <p:cNvSpPr/>
          <p:nvPr/>
        </p:nvSpPr>
        <p:spPr>
          <a:xfrm>
            <a:off x="4617720" y="1298448"/>
            <a:ext cx="2011680" cy="114300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4617720" y="1298448"/>
            <a:ext cx="2011680" cy="54864"/>
          </a:xfrm>
          <a:prstGeom prst="rect">
            <a:avLst/>
          </a:prstGeom>
          <a:solidFill>
            <a:srgbClr val="C9973A"/>
          </a:solidFill>
          <a:ln/>
        </p:spPr>
      </p:sp>
      <p:sp>
        <p:nvSpPr>
          <p:cNvPr id="18" name="Text 16"/>
          <p:cNvSpPr/>
          <p:nvPr/>
        </p:nvSpPr>
        <p:spPr>
          <a:xfrm>
            <a:off x="4709160" y="1408176"/>
            <a:ext cx="347472" cy="347472"/>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19" name="Text 17"/>
          <p:cNvSpPr/>
          <p:nvPr/>
        </p:nvSpPr>
        <p:spPr>
          <a:xfrm>
            <a:off x="5093208" y="1435608"/>
            <a:ext cx="1463040" cy="27432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Departments</a:t>
            </a:r>
            <a:endParaRPr lang="en-US" sz="1050" dirty="0"/>
          </a:p>
        </p:txBody>
      </p:sp>
      <p:sp>
        <p:nvSpPr>
          <p:cNvPr id="20" name="Text 18"/>
          <p:cNvSpPr/>
          <p:nvPr/>
        </p:nvSpPr>
        <p:spPr>
          <a:xfrm>
            <a:off x="4709160" y="1773936"/>
            <a:ext cx="1828800" cy="6217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Create &amp; manage departments; link employees to departments</a:t>
            </a:r>
            <a:endParaRPr lang="en-US" sz="900" dirty="0"/>
          </a:p>
        </p:txBody>
      </p:sp>
      <p:sp>
        <p:nvSpPr>
          <p:cNvPr id="21" name="Shape 19"/>
          <p:cNvSpPr/>
          <p:nvPr/>
        </p:nvSpPr>
        <p:spPr>
          <a:xfrm>
            <a:off x="6812280" y="1298448"/>
            <a:ext cx="2011680" cy="114300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6812280" y="1298448"/>
            <a:ext cx="2011680" cy="54864"/>
          </a:xfrm>
          <a:prstGeom prst="rect">
            <a:avLst/>
          </a:prstGeom>
          <a:solidFill>
            <a:srgbClr val="C9973A"/>
          </a:solidFill>
          <a:ln/>
        </p:spPr>
      </p:sp>
      <p:sp>
        <p:nvSpPr>
          <p:cNvPr id="23" name="Text 21"/>
          <p:cNvSpPr/>
          <p:nvPr/>
        </p:nvSpPr>
        <p:spPr>
          <a:xfrm>
            <a:off x="6903720" y="1408176"/>
            <a:ext cx="347472" cy="347472"/>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24" name="Text 22"/>
          <p:cNvSpPr/>
          <p:nvPr/>
        </p:nvSpPr>
        <p:spPr>
          <a:xfrm>
            <a:off x="7287768" y="1435608"/>
            <a:ext cx="1463040" cy="27432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Designations</a:t>
            </a:r>
            <a:endParaRPr lang="en-US" sz="1050" dirty="0"/>
          </a:p>
        </p:txBody>
      </p:sp>
      <p:sp>
        <p:nvSpPr>
          <p:cNvPr id="25" name="Text 23"/>
          <p:cNvSpPr/>
          <p:nvPr/>
        </p:nvSpPr>
        <p:spPr>
          <a:xfrm>
            <a:off x="6903720" y="1773936"/>
            <a:ext cx="1828800" cy="6217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Manage job titles/roles linked to employees</a:t>
            </a:r>
            <a:endParaRPr lang="en-US" sz="900" dirty="0"/>
          </a:p>
        </p:txBody>
      </p:sp>
      <p:sp>
        <p:nvSpPr>
          <p:cNvPr id="26" name="Shape 24"/>
          <p:cNvSpPr/>
          <p:nvPr/>
        </p:nvSpPr>
        <p:spPr>
          <a:xfrm>
            <a:off x="228600" y="2578608"/>
            <a:ext cx="2011680" cy="114300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27" name="Shape 25"/>
          <p:cNvSpPr/>
          <p:nvPr/>
        </p:nvSpPr>
        <p:spPr>
          <a:xfrm>
            <a:off x="228600" y="2578608"/>
            <a:ext cx="2011680" cy="54864"/>
          </a:xfrm>
          <a:prstGeom prst="rect">
            <a:avLst/>
          </a:prstGeom>
          <a:solidFill>
            <a:srgbClr val="C9973A"/>
          </a:solidFill>
          <a:ln/>
        </p:spPr>
      </p:sp>
      <p:sp>
        <p:nvSpPr>
          <p:cNvPr id="28" name="Text 26"/>
          <p:cNvSpPr/>
          <p:nvPr/>
        </p:nvSpPr>
        <p:spPr>
          <a:xfrm>
            <a:off x="320040" y="2688336"/>
            <a:ext cx="347472" cy="347472"/>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29" name="Text 27"/>
          <p:cNvSpPr/>
          <p:nvPr/>
        </p:nvSpPr>
        <p:spPr>
          <a:xfrm>
            <a:off x="704088" y="2715768"/>
            <a:ext cx="1463040" cy="27432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Leave Management</a:t>
            </a:r>
            <a:endParaRPr lang="en-US" sz="1050" dirty="0"/>
          </a:p>
        </p:txBody>
      </p:sp>
      <p:sp>
        <p:nvSpPr>
          <p:cNvPr id="30" name="Text 28"/>
          <p:cNvSpPr/>
          <p:nvPr/>
        </p:nvSpPr>
        <p:spPr>
          <a:xfrm>
            <a:off x="320040" y="3054096"/>
            <a:ext cx="1828800" cy="6217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Apply, approve, reject, cancel leaves; track leave balances by type</a:t>
            </a:r>
            <a:endParaRPr lang="en-US" sz="900" dirty="0"/>
          </a:p>
        </p:txBody>
      </p:sp>
      <p:sp>
        <p:nvSpPr>
          <p:cNvPr id="31" name="Shape 29"/>
          <p:cNvSpPr/>
          <p:nvPr/>
        </p:nvSpPr>
        <p:spPr>
          <a:xfrm>
            <a:off x="2423160" y="2578608"/>
            <a:ext cx="2011680" cy="114300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32" name="Shape 30"/>
          <p:cNvSpPr/>
          <p:nvPr/>
        </p:nvSpPr>
        <p:spPr>
          <a:xfrm>
            <a:off x="2423160" y="2578608"/>
            <a:ext cx="2011680" cy="54864"/>
          </a:xfrm>
          <a:prstGeom prst="rect">
            <a:avLst/>
          </a:prstGeom>
          <a:solidFill>
            <a:srgbClr val="C9973A"/>
          </a:solidFill>
          <a:ln/>
        </p:spPr>
      </p:sp>
      <p:sp>
        <p:nvSpPr>
          <p:cNvPr id="33" name="Text 31"/>
          <p:cNvSpPr/>
          <p:nvPr/>
        </p:nvSpPr>
        <p:spPr>
          <a:xfrm>
            <a:off x="2514600" y="2688336"/>
            <a:ext cx="347472" cy="347472"/>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34" name="Text 32"/>
          <p:cNvSpPr/>
          <p:nvPr/>
        </p:nvSpPr>
        <p:spPr>
          <a:xfrm>
            <a:off x="2898648" y="2715768"/>
            <a:ext cx="1463040" cy="27432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Performance Reviews</a:t>
            </a:r>
            <a:endParaRPr lang="en-US" sz="1050" dirty="0"/>
          </a:p>
        </p:txBody>
      </p:sp>
      <p:sp>
        <p:nvSpPr>
          <p:cNvPr id="35" name="Text 33"/>
          <p:cNvSpPr/>
          <p:nvPr/>
        </p:nvSpPr>
        <p:spPr>
          <a:xfrm>
            <a:off x="2514600" y="3054096"/>
            <a:ext cx="1828800" cy="6217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Employee self-review, manager feedback, rating &amp; status workflow</a:t>
            </a:r>
            <a:endParaRPr lang="en-US" sz="900" dirty="0"/>
          </a:p>
        </p:txBody>
      </p:sp>
      <p:sp>
        <p:nvSpPr>
          <p:cNvPr id="36" name="Shape 34"/>
          <p:cNvSpPr/>
          <p:nvPr/>
        </p:nvSpPr>
        <p:spPr>
          <a:xfrm>
            <a:off x="4617720" y="2578608"/>
            <a:ext cx="2011680" cy="114300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37" name="Shape 35"/>
          <p:cNvSpPr/>
          <p:nvPr/>
        </p:nvSpPr>
        <p:spPr>
          <a:xfrm>
            <a:off x="4617720" y="2578608"/>
            <a:ext cx="2011680" cy="54864"/>
          </a:xfrm>
          <a:prstGeom prst="rect">
            <a:avLst/>
          </a:prstGeom>
          <a:solidFill>
            <a:srgbClr val="C9973A"/>
          </a:solidFill>
          <a:ln/>
        </p:spPr>
      </p:sp>
      <p:sp>
        <p:nvSpPr>
          <p:cNvPr id="38" name="Text 36"/>
          <p:cNvSpPr/>
          <p:nvPr/>
        </p:nvSpPr>
        <p:spPr>
          <a:xfrm>
            <a:off x="4709160" y="2688336"/>
            <a:ext cx="347472" cy="347472"/>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39" name="Text 37"/>
          <p:cNvSpPr/>
          <p:nvPr/>
        </p:nvSpPr>
        <p:spPr>
          <a:xfrm>
            <a:off x="5093208" y="2715768"/>
            <a:ext cx="1463040" cy="27432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Goals (OKRs)</a:t>
            </a:r>
            <a:endParaRPr lang="en-US" sz="1050" dirty="0"/>
          </a:p>
        </p:txBody>
      </p:sp>
      <p:sp>
        <p:nvSpPr>
          <p:cNvPr id="40" name="Text 38"/>
          <p:cNvSpPr/>
          <p:nvPr/>
        </p:nvSpPr>
        <p:spPr>
          <a:xfrm>
            <a:off x="4709160" y="3054096"/>
            <a:ext cx="1828800" cy="6217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Set goals with priority, deadline, progress %; manager comments</a:t>
            </a:r>
            <a:endParaRPr lang="en-US" sz="900" dirty="0"/>
          </a:p>
        </p:txBody>
      </p:sp>
      <p:sp>
        <p:nvSpPr>
          <p:cNvPr id="41" name="Shape 39"/>
          <p:cNvSpPr/>
          <p:nvPr/>
        </p:nvSpPr>
        <p:spPr>
          <a:xfrm>
            <a:off x="6812280" y="2578608"/>
            <a:ext cx="2011680" cy="114300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42" name="Shape 40"/>
          <p:cNvSpPr/>
          <p:nvPr/>
        </p:nvSpPr>
        <p:spPr>
          <a:xfrm>
            <a:off x="6812280" y="2578608"/>
            <a:ext cx="2011680" cy="54864"/>
          </a:xfrm>
          <a:prstGeom prst="rect">
            <a:avLst/>
          </a:prstGeom>
          <a:solidFill>
            <a:srgbClr val="C9973A"/>
          </a:solidFill>
          <a:ln/>
        </p:spPr>
      </p:sp>
      <p:sp>
        <p:nvSpPr>
          <p:cNvPr id="43" name="Text 41"/>
          <p:cNvSpPr/>
          <p:nvPr/>
        </p:nvSpPr>
        <p:spPr>
          <a:xfrm>
            <a:off x="6903720" y="2688336"/>
            <a:ext cx="347472" cy="347472"/>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44" name="Text 42"/>
          <p:cNvSpPr/>
          <p:nvPr/>
        </p:nvSpPr>
        <p:spPr>
          <a:xfrm>
            <a:off x="7287768" y="2715768"/>
            <a:ext cx="1463040" cy="27432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Announcements</a:t>
            </a:r>
            <a:endParaRPr lang="en-US" sz="1050" dirty="0"/>
          </a:p>
        </p:txBody>
      </p:sp>
      <p:sp>
        <p:nvSpPr>
          <p:cNvPr id="45" name="Text 43"/>
          <p:cNvSpPr/>
          <p:nvPr/>
        </p:nvSpPr>
        <p:spPr>
          <a:xfrm>
            <a:off x="6903720" y="3054096"/>
            <a:ext cx="1828800" cy="6217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Admin posts org-wide announcements; employees &amp; managers view</a:t>
            </a:r>
            <a:endParaRPr lang="en-US" sz="900" dirty="0"/>
          </a:p>
        </p:txBody>
      </p:sp>
      <p:sp>
        <p:nvSpPr>
          <p:cNvPr id="46" name="Shape 44"/>
          <p:cNvSpPr/>
          <p:nvPr/>
        </p:nvSpPr>
        <p:spPr>
          <a:xfrm>
            <a:off x="228600" y="3858768"/>
            <a:ext cx="2011680" cy="114300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47" name="Shape 45"/>
          <p:cNvSpPr/>
          <p:nvPr/>
        </p:nvSpPr>
        <p:spPr>
          <a:xfrm>
            <a:off x="228600" y="3858768"/>
            <a:ext cx="2011680" cy="54864"/>
          </a:xfrm>
          <a:prstGeom prst="rect">
            <a:avLst/>
          </a:prstGeom>
          <a:solidFill>
            <a:srgbClr val="C9973A"/>
          </a:solidFill>
          <a:ln/>
        </p:spPr>
      </p:sp>
      <p:sp>
        <p:nvSpPr>
          <p:cNvPr id="48" name="Text 46"/>
          <p:cNvSpPr/>
          <p:nvPr/>
        </p:nvSpPr>
        <p:spPr>
          <a:xfrm>
            <a:off x="320040" y="3968496"/>
            <a:ext cx="347472" cy="347472"/>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49" name="Text 47"/>
          <p:cNvSpPr/>
          <p:nvPr/>
        </p:nvSpPr>
        <p:spPr>
          <a:xfrm>
            <a:off x="704088" y="3995928"/>
            <a:ext cx="1463040" cy="27432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Notifications</a:t>
            </a:r>
            <a:endParaRPr lang="en-US" sz="1050" dirty="0"/>
          </a:p>
        </p:txBody>
      </p:sp>
      <p:sp>
        <p:nvSpPr>
          <p:cNvPr id="50" name="Text 48"/>
          <p:cNvSpPr/>
          <p:nvPr/>
        </p:nvSpPr>
        <p:spPr>
          <a:xfrm>
            <a:off x="320040" y="4334256"/>
            <a:ext cx="1828800" cy="6217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Real-time in-app notifications triggered by leave, review events</a:t>
            </a:r>
            <a:endParaRPr lang="en-US" sz="900" dirty="0"/>
          </a:p>
        </p:txBody>
      </p:sp>
      <p:sp>
        <p:nvSpPr>
          <p:cNvPr id="51" name="Shape 49"/>
          <p:cNvSpPr/>
          <p:nvPr/>
        </p:nvSpPr>
        <p:spPr>
          <a:xfrm>
            <a:off x="2423160" y="3858768"/>
            <a:ext cx="2011680" cy="114300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52" name="Shape 50"/>
          <p:cNvSpPr/>
          <p:nvPr/>
        </p:nvSpPr>
        <p:spPr>
          <a:xfrm>
            <a:off x="2423160" y="3858768"/>
            <a:ext cx="2011680" cy="54864"/>
          </a:xfrm>
          <a:prstGeom prst="rect">
            <a:avLst/>
          </a:prstGeom>
          <a:solidFill>
            <a:srgbClr val="C9973A"/>
          </a:solidFill>
          <a:ln/>
        </p:spPr>
      </p:sp>
      <p:sp>
        <p:nvSpPr>
          <p:cNvPr id="53" name="Text 51"/>
          <p:cNvSpPr/>
          <p:nvPr/>
        </p:nvSpPr>
        <p:spPr>
          <a:xfrm>
            <a:off x="2514600" y="3968496"/>
            <a:ext cx="347472" cy="347472"/>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54" name="Text 52"/>
          <p:cNvSpPr/>
          <p:nvPr/>
        </p:nvSpPr>
        <p:spPr>
          <a:xfrm>
            <a:off x="2898648" y="3995928"/>
            <a:ext cx="1463040" cy="27432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Holidays</a:t>
            </a:r>
            <a:endParaRPr lang="en-US" sz="1050" dirty="0"/>
          </a:p>
        </p:txBody>
      </p:sp>
      <p:sp>
        <p:nvSpPr>
          <p:cNvPr id="55" name="Text 53"/>
          <p:cNvSpPr/>
          <p:nvPr/>
        </p:nvSpPr>
        <p:spPr>
          <a:xfrm>
            <a:off x="2514600" y="4334256"/>
            <a:ext cx="1828800" cy="6217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Manage mandatory &amp; optional company holidays by date</a:t>
            </a:r>
            <a:endParaRPr lang="en-US" sz="900" dirty="0"/>
          </a:p>
        </p:txBody>
      </p:sp>
      <p:sp>
        <p:nvSpPr>
          <p:cNvPr id="56" name="Shape 54"/>
          <p:cNvSpPr/>
          <p:nvPr/>
        </p:nvSpPr>
        <p:spPr>
          <a:xfrm>
            <a:off x="4617720" y="3858768"/>
            <a:ext cx="2011680" cy="114300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57" name="Shape 55"/>
          <p:cNvSpPr/>
          <p:nvPr/>
        </p:nvSpPr>
        <p:spPr>
          <a:xfrm>
            <a:off x="4617720" y="3858768"/>
            <a:ext cx="2011680" cy="54864"/>
          </a:xfrm>
          <a:prstGeom prst="rect">
            <a:avLst/>
          </a:prstGeom>
          <a:solidFill>
            <a:srgbClr val="C9973A"/>
          </a:solidFill>
          <a:ln/>
        </p:spPr>
      </p:sp>
      <p:sp>
        <p:nvSpPr>
          <p:cNvPr id="58" name="Text 56"/>
          <p:cNvSpPr/>
          <p:nvPr/>
        </p:nvSpPr>
        <p:spPr>
          <a:xfrm>
            <a:off x="4709160" y="3968496"/>
            <a:ext cx="347472" cy="347472"/>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59" name="Text 57"/>
          <p:cNvSpPr/>
          <p:nvPr/>
        </p:nvSpPr>
        <p:spPr>
          <a:xfrm>
            <a:off x="5093208" y="3995928"/>
            <a:ext cx="1463040" cy="27432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Reports &amp; Audit</a:t>
            </a:r>
            <a:endParaRPr lang="en-US" sz="1050" dirty="0"/>
          </a:p>
        </p:txBody>
      </p:sp>
      <p:sp>
        <p:nvSpPr>
          <p:cNvPr id="60" name="Text 58"/>
          <p:cNvSpPr/>
          <p:nvPr/>
        </p:nvSpPr>
        <p:spPr>
          <a:xfrm>
            <a:off x="4709160" y="4334256"/>
            <a:ext cx="1828800" cy="6217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Excel export, audit log for all CRUD actions, QR code generation</a:t>
            </a:r>
            <a:endParaRPr lang="en-US" sz="900" dirty="0"/>
          </a:p>
        </p:txBody>
      </p:sp>
      <p:sp>
        <p:nvSpPr>
          <p:cNvPr id="61" name="Shape 59"/>
          <p:cNvSpPr/>
          <p:nvPr/>
        </p:nvSpPr>
        <p:spPr>
          <a:xfrm>
            <a:off x="6812280" y="3858768"/>
            <a:ext cx="2011680" cy="114300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62" name="Shape 60"/>
          <p:cNvSpPr/>
          <p:nvPr/>
        </p:nvSpPr>
        <p:spPr>
          <a:xfrm>
            <a:off x="6812280" y="3858768"/>
            <a:ext cx="2011680" cy="54864"/>
          </a:xfrm>
          <a:prstGeom prst="rect">
            <a:avLst/>
          </a:prstGeom>
          <a:solidFill>
            <a:srgbClr val="C9973A"/>
          </a:solidFill>
          <a:ln/>
        </p:spPr>
      </p:sp>
      <p:sp>
        <p:nvSpPr>
          <p:cNvPr id="63" name="Text 61"/>
          <p:cNvSpPr/>
          <p:nvPr/>
        </p:nvSpPr>
        <p:spPr>
          <a:xfrm>
            <a:off x="6903720" y="3968496"/>
            <a:ext cx="347472" cy="347472"/>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64" name="Text 62"/>
          <p:cNvSpPr/>
          <p:nvPr/>
        </p:nvSpPr>
        <p:spPr>
          <a:xfrm>
            <a:off x="7287768" y="3995928"/>
            <a:ext cx="1463040" cy="27432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Dashboard</a:t>
            </a:r>
            <a:endParaRPr lang="en-US" sz="1050" dirty="0"/>
          </a:p>
        </p:txBody>
      </p:sp>
      <p:sp>
        <p:nvSpPr>
          <p:cNvPr id="65" name="Text 63"/>
          <p:cNvSpPr/>
          <p:nvPr/>
        </p:nvSpPr>
        <p:spPr>
          <a:xfrm>
            <a:off x="6903720" y="4334256"/>
            <a:ext cx="1828800" cy="6217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Role-specific stats: team size, leaves, pending reviews, goal stats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B2A4A"/>
          </a:solidFill>
          <a:ln/>
        </p:spPr>
      </p:sp>
      <p:sp>
        <p:nvSpPr>
          <p:cNvPr id="3" name="Shape 1"/>
          <p:cNvSpPr/>
          <p:nvPr/>
        </p:nvSpPr>
        <p:spPr>
          <a:xfrm>
            <a:off x="0" y="1097280"/>
            <a:ext cx="9144000" cy="54864"/>
          </a:xfrm>
          <a:prstGeom prst="rect">
            <a:avLst/>
          </a:prstGeom>
          <a:solidFill>
            <a:srgbClr val="C9973A"/>
          </a:solidFill>
          <a:ln/>
        </p:spPr>
      </p:sp>
      <p:sp>
        <p:nvSpPr>
          <p:cNvPr id="4" name="Text 2"/>
          <p:cNvSpPr/>
          <p:nvPr/>
        </p:nvSpPr>
        <p:spPr>
          <a:xfrm>
            <a:off x="365760" y="13716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Leave Management Module</a:t>
            </a:r>
            <a:endParaRPr lang="en-US" sz="2600" dirty="0"/>
          </a:p>
        </p:txBody>
      </p:sp>
      <p:sp>
        <p:nvSpPr>
          <p:cNvPr id="5" name="Text 3"/>
          <p:cNvSpPr/>
          <p:nvPr/>
        </p:nvSpPr>
        <p:spPr>
          <a:xfrm>
            <a:off x="365760" y="685800"/>
            <a:ext cx="8229600" cy="347472"/>
          </a:xfrm>
          <a:prstGeom prst="rect">
            <a:avLst/>
          </a:prstGeom>
          <a:noFill/>
          <a:ln/>
        </p:spPr>
        <p:txBody>
          <a:bodyPr wrap="square" lIns="0" tIns="0" rIns="0" bIns="0" rtlCol="0" anchor="ctr"/>
          <a:lstStyle/>
          <a:p>
            <a:pPr indent="0" marL="0">
              <a:buNone/>
            </a:pPr>
            <a:r>
              <a:rPr lang="en-US" sz="1300" dirty="0">
                <a:solidFill>
                  <a:srgbClr val="E8B96A"/>
                </a:solidFill>
                <a:latin typeface="Calibri" pitchFamily="34" charset="0"/>
                <a:ea typeface="Calibri" pitchFamily="34" charset="-122"/>
                <a:cs typeface="Calibri" pitchFamily="34" charset="-120"/>
              </a:rPr>
              <a:t>End-to-end leave workflow with notifications and balance tracking</a:t>
            </a:r>
            <a:endParaRPr lang="en-US" sz="1300" dirty="0"/>
          </a:p>
        </p:txBody>
      </p:sp>
      <p:sp>
        <p:nvSpPr>
          <p:cNvPr id="6" name="Shape 4"/>
          <p:cNvSpPr/>
          <p:nvPr/>
        </p:nvSpPr>
        <p:spPr>
          <a:xfrm>
            <a:off x="685800" y="1261872"/>
            <a:ext cx="640080" cy="640080"/>
          </a:xfrm>
          <a:prstGeom prst="ellipse">
            <a:avLst/>
          </a:prstGeom>
          <a:solidFill>
            <a:srgbClr val="1B2A4A"/>
          </a:solidFill>
          <a:ln/>
        </p:spPr>
      </p:sp>
      <p:sp>
        <p:nvSpPr>
          <p:cNvPr id="7" name="Text 5"/>
          <p:cNvSpPr/>
          <p:nvPr/>
        </p:nvSpPr>
        <p:spPr>
          <a:xfrm>
            <a:off x="685800" y="1261872"/>
            <a:ext cx="640080" cy="640080"/>
          </a:xfrm>
          <a:prstGeom prst="rect">
            <a:avLst/>
          </a:prstGeom>
          <a:noFill/>
          <a:ln/>
        </p:spPr>
        <p:txBody>
          <a:bodyPr wrap="square" lIns="0" tIns="0" rIns="0" bIns="0" rtlCol="0" anchor="ctr"/>
          <a:lstStyle/>
          <a:p>
            <a:pPr algn="ctr" indent="0" marL="0">
              <a:buNone/>
            </a:pPr>
            <a:r>
              <a:rPr lang="en-US" sz="1800" b="1" dirty="0">
                <a:solidFill>
                  <a:srgbClr val="C9973A"/>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274320" y="1993392"/>
            <a:ext cx="1508760" cy="411480"/>
          </a:xfrm>
          <a:prstGeom prst="rect">
            <a:avLst/>
          </a:prstGeom>
          <a:noFill/>
          <a:ln/>
        </p:spPr>
        <p:txBody>
          <a:bodyPr wrap="square" lIns="0" tIns="0" rIns="0" bIns="0" rtlCol="0" anchor="ctr"/>
          <a:lstStyle/>
          <a:p>
            <a:pPr algn="ctr" indent="0" marL="0">
              <a:buNone/>
            </a:pPr>
            <a:r>
              <a:rPr lang="en-US" sz="1000" b="1" dirty="0">
                <a:solidFill>
                  <a:srgbClr val="1B2A4A"/>
                </a:solidFill>
                <a:latin typeface="Calibri" pitchFamily="34" charset="0"/>
                <a:ea typeface="Calibri" pitchFamily="34" charset="-122"/>
                <a:cs typeface="Calibri" pitchFamily="34" charset="-120"/>
              </a:rPr>
              <a:t>Employee</a:t>
            </a:r>
            <a:endParaRPr lang="en-US" sz="1000" dirty="0"/>
          </a:p>
          <a:p>
            <a:pPr algn="ctr" indent="0" marL="0">
              <a:buNone/>
            </a:pPr>
            <a:r>
              <a:rPr lang="en-US" sz="1000" b="1" dirty="0">
                <a:solidFill>
                  <a:srgbClr val="1B2A4A"/>
                </a:solidFill>
                <a:latin typeface="Calibri" pitchFamily="34" charset="0"/>
                <a:ea typeface="Calibri" pitchFamily="34" charset="-122"/>
                <a:cs typeface="Calibri" pitchFamily="34" charset="-120"/>
              </a:rPr>
              <a:t>Applies</a:t>
            </a:r>
            <a:endParaRPr lang="en-US" sz="1000" dirty="0"/>
          </a:p>
        </p:txBody>
      </p:sp>
      <p:sp>
        <p:nvSpPr>
          <p:cNvPr id="9" name="Text 7"/>
          <p:cNvSpPr/>
          <p:nvPr/>
        </p:nvSpPr>
        <p:spPr>
          <a:xfrm>
            <a:off x="274320" y="2423160"/>
            <a:ext cx="1508760" cy="4114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Selects leave type,</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dates &amp; reason</a:t>
            </a:r>
            <a:endParaRPr lang="en-US" sz="900" dirty="0"/>
          </a:p>
        </p:txBody>
      </p:sp>
      <p:sp>
        <p:nvSpPr>
          <p:cNvPr id="10" name="Shape 8"/>
          <p:cNvSpPr/>
          <p:nvPr/>
        </p:nvSpPr>
        <p:spPr>
          <a:xfrm>
            <a:off x="1783080" y="1554480"/>
            <a:ext cx="502920" cy="54864"/>
          </a:xfrm>
          <a:prstGeom prst="rect">
            <a:avLst/>
          </a:prstGeom>
          <a:solidFill>
            <a:srgbClr val="C9973A"/>
          </a:solidFill>
          <a:ln/>
        </p:spPr>
      </p:sp>
      <p:sp>
        <p:nvSpPr>
          <p:cNvPr id="11" name="Shape 9"/>
          <p:cNvSpPr/>
          <p:nvPr/>
        </p:nvSpPr>
        <p:spPr>
          <a:xfrm>
            <a:off x="2404872" y="1261872"/>
            <a:ext cx="640080" cy="640080"/>
          </a:xfrm>
          <a:prstGeom prst="ellipse">
            <a:avLst/>
          </a:prstGeom>
          <a:solidFill>
            <a:srgbClr val="1B2A4A"/>
          </a:solidFill>
          <a:ln/>
        </p:spPr>
      </p:sp>
      <p:sp>
        <p:nvSpPr>
          <p:cNvPr id="12" name="Text 10"/>
          <p:cNvSpPr/>
          <p:nvPr/>
        </p:nvSpPr>
        <p:spPr>
          <a:xfrm>
            <a:off x="2404872" y="1261872"/>
            <a:ext cx="640080" cy="640080"/>
          </a:xfrm>
          <a:prstGeom prst="rect">
            <a:avLst/>
          </a:prstGeom>
          <a:noFill/>
          <a:ln/>
        </p:spPr>
        <p:txBody>
          <a:bodyPr wrap="square" lIns="0" tIns="0" rIns="0" bIns="0" rtlCol="0" anchor="ctr"/>
          <a:lstStyle/>
          <a:p>
            <a:pPr algn="ctr" indent="0" marL="0">
              <a:buNone/>
            </a:pPr>
            <a:r>
              <a:rPr lang="en-US" sz="1800" b="1" dirty="0">
                <a:solidFill>
                  <a:srgbClr val="C9973A"/>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993392" y="1993392"/>
            <a:ext cx="1508760" cy="411480"/>
          </a:xfrm>
          <a:prstGeom prst="rect">
            <a:avLst/>
          </a:prstGeom>
          <a:noFill/>
          <a:ln/>
        </p:spPr>
        <p:txBody>
          <a:bodyPr wrap="square" lIns="0" tIns="0" rIns="0" bIns="0" rtlCol="0" anchor="ctr"/>
          <a:lstStyle/>
          <a:p>
            <a:pPr algn="ctr" indent="0" marL="0">
              <a:buNone/>
            </a:pPr>
            <a:r>
              <a:rPr lang="en-US" sz="1000" b="1" dirty="0">
                <a:solidFill>
                  <a:srgbClr val="1B2A4A"/>
                </a:solidFill>
                <a:latin typeface="Calibri" pitchFamily="34" charset="0"/>
                <a:ea typeface="Calibri" pitchFamily="34" charset="-122"/>
                <a:cs typeface="Calibri" pitchFamily="34" charset="-120"/>
              </a:rPr>
              <a:t>Manager</a:t>
            </a:r>
            <a:endParaRPr lang="en-US" sz="1000" dirty="0"/>
          </a:p>
          <a:p>
            <a:pPr algn="ctr" indent="0" marL="0">
              <a:buNone/>
            </a:pPr>
            <a:r>
              <a:rPr lang="en-US" sz="1000" b="1" dirty="0">
                <a:solidFill>
                  <a:srgbClr val="1B2A4A"/>
                </a:solidFill>
                <a:latin typeface="Calibri" pitchFamily="34" charset="0"/>
                <a:ea typeface="Calibri" pitchFamily="34" charset="-122"/>
                <a:cs typeface="Calibri" pitchFamily="34" charset="-120"/>
              </a:rPr>
              <a:t>Notified</a:t>
            </a:r>
            <a:endParaRPr lang="en-US" sz="1000" dirty="0"/>
          </a:p>
        </p:txBody>
      </p:sp>
      <p:sp>
        <p:nvSpPr>
          <p:cNvPr id="14" name="Text 12"/>
          <p:cNvSpPr/>
          <p:nvPr/>
        </p:nvSpPr>
        <p:spPr>
          <a:xfrm>
            <a:off x="1993392" y="2423160"/>
            <a:ext cx="1508760" cy="4114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In-app notification</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to approver</a:t>
            </a:r>
            <a:endParaRPr lang="en-US" sz="900" dirty="0"/>
          </a:p>
        </p:txBody>
      </p:sp>
      <p:sp>
        <p:nvSpPr>
          <p:cNvPr id="15" name="Shape 13"/>
          <p:cNvSpPr/>
          <p:nvPr/>
        </p:nvSpPr>
        <p:spPr>
          <a:xfrm>
            <a:off x="3502152" y="1554480"/>
            <a:ext cx="502920" cy="54864"/>
          </a:xfrm>
          <a:prstGeom prst="rect">
            <a:avLst/>
          </a:prstGeom>
          <a:solidFill>
            <a:srgbClr val="C9973A"/>
          </a:solidFill>
          <a:ln/>
        </p:spPr>
      </p:sp>
      <p:sp>
        <p:nvSpPr>
          <p:cNvPr id="16" name="Shape 14"/>
          <p:cNvSpPr/>
          <p:nvPr/>
        </p:nvSpPr>
        <p:spPr>
          <a:xfrm>
            <a:off x="4123944" y="1261872"/>
            <a:ext cx="640080" cy="640080"/>
          </a:xfrm>
          <a:prstGeom prst="ellipse">
            <a:avLst/>
          </a:prstGeom>
          <a:solidFill>
            <a:srgbClr val="1B2A4A"/>
          </a:solidFill>
          <a:ln/>
        </p:spPr>
      </p:sp>
      <p:sp>
        <p:nvSpPr>
          <p:cNvPr id="17" name="Text 15"/>
          <p:cNvSpPr/>
          <p:nvPr/>
        </p:nvSpPr>
        <p:spPr>
          <a:xfrm>
            <a:off x="4123944" y="1261872"/>
            <a:ext cx="640080" cy="640080"/>
          </a:xfrm>
          <a:prstGeom prst="rect">
            <a:avLst/>
          </a:prstGeom>
          <a:noFill/>
          <a:ln/>
        </p:spPr>
        <p:txBody>
          <a:bodyPr wrap="square" lIns="0" tIns="0" rIns="0" bIns="0" rtlCol="0" anchor="ctr"/>
          <a:lstStyle/>
          <a:p>
            <a:pPr algn="ctr" indent="0" marL="0">
              <a:buNone/>
            </a:pPr>
            <a:r>
              <a:rPr lang="en-US" sz="1800" b="1" dirty="0">
                <a:solidFill>
                  <a:srgbClr val="C9973A"/>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3712464" y="1993392"/>
            <a:ext cx="1508760" cy="411480"/>
          </a:xfrm>
          <a:prstGeom prst="rect">
            <a:avLst/>
          </a:prstGeom>
          <a:noFill/>
          <a:ln/>
        </p:spPr>
        <p:txBody>
          <a:bodyPr wrap="square" lIns="0" tIns="0" rIns="0" bIns="0" rtlCol="0" anchor="ctr"/>
          <a:lstStyle/>
          <a:p>
            <a:pPr algn="ctr" indent="0" marL="0">
              <a:buNone/>
            </a:pPr>
            <a:r>
              <a:rPr lang="en-US" sz="1000" b="1" dirty="0">
                <a:solidFill>
                  <a:srgbClr val="1B2A4A"/>
                </a:solidFill>
                <a:latin typeface="Calibri" pitchFamily="34" charset="0"/>
                <a:ea typeface="Calibri" pitchFamily="34" charset="-122"/>
                <a:cs typeface="Calibri" pitchFamily="34" charset="-120"/>
              </a:rPr>
              <a:t>Manager</a:t>
            </a:r>
            <a:endParaRPr lang="en-US" sz="1000" dirty="0"/>
          </a:p>
          <a:p>
            <a:pPr algn="ctr" indent="0" marL="0">
              <a:buNone/>
            </a:pPr>
            <a:r>
              <a:rPr lang="en-US" sz="1000" b="1" dirty="0">
                <a:solidFill>
                  <a:srgbClr val="1B2A4A"/>
                </a:solidFill>
                <a:latin typeface="Calibri" pitchFamily="34" charset="0"/>
                <a:ea typeface="Calibri" pitchFamily="34" charset="-122"/>
                <a:cs typeface="Calibri" pitchFamily="34" charset="-120"/>
              </a:rPr>
              <a:t>Decides</a:t>
            </a:r>
            <a:endParaRPr lang="en-US" sz="1000" dirty="0"/>
          </a:p>
        </p:txBody>
      </p:sp>
      <p:sp>
        <p:nvSpPr>
          <p:cNvPr id="19" name="Text 17"/>
          <p:cNvSpPr/>
          <p:nvPr/>
        </p:nvSpPr>
        <p:spPr>
          <a:xfrm>
            <a:off x="3712464" y="2423160"/>
            <a:ext cx="1508760" cy="4114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Approve / Reject</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with comment</a:t>
            </a:r>
            <a:endParaRPr lang="en-US" sz="900" dirty="0"/>
          </a:p>
        </p:txBody>
      </p:sp>
      <p:sp>
        <p:nvSpPr>
          <p:cNvPr id="20" name="Shape 18"/>
          <p:cNvSpPr/>
          <p:nvPr/>
        </p:nvSpPr>
        <p:spPr>
          <a:xfrm>
            <a:off x="5221224" y="1554480"/>
            <a:ext cx="502920" cy="54864"/>
          </a:xfrm>
          <a:prstGeom prst="rect">
            <a:avLst/>
          </a:prstGeom>
          <a:solidFill>
            <a:srgbClr val="C9973A"/>
          </a:solidFill>
          <a:ln/>
        </p:spPr>
      </p:sp>
      <p:sp>
        <p:nvSpPr>
          <p:cNvPr id="21" name="Shape 19"/>
          <p:cNvSpPr/>
          <p:nvPr/>
        </p:nvSpPr>
        <p:spPr>
          <a:xfrm>
            <a:off x="5843016" y="1261872"/>
            <a:ext cx="640080" cy="640080"/>
          </a:xfrm>
          <a:prstGeom prst="ellipse">
            <a:avLst/>
          </a:prstGeom>
          <a:solidFill>
            <a:srgbClr val="1B2A4A"/>
          </a:solidFill>
          <a:ln/>
        </p:spPr>
      </p:sp>
      <p:sp>
        <p:nvSpPr>
          <p:cNvPr id="22" name="Text 20"/>
          <p:cNvSpPr/>
          <p:nvPr/>
        </p:nvSpPr>
        <p:spPr>
          <a:xfrm>
            <a:off x="5843016" y="1261872"/>
            <a:ext cx="640080" cy="640080"/>
          </a:xfrm>
          <a:prstGeom prst="rect">
            <a:avLst/>
          </a:prstGeom>
          <a:noFill/>
          <a:ln/>
        </p:spPr>
        <p:txBody>
          <a:bodyPr wrap="square" lIns="0" tIns="0" rIns="0" bIns="0" rtlCol="0" anchor="ctr"/>
          <a:lstStyle/>
          <a:p>
            <a:pPr algn="ctr" indent="0" marL="0">
              <a:buNone/>
            </a:pPr>
            <a:r>
              <a:rPr lang="en-US" sz="1800" b="1" dirty="0">
                <a:solidFill>
                  <a:srgbClr val="C9973A"/>
                </a:solidFill>
                <a:latin typeface="Calibri" pitchFamily="34" charset="0"/>
                <a:ea typeface="Calibri" pitchFamily="34" charset="-122"/>
                <a:cs typeface="Calibri" pitchFamily="34" charset="-120"/>
              </a:rPr>
              <a:t>4</a:t>
            </a:r>
            <a:endParaRPr lang="en-US" sz="1800" dirty="0"/>
          </a:p>
        </p:txBody>
      </p:sp>
      <p:sp>
        <p:nvSpPr>
          <p:cNvPr id="23" name="Text 21"/>
          <p:cNvSpPr/>
          <p:nvPr/>
        </p:nvSpPr>
        <p:spPr>
          <a:xfrm>
            <a:off x="5431536" y="1993392"/>
            <a:ext cx="1508760" cy="411480"/>
          </a:xfrm>
          <a:prstGeom prst="rect">
            <a:avLst/>
          </a:prstGeom>
          <a:noFill/>
          <a:ln/>
        </p:spPr>
        <p:txBody>
          <a:bodyPr wrap="square" lIns="0" tIns="0" rIns="0" bIns="0" rtlCol="0" anchor="ctr"/>
          <a:lstStyle/>
          <a:p>
            <a:pPr algn="ctr" indent="0" marL="0">
              <a:buNone/>
            </a:pPr>
            <a:r>
              <a:rPr lang="en-US" sz="1000" b="1" dirty="0">
                <a:solidFill>
                  <a:srgbClr val="1B2A4A"/>
                </a:solidFill>
                <a:latin typeface="Calibri" pitchFamily="34" charset="0"/>
                <a:ea typeface="Calibri" pitchFamily="34" charset="-122"/>
                <a:cs typeface="Calibri" pitchFamily="34" charset="-120"/>
              </a:rPr>
              <a:t>Balance</a:t>
            </a:r>
            <a:endParaRPr lang="en-US" sz="1000" dirty="0"/>
          </a:p>
          <a:p>
            <a:pPr algn="ctr" indent="0" marL="0">
              <a:buNone/>
            </a:pPr>
            <a:r>
              <a:rPr lang="en-US" sz="1000" b="1" dirty="0">
                <a:solidFill>
                  <a:srgbClr val="1B2A4A"/>
                </a:solidFill>
                <a:latin typeface="Calibri" pitchFamily="34" charset="0"/>
                <a:ea typeface="Calibri" pitchFamily="34" charset="-122"/>
                <a:cs typeface="Calibri" pitchFamily="34" charset="-120"/>
              </a:rPr>
              <a:t>Updated</a:t>
            </a:r>
            <a:endParaRPr lang="en-US" sz="1000" dirty="0"/>
          </a:p>
        </p:txBody>
      </p:sp>
      <p:sp>
        <p:nvSpPr>
          <p:cNvPr id="24" name="Text 22"/>
          <p:cNvSpPr/>
          <p:nvPr/>
        </p:nvSpPr>
        <p:spPr>
          <a:xfrm>
            <a:off x="5431536" y="2423160"/>
            <a:ext cx="1508760" cy="4114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Leave balance auto-</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adjusted on approval</a:t>
            </a:r>
            <a:endParaRPr lang="en-US" sz="900" dirty="0"/>
          </a:p>
        </p:txBody>
      </p:sp>
      <p:sp>
        <p:nvSpPr>
          <p:cNvPr id="25" name="Shape 23"/>
          <p:cNvSpPr/>
          <p:nvPr/>
        </p:nvSpPr>
        <p:spPr>
          <a:xfrm>
            <a:off x="6940296" y="1554480"/>
            <a:ext cx="502920" cy="54864"/>
          </a:xfrm>
          <a:prstGeom prst="rect">
            <a:avLst/>
          </a:prstGeom>
          <a:solidFill>
            <a:srgbClr val="C9973A"/>
          </a:solidFill>
          <a:ln/>
        </p:spPr>
      </p:sp>
      <p:sp>
        <p:nvSpPr>
          <p:cNvPr id="26" name="Shape 24"/>
          <p:cNvSpPr/>
          <p:nvPr/>
        </p:nvSpPr>
        <p:spPr>
          <a:xfrm>
            <a:off x="7562088" y="1261872"/>
            <a:ext cx="640080" cy="640080"/>
          </a:xfrm>
          <a:prstGeom prst="ellipse">
            <a:avLst/>
          </a:prstGeom>
          <a:solidFill>
            <a:srgbClr val="1B2A4A"/>
          </a:solidFill>
          <a:ln/>
        </p:spPr>
      </p:sp>
      <p:sp>
        <p:nvSpPr>
          <p:cNvPr id="27" name="Text 25"/>
          <p:cNvSpPr/>
          <p:nvPr/>
        </p:nvSpPr>
        <p:spPr>
          <a:xfrm>
            <a:off x="7562088" y="1261872"/>
            <a:ext cx="640080" cy="640080"/>
          </a:xfrm>
          <a:prstGeom prst="rect">
            <a:avLst/>
          </a:prstGeom>
          <a:noFill/>
          <a:ln/>
        </p:spPr>
        <p:txBody>
          <a:bodyPr wrap="square" lIns="0" tIns="0" rIns="0" bIns="0" rtlCol="0" anchor="ctr"/>
          <a:lstStyle/>
          <a:p>
            <a:pPr algn="ctr" indent="0" marL="0">
              <a:buNone/>
            </a:pPr>
            <a:r>
              <a:rPr lang="en-US" sz="1800" b="1" dirty="0">
                <a:solidFill>
                  <a:srgbClr val="C9973A"/>
                </a:solidFill>
                <a:latin typeface="Calibri" pitchFamily="34" charset="0"/>
                <a:ea typeface="Calibri" pitchFamily="34" charset="-122"/>
                <a:cs typeface="Calibri" pitchFamily="34" charset="-120"/>
              </a:rPr>
              <a:t>5</a:t>
            </a:r>
            <a:endParaRPr lang="en-US" sz="1800" dirty="0"/>
          </a:p>
        </p:txBody>
      </p:sp>
      <p:sp>
        <p:nvSpPr>
          <p:cNvPr id="28" name="Text 26"/>
          <p:cNvSpPr/>
          <p:nvPr/>
        </p:nvSpPr>
        <p:spPr>
          <a:xfrm>
            <a:off x="7150608" y="1993392"/>
            <a:ext cx="1508760" cy="411480"/>
          </a:xfrm>
          <a:prstGeom prst="rect">
            <a:avLst/>
          </a:prstGeom>
          <a:noFill/>
          <a:ln/>
        </p:spPr>
        <p:txBody>
          <a:bodyPr wrap="square" lIns="0" tIns="0" rIns="0" bIns="0" rtlCol="0" anchor="ctr"/>
          <a:lstStyle/>
          <a:p>
            <a:pPr algn="ctr" indent="0" marL="0">
              <a:buNone/>
            </a:pPr>
            <a:r>
              <a:rPr lang="en-US" sz="1000" b="1" dirty="0">
                <a:solidFill>
                  <a:srgbClr val="1B2A4A"/>
                </a:solidFill>
                <a:latin typeface="Calibri" pitchFamily="34" charset="0"/>
                <a:ea typeface="Calibri" pitchFamily="34" charset="-122"/>
                <a:cs typeface="Calibri" pitchFamily="34" charset="-120"/>
              </a:rPr>
              <a:t>Employee</a:t>
            </a:r>
            <a:endParaRPr lang="en-US" sz="1000" dirty="0"/>
          </a:p>
          <a:p>
            <a:pPr algn="ctr" indent="0" marL="0">
              <a:buNone/>
            </a:pPr>
            <a:r>
              <a:rPr lang="en-US" sz="1000" b="1" dirty="0">
                <a:solidFill>
                  <a:srgbClr val="1B2A4A"/>
                </a:solidFill>
                <a:latin typeface="Calibri" pitchFamily="34" charset="0"/>
                <a:ea typeface="Calibri" pitchFamily="34" charset="-122"/>
                <a:cs typeface="Calibri" pitchFamily="34" charset="-120"/>
              </a:rPr>
              <a:t>Notified</a:t>
            </a:r>
            <a:endParaRPr lang="en-US" sz="1000" dirty="0"/>
          </a:p>
        </p:txBody>
      </p:sp>
      <p:sp>
        <p:nvSpPr>
          <p:cNvPr id="29" name="Text 27"/>
          <p:cNvSpPr/>
          <p:nvPr/>
        </p:nvSpPr>
        <p:spPr>
          <a:xfrm>
            <a:off x="7150608" y="2423160"/>
            <a:ext cx="1508760" cy="4114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Status notification</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sent to employee</a:t>
            </a:r>
            <a:endParaRPr lang="en-US" sz="900" dirty="0"/>
          </a:p>
        </p:txBody>
      </p:sp>
      <p:sp>
        <p:nvSpPr>
          <p:cNvPr id="30" name="Shape 28"/>
          <p:cNvSpPr/>
          <p:nvPr/>
        </p:nvSpPr>
        <p:spPr>
          <a:xfrm>
            <a:off x="274320" y="2971800"/>
            <a:ext cx="2011680" cy="1828800"/>
          </a:xfrm>
          <a:prstGeom prst="rect">
            <a:avLst/>
          </a:prstGeom>
          <a:solidFill>
            <a:srgbClr val="FFFFFF"/>
          </a:solidFill>
          <a:ln w="6350">
            <a:solidFill>
              <a:srgbClr val="CBD5E1"/>
            </a:solidFill>
            <a:prstDash val="solid"/>
          </a:ln>
          <a:effectLst>
            <a:outerShdw sx="100000" sy="100000" kx="0" ky="0" algn="bl" rotWithShape="0" blurRad="101600" dist="38100" dir="8100000">
              <a:srgbClr val="000000">
                <a:alpha val="12000"/>
              </a:srgbClr>
            </a:outerShdw>
          </a:effectLst>
        </p:spPr>
      </p:sp>
      <p:sp>
        <p:nvSpPr>
          <p:cNvPr id="31" name="Shape 29"/>
          <p:cNvSpPr/>
          <p:nvPr/>
        </p:nvSpPr>
        <p:spPr>
          <a:xfrm>
            <a:off x="274320" y="2971800"/>
            <a:ext cx="64008" cy="1828800"/>
          </a:xfrm>
          <a:prstGeom prst="rect">
            <a:avLst/>
          </a:prstGeom>
          <a:solidFill>
            <a:srgbClr val="C9973A"/>
          </a:solidFill>
          <a:ln/>
        </p:spPr>
      </p:sp>
      <p:sp>
        <p:nvSpPr>
          <p:cNvPr id="32" name="Text 30"/>
          <p:cNvSpPr/>
          <p:nvPr/>
        </p:nvSpPr>
        <p:spPr>
          <a:xfrm>
            <a:off x="475488" y="3090672"/>
            <a:ext cx="1719072" cy="27432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Leave Types</a:t>
            </a:r>
            <a:endParaRPr lang="en-US" sz="1200" dirty="0"/>
          </a:p>
        </p:txBody>
      </p:sp>
      <p:sp>
        <p:nvSpPr>
          <p:cNvPr id="33" name="Text 31"/>
          <p:cNvSpPr/>
          <p:nvPr/>
        </p:nvSpPr>
        <p:spPr>
          <a:xfrm>
            <a:off x="457200" y="3429000"/>
            <a:ext cx="1691640" cy="128016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Configurable leave types (Annual, Sick, Casual, etc.) each with a default quota set by admin</a:t>
            </a:r>
            <a:endParaRPr lang="en-US" sz="1050" dirty="0"/>
          </a:p>
        </p:txBody>
      </p:sp>
      <p:sp>
        <p:nvSpPr>
          <p:cNvPr id="34" name="Shape 32"/>
          <p:cNvSpPr/>
          <p:nvPr/>
        </p:nvSpPr>
        <p:spPr>
          <a:xfrm>
            <a:off x="2468880" y="2971800"/>
            <a:ext cx="2011680" cy="1828800"/>
          </a:xfrm>
          <a:prstGeom prst="rect">
            <a:avLst/>
          </a:prstGeom>
          <a:solidFill>
            <a:srgbClr val="FFFFFF"/>
          </a:solidFill>
          <a:ln w="6350">
            <a:solidFill>
              <a:srgbClr val="CBD5E1"/>
            </a:solidFill>
            <a:prstDash val="solid"/>
          </a:ln>
          <a:effectLst>
            <a:outerShdw sx="100000" sy="100000" kx="0" ky="0" algn="bl" rotWithShape="0" blurRad="101600" dist="38100" dir="8100000">
              <a:srgbClr val="000000">
                <a:alpha val="12000"/>
              </a:srgbClr>
            </a:outerShdw>
          </a:effectLst>
        </p:spPr>
      </p:sp>
      <p:sp>
        <p:nvSpPr>
          <p:cNvPr id="35" name="Shape 33"/>
          <p:cNvSpPr/>
          <p:nvPr/>
        </p:nvSpPr>
        <p:spPr>
          <a:xfrm>
            <a:off x="2468880" y="2971800"/>
            <a:ext cx="64008" cy="1828800"/>
          </a:xfrm>
          <a:prstGeom prst="rect">
            <a:avLst/>
          </a:prstGeom>
          <a:solidFill>
            <a:srgbClr val="C9973A"/>
          </a:solidFill>
          <a:ln/>
        </p:spPr>
      </p:sp>
      <p:sp>
        <p:nvSpPr>
          <p:cNvPr id="36" name="Text 34"/>
          <p:cNvSpPr/>
          <p:nvPr/>
        </p:nvSpPr>
        <p:spPr>
          <a:xfrm>
            <a:off x="2670048" y="3090672"/>
            <a:ext cx="1719072" cy="27432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Leave Balance Tracking</a:t>
            </a:r>
            <a:endParaRPr lang="en-US" sz="1200" dirty="0"/>
          </a:p>
        </p:txBody>
      </p:sp>
      <p:sp>
        <p:nvSpPr>
          <p:cNvPr id="37" name="Text 35"/>
          <p:cNvSpPr/>
          <p:nvPr/>
        </p:nvSpPr>
        <p:spPr>
          <a:xfrm>
            <a:off x="2651760" y="3429000"/>
            <a:ext cx="1691640" cy="128016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Per-user balance maintained per leave type. Deducted on approval, restored on rejection</a:t>
            </a:r>
            <a:endParaRPr lang="en-US" sz="1050" dirty="0"/>
          </a:p>
        </p:txBody>
      </p:sp>
      <p:sp>
        <p:nvSpPr>
          <p:cNvPr id="38" name="Shape 36"/>
          <p:cNvSpPr/>
          <p:nvPr/>
        </p:nvSpPr>
        <p:spPr>
          <a:xfrm>
            <a:off x="4663440" y="2971800"/>
            <a:ext cx="2011680" cy="1828800"/>
          </a:xfrm>
          <a:prstGeom prst="rect">
            <a:avLst/>
          </a:prstGeom>
          <a:solidFill>
            <a:srgbClr val="FFFFFF"/>
          </a:solidFill>
          <a:ln w="6350">
            <a:solidFill>
              <a:srgbClr val="CBD5E1"/>
            </a:solidFill>
            <a:prstDash val="solid"/>
          </a:ln>
          <a:effectLst>
            <a:outerShdw sx="100000" sy="100000" kx="0" ky="0" algn="bl" rotWithShape="0" blurRad="101600" dist="38100" dir="8100000">
              <a:srgbClr val="000000">
                <a:alpha val="12000"/>
              </a:srgbClr>
            </a:outerShdw>
          </a:effectLst>
        </p:spPr>
      </p:sp>
      <p:sp>
        <p:nvSpPr>
          <p:cNvPr id="39" name="Shape 37"/>
          <p:cNvSpPr/>
          <p:nvPr/>
        </p:nvSpPr>
        <p:spPr>
          <a:xfrm>
            <a:off x="4663440" y="2971800"/>
            <a:ext cx="64008" cy="1828800"/>
          </a:xfrm>
          <a:prstGeom prst="rect">
            <a:avLst/>
          </a:prstGeom>
          <a:solidFill>
            <a:srgbClr val="C9973A"/>
          </a:solidFill>
          <a:ln/>
        </p:spPr>
      </p:sp>
      <p:sp>
        <p:nvSpPr>
          <p:cNvPr id="40" name="Text 38"/>
          <p:cNvSpPr/>
          <p:nvPr/>
        </p:nvSpPr>
        <p:spPr>
          <a:xfrm>
            <a:off x="4864608" y="3090672"/>
            <a:ext cx="1719072" cy="27432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Status Workflow</a:t>
            </a:r>
            <a:endParaRPr lang="en-US" sz="1200" dirty="0"/>
          </a:p>
        </p:txBody>
      </p:sp>
      <p:sp>
        <p:nvSpPr>
          <p:cNvPr id="41" name="Text 39"/>
          <p:cNvSpPr/>
          <p:nvPr/>
        </p:nvSpPr>
        <p:spPr>
          <a:xfrm>
            <a:off x="4846320" y="3429000"/>
            <a:ext cx="1691640" cy="128016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PENDING → APPROVED / REJECTED / CANCELLED. Only pending leaves can be approved or cancelled</a:t>
            </a:r>
            <a:endParaRPr lang="en-US" sz="1050" dirty="0"/>
          </a:p>
        </p:txBody>
      </p:sp>
      <p:sp>
        <p:nvSpPr>
          <p:cNvPr id="42" name="Shape 40"/>
          <p:cNvSpPr/>
          <p:nvPr/>
        </p:nvSpPr>
        <p:spPr>
          <a:xfrm>
            <a:off x="6858000" y="2971800"/>
            <a:ext cx="2011680" cy="1828800"/>
          </a:xfrm>
          <a:prstGeom prst="rect">
            <a:avLst/>
          </a:prstGeom>
          <a:solidFill>
            <a:srgbClr val="FFFFFF"/>
          </a:solidFill>
          <a:ln w="6350">
            <a:solidFill>
              <a:srgbClr val="CBD5E1"/>
            </a:solidFill>
            <a:prstDash val="solid"/>
          </a:ln>
          <a:effectLst>
            <a:outerShdw sx="100000" sy="100000" kx="0" ky="0" algn="bl" rotWithShape="0" blurRad="101600" dist="38100" dir="8100000">
              <a:srgbClr val="000000">
                <a:alpha val="12000"/>
              </a:srgbClr>
            </a:outerShdw>
          </a:effectLst>
        </p:spPr>
      </p:sp>
      <p:sp>
        <p:nvSpPr>
          <p:cNvPr id="43" name="Shape 41"/>
          <p:cNvSpPr/>
          <p:nvPr/>
        </p:nvSpPr>
        <p:spPr>
          <a:xfrm>
            <a:off x="6858000" y="2971800"/>
            <a:ext cx="64008" cy="1828800"/>
          </a:xfrm>
          <a:prstGeom prst="rect">
            <a:avLst/>
          </a:prstGeom>
          <a:solidFill>
            <a:srgbClr val="C9973A"/>
          </a:solidFill>
          <a:ln/>
        </p:spPr>
      </p:sp>
      <p:sp>
        <p:nvSpPr>
          <p:cNvPr id="44" name="Text 42"/>
          <p:cNvSpPr/>
          <p:nvPr/>
        </p:nvSpPr>
        <p:spPr>
          <a:xfrm>
            <a:off x="7059168" y="3090672"/>
            <a:ext cx="1719072" cy="27432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Notification Events</a:t>
            </a:r>
            <a:endParaRPr lang="en-US" sz="1200" dirty="0"/>
          </a:p>
        </p:txBody>
      </p:sp>
      <p:sp>
        <p:nvSpPr>
          <p:cNvPr id="45" name="Text 43"/>
          <p:cNvSpPr/>
          <p:nvPr/>
        </p:nvSpPr>
        <p:spPr>
          <a:xfrm>
            <a:off x="7040880" y="3429000"/>
            <a:ext cx="1691640" cy="128016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Automatic notification to manager on apply, employee on approval/rejection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B2A4A"/>
          </a:solidFill>
          <a:ln/>
        </p:spPr>
      </p:sp>
      <p:sp>
        <p:nvSpPr>
          <p:cNvPr id="3" name="Shape 1"/>
          <p:cNvSpPr/>
          <p:nvPr/>
        </p:nvSpPr>
        <p:spPr>
          <a:xfrm>
            <a:off x="0" y="1097280"/>
            <a:ext cx="9144000" cy="54864"/>
          </a:xfrm>
          <a:prstGeom prst="rect">
            <a:avLst/>
          </a:prstGeom>
          <a:solidFill>
            <a:srgbClr val="C9973A"/>
          </a:solidFill>
          <a:ln/>
        </p:spPr>
      </p:sp>
      <p:sp>
        <p:nvSpPr>
          <p:cNvPr id="4" name="Text 2"/>
          <p:cNvSpPr/>
          <p:nvPr/>
        </p:nvSpPr>
        <p:spPr>
          <a:xfrm>
            <a:off x="365760" y="13716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Performance Reviews &amp; Goal Tracking</a:t>
            </a:r>
            <a:endParaRPr lang="en-US" sz="2600" dirty="0"/>
          </a:p>
        </p:txBody>
      </p:sp>
      <p:sp>
        <p:nvSpPr>
          <p:cNvPr id="5" name="Text 3"/>
          <p:cNvSpPr/>
          <p:nvPr/>
        </p:nvSpPr>
        <p:spPr>
          <a:xfrm>
            <a:off x="365760" y="685800"/>
            <a:ext cx="8229600" cy="347472"/>
          </a:xfrm>
          <a:prstGeom prst="rect">
            <a:avLst/>
          </a:prstGeom>
          <a:noFill/>
          <a:ln/>
        </p:spPr>
        <p:txBody>
          <a:bodyPr wrap="square" lIns="0" tIns="0" rIns="0" bIns="0" rtlCol="0" anchor="ctr"/>
          <a:lstStyle/>
          <a:p>
            <a:pPr indent="0" marL="0">
              <a:buNone/>
            </a:pPr>
            <a:r>
              <a:rPr lang="en-US" sz="1300" dirty="0">
                <a:solidFill>
                  <a:srgbClr val="E8B96A"/>
                </a:solidFill>
                <a:latin typeface="Calibri" pitchFamily="34" charset="0"/>
                <a:ea typeface="Calibri" pitchFamily="34" charset="-122"/>
                <a:cs typeface="Calibri" pitchFamily="34" charset="-120"/>
              </a:rPr>
              <a:t>OKR-style goals and structured review workflow</a:t>
            </a:r>
            <a:endParaRPr lang="en-US" sz="1300" dirty="0"/>
          </a:p>
        </p:txBody>
      </p:sp>
      <p:sp>
        <p:nvSpPr>
          <p:cNvPr id="6" name="Shape 4"/>
          <p:cNvSpPr/>
          <p:nvPr/>
        </p:nvSpPr>
        <p:spPr>
          <a:xfrm>
            <a:off x="274320" y="1261872"/>
            <a:ext cx="4114800" cy="35661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274320" y="1261872"/>
            <a:ext cx="4114800" cy="54864"/>
          </a:xfrm>
          <a:prstGeom prst="rect">
            <a:avLst/>
          </a:prstGeom>
          <a:solidFill>
            <a:srgbClr val="1B2A4A"/>
          </a:solidFill>
          <a:ln/>
        </p:spPr>
      </p:sp>
      <p:sp>
        <p:nvSpPr>
          <p:cNvPr id="8" name="Text 6"/>
          <p:cNvSpPr/>
          <p:nvPr/>
        </p:nvSpPr>
        <p:spPr>
          <a:xfrm>
            <a:off x="457200" y="1371600"/>
            <a:ext cx="374904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Performance Review Workflow</a:t>
            </a:r>
            <a:endParaRPr lang="en-US" sz="1300" dirty="0"/>
          </a:p>
        </p:txBody>
      </p:sp>
      <p:sp>
        <p:nvSpPr>
          <p:cNvPr id="9" name="Shape 7"/>
          <p:cNvSpPr/>
          <p:nvPr/>
        </p:nvSpPr>
        <p:spPr>
          <a:xfrm>
            <a:off x="457200" y="1847088"/>
            <a:ext cx="1188720" cy="320040"/>
          </a:xfrm>
          <a:prstGeom prst="rect">
            <a:avLst/>
          </a:prstGeom>
          <a:solidFill>
            <a:srgbClr val="64748B"/>
          </a:solidFill>
          <a:ln/>
        </p:spPr>
      </p:sp>
      <p:sp>
        <p:nvSpPr>
          <p:cNvPr id="10" name="Text 8"/>
          <p:cNvSpPr/>
          <p:nvPr/>
        </p:nvSpPr>
        <p:spPr>
          <a:xfrm>
            <a:off x="457200" y="1847088"/>
            <a:ext cx="1188720" cy="32004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DRAFT</a:t>
            </a:r>
            <a:endParaRPr lang="en-US" sz="850" dirty="0"/>
          </a:p>
        </p:txBody>
      </p:sp>
      <p:sp>
        <p:nvSpPr>
          <p:cNvPr id="11" name="Text 9"/>
          <p:cNvSpPr/>
          <p:nvPr/>
        </p:nvSpPr>
        <p:spPr>
          <a:xfrm>
            <a:off x="1755648" y="1847088"/>
            <a:ext cx="246888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Employee fills key deliverables, accomplishments, improvement areas &amp; self-rating</a:t>
            </a:r>
            <a:endParaRPr lang="en-US" sz="950" dirty="0"/>
          </a:p>
        </p:txBody>
      </p:sp>
      <p:sp>
        <p:nvSpPr>
          <p:cNvPr id="12" name="Text 10"/>
          <p:cNvSpPr/>
          <p:nvPr/>
        </p:nvSpPr>
        <p:spPr>
          <a:xfrm>
            <a:off x="777240" y="2167128"/>
            <a:ext cx="411480" cy="365760"/>
          </a:xfrm>
          <a:prstGeom prst="rect">
            <a:avLst/>
          </a:prstGeom>
          <a:noFill/>
          <a:ln/>
        </p:spPr>
        <p:txBody>
          <a:bodyPr wrap="square" lIns="0" tIns="0" rIns="0" bIns="0" rtlCol="0" anchor="ctr"/>
          <a:lstStyle/>
          <a:p>
            <a:pPr algn="ctr" indent="0" marL="0">
              <a:buNone/>
            </a:pPr>
            <a:r>
              <a:rPr lang="en-US" sz="1400" dirty="0">
                <a:solidFill>
                  <a:srgbClr val="0D9488"/>
                </a:solidFill>
              </a:rPr>
              <a:t>↓</a:t>
            </a:r>
            <a:endParaRPr lang="en-US" sz="1400" dirty="0"/>
          </a:p>
        </p:txBody>
      </p:sp>
      <p:sp>
        <p:nvSpPr>
          <p:cNvPr id="13" name="Shape 11"/>
          <p:cNvSpPr/>
          <p:nvPr/>
        </p:nvSpPr>
        <p:spPr>
          <a:xfrm>
            <a:off x="457200" y="2578608"/>
            <a:ext cx="1188720" cy="320040"/>
          </a:xfrm>
          <a:prstGeom prst="rect">
            <a:avLst/>
          </a:prstGeom>
          <a:solidFill>
            <a:srgbClr val="0D9488"/>
          </a:solidFill>
          <a:ln/>
        </p:spPr>
      </p:sp>
      <p:sp>
        <p:nvSpPr>
          <p:cNvPr id="14" name="Text 12"/>
          <p:cNvSpPr/>
          <p:nvPr/>
        </p:nvSpPr>
        <p:spPr>
          <a:xfrm>
            <a:off x="457200" y="2578608"/>
            <a:ext cx="1188720" cy="32004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SUBMITTED</a:t>
            </a:r>
            <a:endParaRPr lang="en-US" sz="850" dirty="0"/>
          </a:p>
        </p:txBody>
      </p:sp>
      <p:sp>
        <p:nvSpPr>
          <p:cNvPr id="15" name="Text 13"/>
          <p:cNvSpPr/>
          <p:nvPr/>
        </p:nvSpPr>
        <p:spPr>
          <a:xfrm>
            <a:off x="1755648" y="2578608"/>
            <a:ext cx="246888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Employee submits review — manager gets notified</a:t>
            </a:r>
            <a:endParaRPr lang="en-US" sz="950" dirty="0"/>
          </a:p>
        </p:txBody>
      </p:sp>
      <p:sp>
        <p:nvSpPr>
          <p:cNvPr id="16" name="Text 14"/>
          <p:cNvSpPr/>
          <p:nvPr/>
        </p:nvSpPr>
        <p:spPr>
          <a:xfrm>
            <a:off x="777240" y="2898648"/>
            <a:ext cx="411480" cy="365760"/>
          </a:xfrm>
          <a:prstGeom prst="rect">
            <a:avLst/>
          </a:prstGeom>
          <a:noFill/>
          <a:ln/>
        </p:spPr>
        <p:txBody>
          <a:bodyPr wrap="square" lIns="0" tIns="0" rIns="0" bIns="0" rtlCol="0" anchor="ctr"/>
          <a:lstStyle/>
          <a:p>
            <a:pPr algn="ctr" indent="0" marL="0">
              <a:buNone/>
            </a:pPr>
            <a:r>
              <a:rPr lang="en-US" sz="1400" dirty="0">
                <a:solidFill>
                  <a:srgbClr val="EA580C"/>
                </a:solidFill>
              </a:rPr>
              <a:t>↓</a:t>
            </a:r>
            <a:endParaRPr lang="en-US" sz="1400" dirty="0"/>
          </a:p>
        </p:txBody>
      </p:sp>
      <p:sp>
        <p:nvSpPr>
          <p:cNvPr id="17" name="Shape 15"/>
          <p:cNvSpPr/>
          <p:nvPr/>
        </p:nvSpPr>
        <p:spPr>
          <a:xfrm>
            <a:off x="457200" y="3310128"/>
            <a:ext cx="1188720" cy="320040"/>
          </a:xfrm>
          <a:prstGeom prst="rect">
            <a:avLst/>
          </a:prstGeom>
          <a:solidFill>
            <a:srgbClr val="EA580C"/>
          </a:solidFill>
          <a:ln/>
        </p:spPr>
      </p:sp>
      <p:sp>
        <p:nvSpPr>
          <p:cNvPr id="18" name="Text 16"/>
          <p:cNvSpPr/>
          <p:nvPr/>
        </p:nvSpPr>
        <p:spPr>
          <a:xfrm>
            <a:off x="457200" y="3310128"/>
            <a:ext cx="1188720" cy="32004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UNDER REVIEW</a:t>
            </a:r>
            <a:endParaRPr lang="en-US" sz="850" dirty="0"/>
          </a:p>
        </p:txBody>
      </p:sp>
      <p:sp>
        <p:nvSpPr>
          <p:cNvPr id="19" name="Text 17"/>
          <p:cNvSpPr/>
          <p:nvPr/>
        </p:nvSpPr>
        <p:spPr>
          <a:xfrm>
            <a:off x="1755648" y="3310128"/>
            <a:ext cx="246888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Manager reviews, provides feedback &amp; manager rating</a:t>
            </a:r>
            <a:endParaRPr lang="en-US" sz="950" dirty="0"/>
          </a:p>
        </p:txBody>
      </p:sp>
      <p:sp>
        <p:nvSpPr>
          <p:cNvPr id="20" name="Text 18"/>
          <p:cNvSpPr/>
          <p:nvPr/>
        </p:nvSpPr>
        <p:spPr>
          <a:xfrm>
            <a:off x="777240" y="3630168"/>
            <a:ext cx="411480" cy="365760"/>
          </a:xfrm>
          <a:prstGeom prst="rect">
            <a:avLst/>
          </a:prstGeom>
          <a:noFill/>
          <a:ln/>
        </p:spPr>
        <p:txBody>
          <a:bodyPr wrap="square" lIns="0" tIns="0" rIns="0" bIns="0" rtlCol="0" anchor="ctr"/>
          <a:lstStyle/>
          <a:p>
            <a:pPr algn="ctr" indent="0" marL="0">
              <a:buNone/>
            </a:pPr>
            <a:r>
              <a:rPr lang="en-US" sz="1400" dirty="0">
                <a:solidFill>
                  <a:srgbClr val="16A34A"/>
                </a:solidFill>
              </a:rPr>
              <a:t>↓</a:t>
            </a:r>
            <a:endParaRPr lang="en-US" sz="1400" dirty="0"/>
          </a:p>
        </p:txBody>
      </p:sp>
      <p:sp>
        <p:nvSpPr>
          <p:cNvPr id="21" name="Shape 19"/>
          <p:cNvSpPr/>
          <p:nvPr/>
        </p:nvSpPr>
        <p:spPr>
          <a:xfrm>
            <a:off x="457200" y="4041648"/>
            <a:ext cx="1188720" cy="320040"/>
          </a:xfrm>
          <a:prstGeom prst="rect">
            <a:avLst/>
          </a:prstGeom>
          <a:solidFill>
            <a:srgbClr val="16A34A"/>
          </a:solidFill>
          <a:ln/>
        </p:spPr>
      </p:sp>
      <p:sp>
        <p:nvSpPr>
          <p:cNvPr id="22" name="Text 20"/>
          <p:cNvSpPr/>
          <p:nvPr/>
        </p:nvSpPr>
        <p:spPr>
          <a:xfrm>
            <a:off x="457200" y="4041648"/>
            <a:ext cx="1188720" cy="32004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COMPLETED</a:t>
            </a:r>
            <a:endParaRPr lang="en-US" sz="850" dirty="0"/>
          </a:p>
        </p:txBody>
      </p:sp>
      <p:sp>
        <p:nvSpPr>
          <p:cNvPr id="23" name="Text 21"/>
          <p:cNvSpPr/>
          <p:nvPr/>
        </p:nvSpPr>
        <p:spPr>
          <a:xfrm>
            <a:off x="1755648" y="4041648"/>
            <a:ext cx="246888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Final status — review is closed with full record</a:t>
            </a:r>
            <a:endParaRPr lang="en-US" sz="950" dirty="0"/>
          </a:p>
        </p:txBody>
      </p:sp>
      <p:sp>
        <p:nvSpPr>
          <p:cNvPr id="24" name="Shape 22"/>
          <p:cNvSpPr/>
          <p:nvPr/>
        </p:nvSpPr>
        <p:spPr>
          <a:xfrm>
            <a:off x="4663440" y="1261872"/>
            <a:ext cx="4206240" cy="35661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5" name="Shape 23"/>
          <p:cNvSpPr/>
          <p:nvPr/>
        </p:nvSpPr>
        <p:spPr>
          <a:xfrm>
            <a:off x="4663440" y="1261872"/>
            <a:ext cx="4206240" cy="54864"/>
          </a:xfrm>
          <a:prstGeom prst="rect">
            <a:avLst/>
          </a:prstGeom>
          <a:solidFill>
            <a:srgbClr val="C9973A"/>
          </a:solidFill>
          <a:ln/>
        </p:spPr>
      </p:sp>
      <p:sp>
        <p:nvSpPr>
          <p:cNvPr id="26" name="Text 24"/>
          <p:cNvSpPr/>
          <p:nvPr/>
        </p:nvSpPr>
        <p:spPr>
          <a:xfrm>
            <a:off x="4846320" y="1371600"/>
            <a:ext cx="384048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Goal Tracking (OKR)</a:t>
            </a:r>
            <a:endParaRPr lang="en-US" sz="1300" dirty="0"/>
          </a:p>
        </p:txBody>
      </p:sp>
      <p:sp>
        <p:nvSpPr>
          <p:cNvPr id="27" name="Shape 25"/>
          <p:cNvSpPr/>
          <p:nvPr/>
        </p:nvSpPr>
        <p:spPr>
          <a:xfrm>
            <a:off x="4800600" y="1847088"/>
            <a:ext cx="1280160" cy="347472"/>
          </a:xfrm>
          <a:prstGeom prst="rect">
            <a:avLst/>
          </a:prstGeom>
          <a:solidFill>
            <a:srgbClr val="1B2A4A"/>
          </a:solidFill>
          <a:ln/>
        </p:spPr>
      </p:sp>
      <p:sp>
        <p:nvSpPr>
          <p:cNvPr id="28" name="Text 26"/>
          <p:cNvSpPr/>
          <p:nvPr/>
        </p:nvSpPr>
        <p:spPr>
          <a:xfrm>
            <a:off x="4800600" y="1847088"/>
            <a:ext cx="1280160" cy="347472"/>
          </a:xfrm>
          <a:prstGeom prst="rect">
            <a:avLst/>
          </a:prstGeom>
          <a:noFill/>
          <a:ln/>
        </p:spPr>
        <p:txBody>
          <a:bodyPr wrap="square" lIns="0" tIns="0" rIns="0" bIns="0" rtlCol="0" anchor="ctr"/>
          <a:lstStyle/>
          <a:p>
            <a:pPr algn="ctr" indent="0" marL="0">
              <a:buNone/>
            </a:pPr>
            <a:r>
              <a:rPr lang="en-US" sz="900" b="1" dirty="0">
                <a:solidFill>
                  <a:srgbClr val="C9973A"/>
                </a:solidFill>
                <a:latin typeface="Calibri" pitchFamily="34" charset="0"/>
                <a:ea typeface="Calibri" pitchFamily="34" charset="-122"/>
                <a:cs typeface="Calibri" pitchFamily="34" charset="-120"/>
              </a:rPr>
              <a:t>Priority</a:t>
            </a:r>
            <a:endParaRPr lang="en-US" sz="900" dirty="0"/>
          </a:p>
        </p:txBody>
      </p:sp>
      <p:sp>
        <p:nvSpPr>
          <p:cNvPr id="29" name="Text 27"/>
          <p:cNvSpPr/>
          <p:nvPr/>
        </p:nvSpPr>
        <p:spPr>
          <a:xfrm>
            <a:off x="6172200" y="1847088"/>
            <a:ext cx="2560320" cy="34747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HIGH / MEDIUM / LOW — color-coded urgency</a:t>
            </a:r>
            <a:endParaRPr lang="en-US" sz="950" dirty="0"/>
          </a:p>
        </p:txBody>
      </p:sp>
      <p:sp>
        <p:nvSpPr>
          <p:cNvPr id="30" name="Shape 28"/>
          <p:cNvSpPr/>
          <p:nvPr/>
        </p:nvSpPr>
        <p:spPr>
          <a:xfrm>
            <a:off x="4800600" y="2423160"/>
            <a:ext cx="1280160" cy="347472"/>
          </a:xfrm>
          <a:prstGeom prst="rect">
            <a:avLst/>
          </a:prstGeom>
          <a:solidFill>
            <a:srgbClr val="1B2A4A"/>
          </a:solidFill>
          <a:ln/>
        </p:spPr>
      </p:sp>
      <p:sp>
        <p:nvSpPr>
          <p:cNvPr id="31" name="Text 29"/>
          <p:cNvSpPr/>
          <p:nvPr/>
        </p:nvSpPr>
        <p:spPr>
          <a:xfrm>
            <a:off x="4800600" y="2423160"/>
            <a:ext cx="1280160" cy="347472"/>
          </a:xfrm>
          <a:prstGeom prst="rect">
            <a:avLst/>
          </a:prstGeom>
          <a:noFill/>
          <a:ln/>
        </p:spPr>
        <p:txBody>
          <a:bodyPr wrap="square" lIns="0" tIns="0" rIns="0" bIns="0" rtlCol="0" anchor="ctr"/>
          <a:lstStyle/>
          <a:p>
            <a:pPr algn="ctr" indent="0" marL="0">
              <a:buNone/>
            </a:pPr>
            <a:r>
              <a:rPr lang="en-US" sz="900" b="1" dirty="0">
                <a:solidFill>
                  <a:srgbClr val="C9973A"/>
                </a:solidFill>
                <a:latin typeface="Calibri" pitchFamily="34" charset="0"/>
                <a:ea typeface="Calibri" pitchFamily="34" charset="-122"/>
                <a:cs typeface="Calibri" pitchFamily="34" charset="-120"/>
              </a:rPr>
              <a:t>Status</a:t>
            </a:r>
            <a:endParaRPr lang="en-US" sz="900" dirty="0"/>
          </a:p>
        </p:txBody>
      </p:sp>
      <p:sp>
        <p:nvSpPr>
          <p:cNvPr id="32" name="Text 30"/>
          <p:cNvSpPr/>
          <p:nvPr/>
        </p:nvSpPr>
        <p:spPr>
          <a:xfrm>
            <a:off x="6172200" y="2423160"/>
            <a:ext cx="2560320" cy="34747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NOT_STARTED → IN_PROGRESS → COMPLETED / CANCELLED</a:t>
            </a:r>
            <a:endParaRPr lang="en-US" sz="950" dirty="0"/>
          </a:p>
        </p:txBody>
      </p:sp>
      <p:sp>
        <p:nvSpPr>
          <p:cNvPr id="33" name="Shape 31"/>
          <p:cNvSpPr/>
          <p:nvPr/>
        </p:nvSpPr>
        <p:spPr>
          <a:xfrm>
            <a:off x="4800600" y="2999232"/>
            <a:ext cx="1280160" cy="347472"/>
          </a:xfrm>
          <a:prstGeom prst="rect">
            <a:avLst/>
          </a:prstGeom>
          <a:solidFill>
            <a:srgbClr val="1B2A4A"/>
          </a:solidFill>
          <a:ln/>
        </p:spPr>
      </p:sp>
      <p:sp>
        <p:nvSpPr>
          <p:cNvPr id="34" name="Text 32"/>
          <p:cNvSpPr/>
          <p:nvPr/>
        </p:nvSpPr>
        <p:spPr>
          <a:xfrm>
            <a:off x="4800600" y="2999232"/>
            <a:ext cx="1280160" cy="347472"/>
          </a:xfrm>
          <a:prstGeom prst="rect">
            <a:avLst/>
          </a:prstGeom>
          <a:noFill/>
          <a:ln/>
        </p:spPr>
        <p:txBody>
          <a:bodyPr wrap="square" lIns="0" tIns="0" rIns="0" bIns="0" rtlCol="0" anchor="ctr"/>
          <a:lstStyle/>
          <a:p>
            <a:pPr algn="ctr" indent="0" marL="0">
              <a:buNone/>
            </a:pPr>
            <a:r>
              <a:rPr lang="en-US" sz="900" b="1" dirty="0">
                <a:solidFill>
                  <a:srgbClr val="C9973A"/>
                </a:solidFill>
                <a:latin typeface="Calibri" pitchFamily="34" charset="0"/>
                <a:ea typeface="Calibri" pitchFamily="34" charset="-122"/>
                <a:cs typeface="Calibri" pitchFamily="34" charset="-120"/>
              </a:rPr>
              <a:t>Progress %</a:t>
            </a:r>
            <a:endParaRPr lang="en-US" sz="900" dirty="0"/>
          </a:p>
        </p:txBody>
      </p:sp>
      <p:sp>
        <p:nvSpPr>
          <p:cNvPr id="35" name="Text 33"/>
          <p:cNvSpPr/>
          <p:nvPr/>
        </p:nvSpPr>
        <p:spPr>
          <a:xfrm>
            <a:off x="6172200" y="2999232"/>
            <a:ext cx="2560320" cy="34747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0–100% with employee comments</a:t>
            </a:r>
            <a:endParaRPr lang="en-US" sz="950" dirty="0"/>
          </a:p>
        </p:txBody>
      </p:sp>
      <p:sp>
        <p:nvSpPr>
          <p:cNvPr id="36" name="Shape 34"/>
          <p:cNvSpPr/>
          <p:nvPr/>
        </p:nvSpPr>
        <p:spPr>
          <a:xfrm>
            <a:off x="4800600" y="3575304"/>
            <a:ext cx="1280160" cy="347472"/>
          </a:xfrm>
          <a:prstGeom prst="rect">
            <a:avLst/>
          </a:prstGeom>
          <a:solidFill>
            <a:srgbClr val="1B2A4A"/>
          </a:solidFill>
          <a:ln/>
        </p:spPr>
      </p:sp>
      <p:sp>
        <p:nvSpPr>
          <p:cNvPr id="37" name="Text 35"/>
          <p:cNvSpPr/>
          <p:nvPr/>
        </p:nvSpPr>
        <p:spPr>
          <a:xfrm>
            <a:off x="4800600" y="3575304"/>
            <a:ext cx="1280160" cy="347472"/>
          </a:xfrm>
          <a:prstGeom prst="rect">
            <a:avLst/>
          </a:prstGeom>
          <a:noFill/>
          <a:ln/>
        </p:spPr>
        <p:txBody>
          <a:bodyPr wrap="square" lIns="0" tIns="0" rIns="0" bIns="0" rtlCol="0" anchor="ctr"/>
          <a:lstStyle/>
          <a:p>
            <a:pPr algn="ctr" indent="0" marL="0">
              <a:buNone/>
            </a:pPr>
            <a:r>
              <a:rPr lang="en-US" sz="900" b="1" dirty="0">
                <a:solidFill>
                  <a:srgbClr val="C9973A"/>
                </a:solidFill>
                <a:latin typeface="Calibri" pitchFamily="34" charset="0"/>
                <a:ea typeface="Calibri" pitchFamily="34" charset="-122"/>
                <a:cs typeface="Calibri" pitchFamily="34" charset="-120"/>
              </a:rPr>
              <a:t>Deadline</a:t>
            </a:r>
            <a:endParaRPr lang="en-US" sz="900" dirty="0"/>
          </a:p>
        </p:txBody>
      </p:sp>
      <p:sp>
        <p:nvSpPr>
          <p:cNvPr id="38" name="Text 36"/>
          <p:cNvSpPr/>
          <p:nvPr/>
        </p:nvSpPr>
        <p:spPr>
          <a:xfrm>
            <a:off x="6172200" y="3575304"/>
            <a:ext cx="2560320" cy="34747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Target date for goal completion</a:t>
            </a:r>
            <a:endParaRPr lang="en-US" sz="950" dirty="0"/>
          </a:p>
        </p:txBody>
      </p:sp>
      <p:sp>
        <p:nvSpPr>
          <p:cNvPr id="39" name="Shape 37"/>
          <p:cNvSpPr/>
          <p:nvPr/>
        </p:nvSpPr>
        <p:spPr>
          <a:xfrm>
            <a:off x="4800600" y="4151376"/>
            <a:ext cx="1280160" cy="347472"/>
          </a:xfrm>
          <a:prstGeom prst="rect">
            <a:avLst/>
          </a:prstGeom>
          <a:solidFill>
            <a:srgbClr val="1B2A4A"/>
          </a:solidFill>
          <a:ln/>
        </p:spPr>
      </p:sp>
      <p:sp>
        <p:nvSpPr>
          <p:cNvPr id="40" name="Text 38"/>
          <p:cNvSpPr/>
          <p:nvPr/>
        </p:nvSpPr>
        <p:spPr>
          <a:xfrm>
            <a:off x="4800600" y="4151376"/>
            <a:ext cx="1280160" cy="347472"/>
          </a:xfrm>
          <a:prstGeom prst="rect">
            <a:avLst/>
          </a:prstGeom>
          <a:noFill/>
          <a:ln/>
        </p:spPr>
        <p:txBody>
          <a:bodyPr wrap="square" lIns="0" tIns="0" rIns="0" bIns="0" rtlCol="0" anchor="ctr"/>
          <a:lstStyle/>
          <a:p>
            <a:pPr algn="ctr" indent="0" marL="0">
              <a:buNone/>
            </a:pPr>
            <a:r>
              <a:rPr lang="en-US" sz="900" b="1" dirty="0">
                <a:solidFill>
                  <a:srgbClr val="C9973A"/>
                </a:solidFill>
                <a:latin typeface="Calibri" pitchFamily="34" charset="0"/>
                <a:ea typeface="Calibri" pitchFamily="34" charset="-122"/>
                <a:cs typeface="Calibri" pitchFamily="34" charset="-120"/>
              </a:rPr>
              <a:t>Manager Comments</a:t>
            </a:r>
            <a:endParaRPr lang="en-US" sz="900" dirty="0"/>
          </a:p>
        </p:txBody>
      </p:sp>
      <p:sp>
        <p:nvSpPr>
          <p:cNvPr id="41" name="Text 39"/>
          <p:cNvSpPr/>
          <p:nvPr/>
        </p:nvSpPr>
        <p:spPr>
          <a:xfrm>
            <a:off x="6172200" y="4151376"/>
            <a:ext cx="2560320" cy="34747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Feedback loop from manager on goal progress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B2A4A"/>
          </a:solidFill>
          <a:ln/>
        </p:spPr>
      </p:sp>
      <p:sp>
        <p:nvSpPr>
          <p:cNvPr id="3" name="Shape 1"/>
          <p:cNvSpPr/>
          <p:nvPr/>
        </p:nvSpPr>
        <p:spPr>
          <a:xfrm>
            <a:off x="0" y="1097280"/>
            <a:ext cx="9144000" cy="54864"/>
          </a:xfrm>
          <a:prstGeom prst="rect">
            <a:avLst/>
          </a:prstGeom>
          <a:solidFill>
            <a:srgbClr val="C9973A"/>
          </a:solidFill>
          <a:ln/>
        </p:spPr>
      </p:sp>
      <p:sp>
        <p:nvSpPr>
          <p:cNvPr id="4" name="Text 2"/>
          <p:cNvSpPr/>
          <p:nvPr/>
        </p:nvSpPr>
        <p:spPr>
          <a:xfrm>
            <a:off x="365760" y="13716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Security Architecture</a:t>
            </a:r>
            <a:endParaRPr lang="en-US" sz="2600" dirty="0"/>
          </a:p>
        </p:txBody>
      </p:sp>
      <p:sp>
        <p:nvSpPr>
          <p:cNvPr id="5" name="Text 3"/>
          <p:cNvSpPr/>
          <p:nvPr/>
        </p:nvSpPr>
        <p:spPr>
          <a:xfrm>
            <a:off x="365760" y="685800"/>
            <a:ext cx="8229600" cy="347472"/>
          </a:xfrm>
          <a:prstGeom prst="rect">
            <a:avLst/>
          </a:prstGeom>
          <a:noFill/>
          <a:ln/>
        </p:spPr>
        <p:txBody>
          <a:bodyPr wrap="square" lIns="0" tIns="0" rIns="0" bIns="0" rtlCol="0" anchor="ctr"/>
          <a:lstStyle/>
          <a:p>
            <a:pPr indent="0" marL="0">
              <a:buNone/>
            </a:pPr>
            <a:r>
              <a:rPr lang="en-US" sz="1300" dirty="0">
                <a:solidFill>
                  <a:srgbClr val="E8B96A"/>
                </a:solidFill>
                <a:latin typeface="Calibri" pitchFamily="34" charset="0"/>
                <a:ea typeface="Calibri" pitchFamily="34" charset="-122"/>
                <a:cs typeface="Calibri" pitchFamily="34" charset="-120"/>
              </a:rPr>
              <a:t>JWT-based stateless authentication with role-based access control</a:t>
            </a:r>
            <a:endParaRPr lang="en-US" sz="1300" dirty="0"/>
          </a:p>
        </p:txBody>
      </p:sp>
      <p:sp>
        <p:nvSpPr>
          <p:cNvPr id="6" name="Shape 4"/>
          <p:cNvSpPr/>
          <p:nvPr/>
        </p:nvSpPr>
        <p:spPr>
          <a:xfrm>
            <a:off x="182880" y="1261872"/>
            <a:ext cx="1828800" cy="868680"/>
          </a:xfrm>
          <a:prstGeom prst="rect">
            <a:avLst/>
          </a:prstGeom>
          <a:solidFill>
            <a:srgbClr val="0D9488"/>
          </a:solidFill>
          <a:ln/>
          <a:effectLst>
            <a:outerShdw sx="100000" sy="100000" kx="0" ky="0" algn="bl" rotWithShape="0" blurRad="101600" dist="38100" dir="8100000">
              <a:srgbClr val="000000">
                <a:alpha val="12000"/>
              </a:srgbClr>
            </a:outerShdw>
          </a:effectLst>
        </p:spPr>
      </p:sp>
      <p:sp>
        <p:nvSpPr>
          <p:cNvPr id="7" name="Text 5"/>
          <p:cNvSpPr/>
          <p:nvPr/>
        </p:nvSpPr>
        <p:spPr>
          <a:xfrm>
            <a:off x="182880" y="1261872"/>
            <a:ext cx="1828800" cy="8686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User POSTs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/auth/login</a:t>
            </a:r>
            <a:endParaRPr lang="en-US" sz="1000" dirty="0"/>
          </a:p>
        </p:txBody>
      </p:sp>
      <p:sp>
        <p:nvSpPr>
          <p:cNvPr id="8" name="Text 6"/>
          <p:cNvSpPr/>
          <p:nvPr/>
        </p:nvSpPr>
        <p:spPr>
          <a:xfrm>
            <a:off x="2011680" y="1536192"/>
            <a:ext cx="365760" cy="320040"/>
          </a:xfrm>
          <a:prstGeom prst="rect">
            <a:avLst/>
          </a:prstGeom>
          <a:noFill/>
          <a:ln/>
        </p:spPr>
        <p:txBody>
          <a:bodyPr wrap="square" lIns="0" tIns="0" rIns="0" bIns="0" rtlCol="0" anchor="ctr"/>
          <a:lstStyle/>
          <a:p>
            <a:pPr algn="ctr" indent="0" marL="0">
              <a:buNone/>
            </a:pPr>
            <a:r>
              <a:rPr lang="en-US" sz="1800" dirty="0">
                <a:solidFill>
                  <a:srgbClr val="C9973A"/>
                </a:solidFill>
              </a:rPr>
              <a:t>→</a:t>
            </a:r>
            <a:endParaRPr lang="en-US" sz="1800" dirty="0"/>
          </a:p>
        </p:txBody>
      </p:sp>
      <p:sp>
        <p:nvSpPr>
          <p:cNvPr id="9" name="Shape 7"/>
          <p:cNvSpPr/>
          <p:nvPr/>
        </p:nvSpPr>
        <p:spPr>
          <a:xfrm>
            <a:off x="2377440" y="1261872"/>
            <a:ext cx="1828800" cy="868680"/>
          </a:xfrm>
          <a:prstGeom prst="rect">
            <a:avLst/>
          </a:prstGeom>
          <a:solidFill>
            <a:srgbClr val="1B2A4A"/>
          </a:solidFill>
          <a:ln/>
          <a:effectLst>
            <a:outerShdw sx="100000" sy="100000" kx="0" ky="0" algn="bl" rotWithShape="0" blurRad="101600" dist="38100" dir="8100000">
              <a:srgbClr val="000000">
                <a:alpha val="12000"/>
              </a:srgbClr>
            </a:outerShdw>
          </a:effectLst>
        </p:spPr>
      </p:sp>
      <p:sp>
        <p:nvSpPr>
          <p:cNvPr id="10" name="Text 8"/>
          <p:cNvSpPr/>
          <p:nvPr/>
        </p:nvSpPr>
        <p:spPr>
          <a:xfrm>
            <a:off x="2377440" y="1261872"/>
            <a:ext cx="1828800" cy="8686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AuthService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validates creds</a:t>
            </a:r>
            <a:endParaRPr lang="en-US" sz="1000" dirty="0"/>
          </a:p>
        </p:txBody>
      </p:sp>
      <p:sp>
        <p:nvSpPr>
          <p:cNvPr id="11" name="Text 9"/>
          <p:cNvSpPr/>
          <p:nvPr/>
        </p:nvSpPr>
        <p:spPr>
          <a:xfrm>
            <a:off x="4206240" y="1536192"/>
            <a:ext cx="365760" cy="320040"/>
          </a:xfrm>
          <a:prstGeom prst="rect">
            <a:avLst/>
          </a:prstGeom>
          <a:noFill/>
          <a:ln/>
        </p:spPr>
        <p:txBody>
          <a:bodyPr wrap="square" lIns="0" tIns="0" rIns="0" bIns="0" rtlCol="0" anchor="ctr"/>
          <a:lstStyle/>
          <a:p>
            <a:pPr algn="ctr" indent="0" marL="0">
              <a:buNone/>
            </a:pPr>
            <a:r>
              <a:rPr lang="en-US" sz="1800" dirty="0">
                <a:solidFill>
                  <a:srgbClr val="C9973A"/>
                </a:solidFill>
              </a:rPr>
              <a:t>→</a:t>
            </a:r>
            <a:endParaRPr lang="en-US" sz="1800" dirty="0"/>
          </a:p>
        </p:txBody>
      </p:sp>
      <p:sp>
        <p:nvSpPr>
          <p:cNvPr id="12" name="Shape 10"/>
          <p:cNvSpPr/>
          <p:nvPr/>
        </p:nvSpPr>
        <p:spPr>
          <a:xfrm>
            <a:off x="4572000" y="1261872"/>
            <a:ext cx="1828800" cy="868680"/>
          </a:xfrm>
          <a:prstGeom prst="rect">
            <a:avLst/>
          </a:prstGeom>
          <a:solidFill>
            <a:srgbClr val="C9973A"/>
          </a:solidFill>
          <a:ln/>
          <a:effectLst>
            <a:outerShdw sx="100000" sy="100000" kx="0" ky="0" algn="bl" rotWithShape="0" blurRad="101600" dist="38100" dir="8100000">
              <a:srgbClr val="000000">
                <a:alpha val="12000"/>
              </a:srgbClr>
            </a:outerShdw>
          </a:effectLst>
        </p:spPr>
      </p:sp>
      <p:sp>
        <p:nvSpPr>
          <p:cNvPr id="13" name="Text 11"/>
          <p:cNvSpPr/>
          <p:nvPr/>
        </p:nvSpPr>
        <p:spPr>
          <a:xfrm>
            <a:off x="4572000" y="1261872"/>
            <a:ext cx="1828800" cy="8686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JWT Token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generated (HS512)</a:t>
            </a:r>
            <a:endParaRPr lang="en-US" sz="1000" dirty="0"/>
          </a:p>
        </p:txBody>
      </p:sp>
      <p:sp>
        <p:nvSpPr>
          <p:cNvPr id="14" name="Text 12"/>
          <p:cNvSpPr/>
          <p:nvPr/>
        </p:nvSpPr>
        <p:spPr>
          <a:xfrm>
            <a:off x="6400800" y="1536192"/>
            <a:ext cx="365760" cy="320040"/>
          </a:xfrm>
          <a:prstGeom prst="rect">
            <a:avLst/>
          </a:prstGeom>
          <a:noFill/>
          <a:ln/>
        </p:spPr>
        <p:txBody>
          <a:bodyPr wrap="square" lIns="0" tIns="0" rIns="0" bIns="0" rtlCol="0" anchor="ctr"/>
          <a:lstStyle/>
          <a:p>
            <a:pPr algn="ctr" indent="0" marL="0">
              <a:buNone/>
            </a:pPr>
            <a:r>
              <a:rPr lang="en-US" sz="1800" dirty="0">
                <a:solidFill>
                  <a:srgbClr val="C9973A"/>
                </a:solidFill>
              </a:rPr>
              <a:t>→</a:t>
            </a:r>
            <a:endParaRPr lang="en-US" sz="1800" dirty="0"/>
          </a:p>
        </p:txBody>
      </p:sp>
      <p:sp>
        <p:nvSpPr>
          <p:cNvPr id="15" name="Shape 13"/>
          <p:cNvSpPr/>
          <p:nvPr/>
        </p:nvSpPr>
        <p:spPr>
          <a:xfrm>
            <a:off x="6766560" y="1261872"/>
            <a:ext cx="1828800" cy="868680"/>
          </a:xfrm>
          <a:prstGeom prst="rect">
            <a:avLst/>
          </a:prstGeom>
          <a:solidFill>
            <a:srgbClr val="0D9488"/>
          </a:solidFill>
          <a:ln/>
          <a:effectLst>
            <a:outerShdw sx="100000" sy="100000" kx="0" ky="0" algn="bl" rotWithShape="0" blurRad="101600" dist="38100" dir="8100000">
              <a:srgbClr val="000000">
                <a:alpha val="12000"/>
              </a:srgbClr>
            </a:outerShdw>
          </a:effectLst>
        </p:spPr>
      </p:sp>
      <p:sp>
        <p:nvSpPr>
          <p:cNvPr id="16" name="Text 14"/>
          <p:cNvSpPr/>
          <p:nvPr/>
        </p:nvSpPr>
        <p:spPr>
          <a:xfrm>
            <a:off x="6766560" y="1261872"/>
            <a:ext cx="1828800" cy="8686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Token sent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to client</a:t>
            </a:r>
            <a:endParaRPr lang="en-US" sz="1000" dirty="0"/>
          </a:p>
        </p:txBody>
      </p:sp>
      <p:sp>
        <p:nvSpPr>
          <p:cNvPr id="17" name="Shape 15"/>
          <p:cNvSpPr/>
          <p:nvPr/>
        </p:nvSpPr>
        <p:spPr>
          <a:xfrm>
            <a:off x="182880" y="3200400"/>
            <a:ext cx="1828800" cy="868680"/>
          </a:xfrm>
          <a:prstGeom prst="rect">
            <a:avLst/>
          </a:prstGeom>
          <a:solidFill>
            <a:srgbClr val="1B2A4A"/>
          </a:solidFill>
          <a:ln/>
          <a:effectLst>
            <a:outerShdw sx="100000" sy="100000" kx="0" ky="0" algn="bl" rotWithShape="0" blurRad="101600" dist="38100" dir="8100000">
              <a:srgbClr val="000000">
                <a:alpha val="12000"/>
              </a:srgbClr>
            </a:outerShdw>
          </a:effectLst>
        </p:spPr>
      </p:sp>
      <p:sp>
        <p:nvSpPr>
          <p:cNvPr id="18" name="Text 16"/>
          <p:cNvSpPr/>
          <p:nvPr/>
        </p:nvSpPr>
        <p:spPr>
          <a:xfrm>
            <a:off x="182880" y="3200400"/>
            <a:ext cx="1828800" cy="8686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Every API call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includes Bearer token</a:t>
            </a:r>
            <a:endParaRPr lang="en-US" sz="1000" dirty="0"/>
          </a:p>
        </p:txBody>
      </p:sp>
      <p:sp>
        <p:nvSpPr>
          <p:cNvPr id="19" name="Text 17"/>
          <p:cNvSpPr/>
          <p:nvPr/>
        </p:nvSpPr>
        <p:spPr>
          <a:xfrm>
            <a:off x="2011680" y="3474720"/>
            <a:ext cx="365760" cy="320040"/>
          </a:xfrm>
          <a:prstGeom prst="rect">
            <a:avLst/>
          </a:prstGeom>
          <a:noFill/>
          <a:ln/>
        </p:spPr>
        <p:txBody>
          <a:bodyPr wrap="square" lIns="0" tIns="0" rIns="0" bIns="0" rtlCol="0" anchor="ctr"/>
          <a:lstStyle/>
          <a:p>
            <a:pPr algn="ctr" indent="0" marL="0">
              <a:buNone/>
            </a:pPr>
            <a:r>
              <a:rPr lang="en-US" sz="1800" dirty="0">
                <a:solidFill>
                  <a:srgbClr val="C9973A"/>
                </a:solidFill>
              </a:rPr>
              <a:t>→</a:t>
            </a:r>
            <a:endParaRPr lang="en-US" sz="1800" dirty="0"/>
          </a:p>
        </p:txBody>
      </p:sp>
      <p:sp>
        <p:nvSpPr>
          <p:cNvPr id="20" name="Shape 18"/>
          <p:cNvSpPr/>
          <p:nvPr/>
        </p:nvSpPr>
        <p:spPr>
          <a:xfrm>
            <a:off x="2377440" y="3200400"/>
            <a:ext cx="1828800" cy="868680"/>
          </a:xfrm>
          <a:prstGeom prst="rect">
            <a:avLst/>
          </a:prstGeom>
          <a:solidFill>
            <a:srgbClr val="EA580C"/>
          </a:solidFill>
          <a:ln/>
          <a:effectLst>
            <a:outerShdw sx="100000" sy="100000" kx="0" ky="0" algn="bl" rotWithShape="0" blurRad="101600" dist="38100" dir="8100000">
              <a:srgbClr val="000000">
                <a:alpha val="12000"/>
              </a:srgbClr>
            </a:outerShdw>
          </a:effectLst>
        </p:spPr>
      </p:sp>
      <p:sp>
        <p:nvSpPr>
          <p:cNvPr id="21" name="Text 19"/>
          <p:cNvSpPr/>
          <p:nvPr/>
        </p:nvSpPr>
        <p:spPr>
          <a:xfrm>
            <a:off x="2377440" y="3200400"/>
            <a:ext cx="1828800" cy="8686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JwtAuthFilter</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extracts user</a:t>
            </a:r>
            <a:endParaRPr lang="en-US" sz="1000" dirty="0"/>
          </a:p>
        </p:txBody>
      </p:sp>
      <p:sp>
        <p:nvSpPr>
          <p:cNvPr id="22" name="Text 20"/>
          <p:cNvSpPr/>
          <p:nvPr/>
        </p:nvSpPr>
        <p:spPr>
          <a:xfrm>
            <a:off x="4206240" y="3474720"/>
            <a:ext cx="365760" cy="320040"/>
          </a:xfrm>
          <a:prstGeom prst="rect">
            <a:avLst/>
          </a:prstGeom>
          <a:noFill/>
          <a:ln/>
        </p:spPr>
        <p:txBody>
          <a:bodyPr wrap="square" lIns="0" tIns="0" rIns="0" bIns="0" rtlCol="0" anchor="ctr"/>
          <a:lstStyle/>
          <a:p>
            <a:pPr algn="ctr" indent="0" marL="0">
              <a:buNone/>
            </a:pPr>
            <a:r>
              <a:rPr lang="en-US" sz="1800" dirty="0">
                <a:solidFill>
                  <a:srgbClr val="C9973A"/>
                </a:solidFill>
              </a:rPr>
              <a:t>→</a:t>
            </a:r>
            <a:endParaRPr lang="en-US" sz="1800" dirty="0"/>
          </a:p>
        </p:txBody>
      </p:sp>
      <p:sp>
        <p:nvSpPr>
          <p:cNvPr id="23" name="Shape 21"/>
          <p:cNvSpPr/>
          <p:nvPr/>
        </p:nvSpPr>
        <p:spPr>
          <a:xfrm>
            <a:off x="4572000" y="3200400"/>
            <a:ext cx="1828800" cy="868680"/>
          </a:xfrm>
          <a:prstGeom prst="rect">
            <a:avLst/>
          </a:prstGeom>
          <a:solidFill>
            <a:srgbClr val="16A34A"/>
          </a:solidFill>
          <a:ln/>
          <a:effectLst>
            <a:outerShdw sx="100000" sy="100000" kx="0" ky="0" algn="bl" rotWithShape="0" blurRad="101600" dist="38100" dir="8100000">
              <a:srgbClr val="000000">
                <a:alpha val="12000"/>
              </a:srgbClr>
            </a:outerShdw>
          </a:effectLst>
        </p:spPr>
      </p:sp>
      <p:sp>
        <p:nvSpPr>
          <p:cNvPr id="24" name="Text 22"/>
          <p:cNvSpPr/>
          <p:nvPr/>
        </p:nvSpPr>
        <p:spPr>
          <a:xfrm>
            <a:off x="4572000" y="3200400"/>
            <a:ext cx="1828800" cy="8686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Spring Security</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authorizes request</a:t>
            </a:r>
            <a:endParaRPr lang="en-US" sz="1000" dirty="0"/>
          </a:p>
        </p:txBody>
      </p:sp>
      <p:sp>
        <p:nvSpPr>
          <p:cNvPr id="25" name="Shape 23"/>
          <p:cNvSpPr/>
          <p:nvPr/>
        </p:nvSpPr>
        <p:spPr>
          <a:xfrm>
            <a:off x="182880" y="4160520"/>
            <a:ext cx="2011680" cy="91440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182880" y="4160520"/>
            <a:ext cx="54864" cy="914400"/>
          </a:xfrm>
          <a:prstGeom prst="rect">
            <a:avLst/>
          </a:prstGeom>
          <a:solidFill>
            <a:srgbClr val="1B2A4A"/>
          </a:solidFill>
          <a:ln/>
        </p:spPr>
      </p:sp>
      <p:sp>
        <p:nvSpPr>
          <p:cNvPr id="27" name="Text 25"/>
          <p:cNvSpPr/>
          <p:nvPr/>
        </p:nvSpPr>
        <p:spPr>
          <a:xfrm>
            <a:off x="320040" y="4206240"/>
            <a:ext cx="1783080" cy="256032"/>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BCrypt Password Encoding</a:t>
            </a:r>
            <a:endParaRPr lang="en-US" sz="950" dirty="0"/>
          </a:p>
        </p:txBody>
      </p:sp>
      <p:sp>
        <p:nvSpPr>
          <p:cNvPr id="28" name="Text 26"/>
          <p:cNvSpPr/>
          <p:nvPr/>
        </p:nvSpPr>
        <p:spPr>
          <a:xfrm>
            <a:off x="320040" y="4480560"/>
            <a:ext cx="1783080" cy="54864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All passwords hashed with BCrypt before storage. Plain-text never stored.</a:t>
            </a:r>
            <a:endParaRPr lang="en-US" sz="850" dirty="0"/>
          </a:p>
        </p:txBody>
      </p:sp>
      <p:sp>
        <p:nvSpPr>
          <p:cNvPr id="29" name="Shape 27"/>
          <p:cNvSpPr/>
          <p:nvPr/>
        </p:nvSpPr>
        <p:spPr>
          <a:xfrm>
            <a:off x="2377440" y="4160520"/>
            <a:ext cx="2011680" cy="91440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2377440" y="4160520"/>
            <a:ext cx="54864" cy="914400"/>
          </a:xfrm>
          <a:prstGeom prst="rect">
            <a:avLst/>
          </a:prstGeom>
          <a:solidFill>
            <a:srgbClr val="1B2A4A"/>
          </a:solidFill>
          <a:ln/>
        </p:spPr>
      </p:sp>
      <p:sp>
        <p:nvSpPr>
          <p:cNvPr id="31" name="Text 29"/>
          <p:cNvSpPr/>
          <p:nvPr/>
        </p:nvSpPr>
        <p:spPr>
          <a:xfrm>
            <a:off x="2514600" y="4206240"/>
            <a:ext cx="1783080" cy="256032"/>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Stateless JWT (HS512)</a:t>
            </a:r>
            <a:endParaRPr lang="en-US" sz="950" dirty="0"/>
          </a:p>
        </p:txBody>
      </p:sp>
      <p:sp>
        <p:nvSpPr>
          <p:cNvPr id="32" name="Text 30"/>
          <p:cNvSpPr/>
          <p:nvPr/>
        </p:nvSpPr>
        <p:spPr>
          <a:xfrm>
            <a:off x="2514600" y="4480560"/>
            <a:ext cx="1783080" cy="54864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Token contains username. Expiry: 24 hours (86400000ms). No session stored server-side.</a:t>
            </a:r>
            <a:endParaRPr lang="en-US" sz="850" dirty="0"/>
          </a:p>
        </p:txBody>
      </p:sp>
      <p:sp>
        <p:nvSpPr>
          <p:cNvPr id="33" name="Shape 31"/>
          <p:cNvSpPr/>
          <p:nvPr/>
        </p:nvSpPr>
        <p:spPr>
          <a:xfrm>
            <a:off x="4572000" y="4160520"/>
            <a:ext cx="2011680" cy="91440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4572000" y="4160520"/>
            <a:ext cx="54864" cy="914400"/>
          </a:xfrm>
          <a:prstGeom prst="rect">
            <a:avLst/>
          </a:prstGeom>
          <a:solidFill>
            <a:srgbClr val="1B2A4A"/>
          </a:solidFill>
          <a:ln/>
        </p:spPr>
      </p:sp>
      <p:sp>
        <p:nvSpPr>
          <p:cNvPr id="35" name="Text 33"/>
          <p:cNvSpPr/>
          <p:nvPr/>
        </p:nvSpPr>
        <p:spPr>
          <a:xfrm>
            <a:off x="4709160" y="4206240"/>
            <a:ext cx="1783080" cy="256032"/>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Route Guards (Angular)</a:t>
            </a:r>
            <a:endParaRPr lang="en-US" sz="950" dirty="0"/>
          </a:p>
        </p:txBody>
      </p:sp>
      <p:sp>
        <p:nvSpPr>
          <p:cNvPr id="36" name="Text 34"/>
          <p:cNvSpPr/>
          <p:nvPr/>
        </p:nvSpPr>
        <p:spPr>
          <a:xfrm>
            <a:off x="4709160" y="4480560"/>
            <a:ext cx="1783080" cy="54864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adminGuard, managerGuard, employeeGuard prevent unauthorized navigation.</a:t>
            </a:r>
            <a:endParaRPr lang="en-US" sz="850" dirty="0"/>
          </a:p>
        </p:txBody>
      </p:sp>
      <p:sp>
        <p:nvSpPr>
          <p:cNvPr id="37" name="Shape 35"/>
          <p:cNvSpPr/>
          <p:nvPr/>
        </p:nvSpPr>
        <p:spPr>
          <a:xfrm>
            <a:off x="6766560" y="4160520"/>
            <a:ext cx="2011680" cy="91440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38" name="Shape 36"/>
          <p:cNvSpPr/>
          <p:nvPr/>
        </p:nvSpPr>
        <p:spPr>
          <a:xfrm>
            <a:off x="6766560" y="4160520"/>
            <a:ext cx="54864" cy="914400"/>
          </a:xfrm>
          <a:prstGeom prst="rect">
            <a:avLst/>
          </a:prstGeom>
          <a:solidFill>
            <a:srgbClr val="1B2A4A"/>
          </a:solidFill>
          <a:ln/>
        </p:spPr>
      </p:sp>
      <p:sp>
        <p:nvSpPr>
          <p:cNvPr id="39" name="Text 37"/>
          <p:cNvSpPr/>
          <p:nvPr/>
        </p:nvSpPr>
        <p:spPr>
          <a:xfrm>
            <a:off x="6903720" y="4206240"/>
            <a:ext cx="1783080" cy="256032"/>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CORS Configuration</a:t>
            </a:r>
            <a:endParaRPr lang="en-US" sz="950" dirty="0"/>
          </a:p>
        </p:txBody>
      </p:sp>
      <p:sp>
        <p:nvSpPr>
          <p:cNvPr id="40" name="Text 38"/>
          <p:cNvSpPr/>
          <p:nvPr/>
        </p:nvSpPr>
        <p:spPr>
          <a:xfrm>
            <a:off x="6903720" y="4480560"/>
            <a:ext cx="1783080" cy="54864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Configured to allow specific origins. Prevents unauthorized cross-origin calls.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B2A4A"/>
          </a:solidFill>
          <a:ln/>
        </p:spPr>
      </p:sp>
      <p:sp>
        <p:nvSpPr>
          <p:cNvPr id="3" name="Shape 1"/>
          <p:cNvSpPr/>
          <p:nvPr/>
        </p:nvSpPr>
        <p:spPr>
          <a:xfrm>
            <a:off x="0" y="1097280"/>
            <a:ext cx="9144000" cy="54864"/>
          </a:xfrm>
          <a:prstGeom prst="rect">
            <a:avLst/>
          </a:prstGeom>
          <a:solidFill>
            <a:srgbClr val="C9973A"/>
          </a:solidFill>
          <a:ln/>
        </p:spPr>
      </p:sp>
      <p:sp>
        <p:nvSpPr>
          <p:cNvPr id="4" name="Text 2"/>
          <p:cNvSpPr/>
          <p:nvPr/>
        </p:nvSpPr>
        <p:spPr>
          <a:xfrm>
            <a:off x="365760" y="13716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Database Design</a:t>
            </a:r>
            <a:endParaRPr lang="en-US" sz="2600" dirty="0"/>
          </a:p>
        </p:txBody>
      </p:sp>
      <p:sp>
        <p:nvSpPr>
          <p:cNvPr id="5" name="Text 3"/>
          <p:cNvSpPr/>
          <p:nvPr/>
        </p:nvSpPr>
        <p:spPr>
          <a:xfrm>
            <a:off x="365760" y="685800"/>
            <a:ext cx="8229600" cy="347472"/>
          </a:xfrm>
          <a:prstGeom prst="rect">
            <a:avLst/>
          </a:prstGeom>
          <a:noFill/>
          <a:ln/>
        </p:spPr>
        <p:txBody>
          <a:bodyPr wrap="square" lIns="0" tIns="0" rIns="0" bIns="0" rtlCol="0" anchor="ctr"/>
          <a:lstStyle/>
          <a:p>
            <a:pPr indent="0" marL="0">
              <a:buNone/>
            </a:pPr>
            <a:r>
              <a:rPr lang="en-US" sz="1300" dirty="0">
                <a:solidFill>
                  <a:srgbClr val="E8B96A"/>
                </a:solidFill>
                <a:latin typeface="Calibri" pitchFamily="34" charset="0"/>
                <a:ea typeface="Calibri" pitchFamily="34" charset="-122"/>
                <a:cs typeface="Calibri" pitchFamily="34" charset="-120"/>
              </a:rPr>
              <a:t>MySQL relational schema with JPA entity mappings</a:t>
            </a:r>
            <a:endParaRPr lang="en-US" sz="1300" dirty="0"/>
          </a:p>
        </p:txBody>
      </p:sp>
      <p:sp>
        <p:nvSpPr>
          <p:cNvPr id="6" name="Shape 4"/>
          <p:cNvSpPr/>
          <p:nvPr/>
        </p:nvSpPr>
        <p:spPr>
          <a:xfrm>
            <a:off x="228600" y="1234440"/>
            <a:ext cx="2029968" cy="384048"/>
          </a:xfrm>
          <a:prstGeom prst="rect">
            <a:avLst/>
          </a:prstGeom>
          <a:solidFill>
            <a:srgbClr val="1B2A4A"/>
          </a:solidFill>
          <a:ln/>
        </p:spPr>
      </p:sp>
      <p:sp>
        <p:nvSpPr>
          <p:cNvPr id="7" name="Text 5"/>
          <p:cNvSpPr/>
          <p:nvPr/>
        </p:nvSpPr>
        <p:spPr>
          <a:xfrm>
            <a:off x="228600" y="1234440"/>
            <a:ext cx="202996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users</a:t>
            </a:r>
            <a:endParaRPr lang="en-US" sz="1050" dirty="0"/>
          </a:p>
        </p:txBody>
      </p:sp>
      <p:sp>
        <p:nvSpPr>
          <p:cNvPr id="8" name="Shape 6"/>
          <p:cNvSpPr/>
          <p:nvPr/>
        </p:nvSpPr>
        <p:spPr>
          <a:xfrm>
            <a:off x="228600" y="1618488"/>
            <a:ext cx="2029968" cy="34290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9" name="Shape 7"/>
          <p:cNvSpPr/>
          <p:nvPr/>
        </p:nvSpPr>
        <p:spPr>
          <a:xfrm>
            <a:off x="228600" y="1618488"/>
            <a:ext cx="2029968" cy="342900"/>
          </a:xfrm>
          <a:prstGeom prst="rect">
            <a:avLst/>
          </a:prstGeom>
          <a:solidFill>
            <a:srgbClr val="F4F6FB"/>
          </a:solidFill>
          <a:ln w="2540">
            <a:solidFill>
              <a:srgbClr val="CBD5E1"/>
            </a:solidFill>
            <a:prstDash val="solid"/>
          </a:ln>
        </p:spPr>
      </p:sp>
      <p:sp>
        <p:nvSpPr>
          <p:cNvPr id="10" name="Text 8"/>
          <p:cNvSpPr/>
          <p:nvPr/>
        </p:nvSpPr>
        <p:spPr>
          <a:xfrm>
            <a:off x="338328" y="1618488"/>
            <a:ext cx="1828800" cy="342900"/>
          </a:xfrm>
          <a:prstGeom prst="rect">
            <a:avLst/>
          </a:prstGeom>
          <a:noFill/>
          <a:ln/>
        </p:spPr>
        <p:txBody>
          <a:bodyPr wrap="square" lIns="0" tIns="0" rIns="0" bIns="0" rtlCol="0" anchor="ctr"/>
          <a:lstStyle/>
          <a:p>
            <a:pPr indent="0" marL="0">
              <a:buNone/>
            </a:pPr>
            <a:r>
              <a:rPr lang="en-US" sz="850" b="1" dirty="0">
                <a:solidFill>
                  <a:srgbClr val="C9973A"/>
                </a:solidFill>
                <a:latin typeface="Calibri" pitchFamily="34" charset="0"/>
                <a:ea typeface="Calibri" pitchFamily="34" charset="-122"/>
                <a:cs typeface="Calibri" pitchFamily="34" charset="-120"/>
              </a:rPr>
              <a:t>id (PK)</a:t>
            </a:r>
            <a:endParaRPr lang="en-US" sz="850" dirty="0"/>
          </a:p>
        </p:txBody>
      </p:sp>
      <p:sp>
        <p:nvSpPr>
          <p:cNvPr id="11" name="Shape 9"/>
          <p:cNvSpPr/>
          <p:nvPr/>
        </p:nvSpPr>
        <p:spPr>
          <a:xfrm>
            <a:off x="228600" y="1961388"/>
            <a:ext cx="2029968" cy="342900"/>
          </a:xfrm>
          <a:prstGeom prst="rect">
            <a:avLst/>
          </a:prstGeom>
          <a:solidFill>
            <a:srgbClr val="FFFFFF"/>
          </a:solidFill>
          <a:ln w="2540">
            <a:solidFill>
              <a:srgbClr val="CBD5E1"/>
            </a:solidFill>
            <a:prstDash val="solid"/>
          </a:ln>
        </p:spPr>
      </p:sp>
      <p:sp>
        <p:nvSpPr>
          <p:cNvPr id="12" name="Text 10"/>
          <p:cNvSpPr/>
          <p:nvPr/>
        </p:nvSpPr>
        <p:spPr>
          <a:xfrm>
            <a:off x="338328" y="19613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employeeId (unique)</a:t>
            </a:r>
            <a:endParaRPr lang="en-US" sz="850" dirty="0"/>
          </a:p>
        </p:txBody>
      </p:sp>
      <p:sp>
        <p:nvSpPr>
          <p:cNvPr id="13" name="Shape 11"/>
          <p:cNvSpPr/>
          <p:nvPr/>
        </p:nvSpPr>
        <p:spPr>
          <a:xfrm>
            <a:off x="228600" y="2304288"/>
            <a:ext cx="2029968" cy="342900"/>
          </a:xfrm>
          <a:prstGeom prst="rect">
            <a:avLst/>
          </a:prstGeom>
          <a:solidFill>
            <a:srgbClr val="F4F6FB"/>
          </a:solidFill>
          <a:ln w="2540">
            <a:solidFill>
              <a:srgbClr val="CBD5E1"/>
            </a:solidFill>
            <a:prstDash val="solid"/>
          </a:ln>
        </p:spPr>
      </p:sp>
      <p:sp>
        <p:nvSpPr>
          <p:cNvPr id="14" name="Text 12"/>
          <p:cNvSpPr/>
          <p:nvPr/>
        </p:nvSpPr>
        <p:spPr>
          <a:xfrm>
            <a:off x="338328" y="23042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email (unique)</a:t>
            </a:r>
            <a:endParaRPr lang="en-US" sz="850" dirty="0"/>
          </a:p>
        </p:txBody>
      </p:sp>
      <p:sp>
        <p:nvSpPr>
          <p:cNvPr id="15" name="Shape 13"/>
          <p:cNvSpPr/>
          <p:nvPr/>
        </p:nvSpPr>
        <p:spPr>
          <a:xfrm>
            <a:off x="228600" y="2647188"/>
            <a:ext cx="2029968" cy="342900"/>
          </a:xfrm>
          <a:prstGeom prst="rect">
            <a:avLst/>
          </a:prstGeom>
          <a:solidFill>
            <a:srgbClr val="FFFFFF"/>
          </a:solidFill>
          <a:ln w="2540">
            <a:solidFill>
              <a:srgbClr val="CBD5E1"/>
            </a:solidFill>
            <a:prstDash val="solid"/>
          </a:ln>
        </p:spPr>
      </p:sp>
      <p:sp>
        <p:nvSpPr>
          <p:cNvPr id="16" name="Text 14"/>
          <p:cNvSpPr/>
          <p:nvPr/>
        </p:nvSpPr>
        <p:spPr>
          <a:xfrm>
            <a:off x="338328" y="26471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firstName, lastName</a:t>
            </a:r>
            <a:endParaRPr lang="en-US" sz="850" dirty="0"/>
          </a:p>
        </p:txBody>
      </p:sp>
      <p:sp>
        <p:nvSpPr>
          <p:cNvPr id="17" name="Shape 15"/>
          <p:cNvSpPr/>
          <p:nvPr/>
        </p:nvSpPr>
        <p:spPr>
          <a:xfrm>
            <a:off x="228600" y="2990088"/>
            <a:ext cx="2029968" cy="342900"/>
          </a:xfrm>
          <a:prstGeom prst="rect">
            <a:avLst/>
          </a:prstGeom>
          <a:solidFill>
            <a:srgbClr val="F4F6FB"/>
          </a:solidFill>
          <a:ln w="2540">
            <a:solidFill>
              <a:srgbClr val="CBD5E1"/>
            </a:solidFill>
            <a:prstDash val="solid"/>
          </a:ln>
        </p:spPr>
      </p:sp>
      <p:sp>
        <p:nvSpPr>
          <p:cNvPr id="18" name="Text 16"/>
          <p:cNvSpPr/>
          <p:nvPr/>
        </p:nvSpPr>
        <p:spPr>
          <a:xfrm>
            <a:off x="338328" y="29900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role (ENUM)</a:t>
            </a:r>
            <a:endParaRPr lang="en-US" sz="850" dirty="0"/>
          </a:p>
        </p:txBody>
      </p:sp>
      <p:sp>
        <p:nvSpPr>
          <p:cNvPr id="19" name="Shape 17"/>
          <p:cNvSpPr/>
          <p:nvPr/>
        </p:nvSpPr>
        <p:spPr>
          <a:xfrm>
            <a:off x="228600" y="3332988"/>
            <a:ext cx="2029968" cy="342900"/>
          </a:xfrm>
          <a:prstGeom prst="rect">
            <a:avLst/>
          </a:prstGeom>
          <a:solidFill>
            <a:srgbClr val="FFFFFF"/>
          </a:solidFill>
          <a:ln w="2540">
            <a:solidFill>
              <a:srgbClr val="CBD5E1"/>
            </a:solidFill>
            <a:prstDash val="solid"/>
          </a:ln>
        </p:spPr>
      </p:sp>
      <p:sp>
        <p:nvSpPr>
          <p:cNvPr id="20" name="Text 18"/>
          <p:cNvSpPr/>
          <p:nvPr/>
        </p:nvSpPr>
        <p:spPr>
          <a:xfrm>
            <a:off x="338328" y="3332988"/>
            <a:ext cx="1828800" cy="342900"/>
          </a:xfrm>
          <a:prstGeom prst="rect">
            <a:avLst/>
          </a:prstGeom>
          <a:noFill/>
          <a:ln/>
        </p:spPr>
        <p:txBody>
          <a:bodyPr wrap="square" lIns="0" tIns="0" rIns="0" bIns="0" rtlCol="0" anchor="ctr"/>
          <a:lstStyle/>
          <a:p>
            <a:pPr indent="0" marL="0">
              <a:buNone/>
            </a:pPr>
            <a:r>
              <a:rPr lang="en-US" sz="850" dirty="0">
                <a:solidFill>
                  <a:srgbClr val="0D9488"/>
                </a:solidFill>
                <a:latin typeface="Calibri" pitchFamily="34" charset="0"/>
                <a:ea typeface="Calibri" pitchFamily="34" charset="-122"/>
                <a:cs typeface="Calibri" pitchFamily="34" charset="-120"/>
              </a:rPr>
              <a:t>department_id (FK)</a:t>
            </a:r>
            <a:endParaRPr lang="en-US" sz="850" dirty="0"/>
          </a:p>
        </p:txBody>
      </p:sp>
      <p:sp>
        <p:nvSpPr>
          <p:cNvPr id="21" name="Shape 19"/>
          <p:cNvSpPr/>
          <p:nvPr/>
        </p:nvSpPr>
        <p:spPr>
          <a:xfrm>
            <a:off x="228600" y="3675888"/>
            <a:ext cx="2029968" cy="342900"/>
          </a:xfrm>
          <a:prstGeom prst="rect">
            <a:avLst/>
          </a:prstGeom>
          <a:solidFill>
            <a:srgbClr val="F4F6FB"/>
          </a:solidFill>
          <a:ln w="2540">
            <a:solidFill>
              <a:srgbClr val="CBD5E1"/>
            </a:solidFill>
            <a:prstDash val="solid"/>
          </a:ln>
        </p:spPr>
      </p:sp>
      <p:sp>
        <p:nvSpPr>
          <p:cNvPr id="22" name="Text 20"/>
          <p:cNvSpPr/>
          <p:nvPr/>
        </p:nvSpPr>
        <p:spPr>
          <a:xfrm>
            <a:off x="338328" y="3675888"/>
            <a:ext cx="1828800" cy="342900"/>
          </a:xfrm>
          <a:prstGeom prst="rect">
            <a:avLst/>
          </a:prstGeom>
          <a:noFill/>
          <a:ln/>
        </p:spPr>
        <p:txBody>
          <a:bodyPr wrap="square" lIns="0" tIns="0" rIns="0" bIns="0" rtlCol="0" anchor="ctr"/>
          <a:lstStyle/>
          <a:p>
            <a:pPr indent="0" marL="0">
              <a:buNone/>
            </a:pPr>
            <a:r>
              <a:rPr lang="en-US" sz="850" dirty="0">
                <a:solidFill>
                  <a:srgbClr val="0D9488"/>
                </a:solidFill>
                <a:latin typeface="Calibri" pitchFamily="34" charset="0"/>
                <a:ea typeface="Calibri" pitchFamily="34" charset="-122"/>
                <a:cs typeface="Calibri" pitchFamily="34" charset="-120"/>
              </a:rPr>
              <a:t>designation_id (FK)</a:t>
            </a:r>
            <a:endParaRPr lang="en-US" sz="850" dirty="0"/>
          </a:p>
        </p:txBody>
      </p:sp>
      <p:sp>
        <p:nvSpPr>
          <p:cNvPr id="23" name="Shape 21"/>
          <p:cNvSpPr/>
          <p:nvPr/>
        </p:nvSpPr>
        <p:spPr>
          <a:xfrm>
            <a:off x="228600" y="4018788"/>
            <a:ext cx="2029968" cy="342900"/>
          </a:xfrm>
          <a:prstGeom prst="rect">
            <a:avLst/>
          </a:prstGeom>
          <a:solidFill>
            <a:srgbClr val="FFFFFF"/>
          </a:solidFill>
          <a:ln w="2540">
            <a:solidFill>
              <a:srgbClr val="CBD5E1"/>
            </a:solidFill>
            <a:prstDash val="solid"/>
          </a:ln>
        </p:spPr>
      </p:sp>
      <p:sp>
        <p:nvSpPr>
          <p:cNvPr id="24" name="Text 22"/>
          <p:cNvSpPr/>
          <p:nvPr/>
        </p:nvSpPr>
        <p:spPr>
          <a:xfrm>
            <a:off x="338328" y="4018788"/>
            <a:ext cx="1828800" cy="342900"/>
          </a:xfrm>
          <a:prstGeom prst="rect">
            <a:avLst/>
          </a:prstGeom>
          <a:noFill/>
          <a:ln/>
        </p:spPr>
        <p:txBody>
          <a:bodyPr wrap="square" lIns="0" tIns="0" rIns="0" bIns="0" rtlCol="0" anchor="ctr"/>
          <a:lstStyle/>
          <a:p>
            <a:pPr indent="0" marL="0">
              <a:buNone/>
            </a:pPr>
            <a:r>
              <a:rPr lang="en-US" sz="850" dirty="0">
                <a:solidFill>
                  <a:srgbClr val="0D9488"/>
                </a:solidFill>
                <a:latin typeface="Calibri" pitchFamily="34" charset="0"/>
                <a:ea typeface="Calibri" pitchFamily="34" charset="-122"/>
                <a:cs typeface="Calibri" pitchFamily="34" charset="-120"/>
              </a:rPr>
              <a:t>manager_id (FK self)</a:t>
            </a:r>
            <a:endParaRPr lang="en-US" sz="850" dirty="0"/>
          </a:p>
        </p:txBody>
      </p:sp>
      <p:sp>
        <p:nvSpPr>
          <p:cNvPr id="25" name="Shape 23"/>
          <p:cNvSpPr/>
          <p:nvPr/>
        </p:nvSpPr>
        <p:spPr>
          <a:xfrm>
            <a:off x="228600" y="4361688"/>
            <a:ext cx="2029968" cy="342900"/>
          </a:xfrm>
          <a:prstGeom prst="rect">
            <a:avLst/>
          </a:prstGeom>
          <a:solidFill>
            <a:srgbClr val="F4F6FB"/>
          </a:solidFill>
          <a:ln w="2540">
            <a:solidFill>
              <a:srgbClr val="CBD5E1"/>
            </a:solidFill>
            <a:prstDash val="solid"/>
          </a:ln>
        </p:spPr>
      </p:sp>
      <p:sp>
        <p:nvSpPr>
          <p:cNvPr id="26" name="Text 24"/>
          <p:cNvSpPr/>
          <p:nvPr/>
        </p:nvSpPr>
        <p:spPr>
          <a:xfrm>
            <a:off x="338328" y="43616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salary, phoneNumber, address</a:t>
            </a:r>
            <a:endParaRPr lang="en-US" sz="850" dirty="0"/>
          </a:p>
        </p:txBody>
      </p:sp>
      <p:sp>
        <p:nvSpPr>
          <p:cNvPr id="27" name="Shape 25"/>
          <p:cNvSpPr/>
          <p:nvPr/>
        </p:nvSpPr>
        <p:spPr>
          <a:xfrm>
            <a:off x="228600" y="4704588"/>
            <a:ext cx="2029968" cy="342900"/>
          </a:xfrm>
          <a:prstGeom prst="rect">
            <a:avLst/>
          </a:prstGeom>
          <a:solidFill>
            <a:srgbClr val="FFFFFF"/>
          </a:solidFill>
          <a:ln w="2540">
            <a:solidFill>
              <a:srgbClr val="CBD5E1"/>
            </a:solidFill>
            <a:prstDash val="solid"/>
          </a:ln>
        </p:spPr>
      </p:sp>
      <p:sp>
        <p:nvSpPr>
          <p:cNvPr id="28" name="Text 26"/>
          <p:cNvSpPr/>
          <p:nvPr/>
        </p:nvSpPr>
        <p:spPr>
          <a:xfrm>
            <a:off x="338328" y="47045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joiningDate, active</a:t>
            </a:r>
            <a:endParaRPr lang="en-US" sz="850" dirty="0"/>
          </a:p>
        </p:txBody>
      </p:sp>
      <p:sp>
        <p:nvSpPr>
          <p:cNvPr id="29" name="Shape 27"/>
          <p:cNvSpPr/>
          <p:nvPr/>
        </p:nvSpPr>
        <p:spPr>
          <a:xfrm>
            <a:off x="2441448" y="1234440"/>
            <a:ext cx="2029968" cy="384048"/>
          </a:xfrm>
          <a:prstGeom prst="rect">
            <a:avLst/>
          </a:prstGeom>
          <a:solidFill>
            <a:srgbClr val="0D9488"/>
          </a:solidFill>
          <a:ln/>
        </p:spPr>
      </p:sp>
      <p:sp>
        <p:nvSpPr>
          <p:cNvPr id="30" name="Text 28"/>
          <p:cNvSpPr/>
          <p:nvPr/>
        </p:nvSpPr>
        <p:spPr>
          <a:xfrm>
            <a:off x="2441448" y="1234440"/>
            <a:ext cx="202996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leave_applications</a:t>
            </a:r>
            <a:endParaRPr lang="en-US" sz="1050" dirty="0"/>
          </a:p>
        </p:txBody>
      </p:sp>
      <p:sp>
        <p:nvSpPr>
          <p:cNvPr id="31" name="Shape 29"/>
          <p:cNvSpPr/>
          <p:nvPr/>
        </p:nvSpPr>
        <p:spPr>
          <a:xfrm>
            <a:off x="2441448" y="1618488"/>
            <a:ext cx="2029968" cy="34290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2" name="Shape 30"/>
          <p:cNvSpPr/>
          <p:nvPr/>
        </p:nvSpPr>
        <p:spPr>
          <a:xfrm>
            <a:off x="2441448" y="1618488"/>
            <a:ext cx="2029968" cy="342900"/>
          </a:xfrm>
          <a:prstGeom prst="rect">
            <a:avLst/>
          </a:prstGeom>
          <a:solidFill>
            <a:srgbClr val="F4F6FB"/>
          </a:solidFill>
          <a:ln w="2540">
            <a:solidFill>
              <a:srgbClr val="CBD5E1"/>
            </a:solidFill>
            <a:prstDash val="solid"/>
          </a:ln>
        </p:spPr>
      </p:sp>
      <p:sp>
        <p:nvSpPr>
          <p:cNvPr id="33" name="Text 31"/>
          <p:cNvSpPr/>
          <p:nvPr/>
        </p:nvSpPr>
        <p:spPr>
          <a:xfrm>
            <a:off x="2551176" y="1618488"/>
            <a:ext cx="1828800" cy="342900"/>
          </a:xfrm>
          <a:prstGeom prst="rect">
            <a:avLst/>
          </a:prstGeom>
          <a:noFill/>
          <a:ln/>
        </p:spPr>
        <p:txBody>
          <a:bodyPr wrap="square" lIns="0" tIns="0" rIns="0" bIns="0" rtlCol="0" anchor="ctr"/>
          <a:lstStyle/>
          <a:p>
            <a:pPr indent="0" marL="0">
              <a:buNone/>
            </a:pPr>
            <a:r>
              <a:rPr lang="en-US" sz="850" b="1" dirty="0">
                <a:solidFill>
                  <a:srgbClr val="C9973A"/>
                </a:solidFill>
                <a:latin typeface="Calibri" pitchFamily="34" charset="0"/>
                <a:ea typeface="Calibri" pitchFamily="34" charset="-122"/>
                <a:cs typeface="Calibri" pitchFamily="34" charset="-120"/>
              </a:rPr>
              <a:t>id (PK)</a:t>
            </a:r>
            <a:endParaRPr lang="en-US" sz="850" dirty="0"/>
          </a:p>
        </p:txBody>
      </p:sp>
      <p:sp>
        <p:nvSpPr>
          <p:cNvPr id="34" name="Shape 32"/>
          <p:cNvSpPr/>
          <p:nvPr/>
        </p:nvSpPr>
        <p:spPr>
          <a:xfrm>
            <a:off x="2441448" y="1961388"/>
            <a:ext cx="2029968" cy="342900"/>
          </a:xfrm>
          <a:prstGeom prst="rect">
            <a:avLst/>
          </a:prstGeom>
          <a:solidFill>
            <a:srgbClr val="FFFFFF"/>
          </a:solidFill>
          <a:ln w="2540">
            <a:solidFill>
              <a:srgbClr val="CBD5E1"/>
            </a:solidFill>
            <a:prstDash val="solid"/>
          </a:ln>
        </p:spPr>
      </p:sp>
      <p:sp>
        <p:nvSpPr>
          <p:cNvPr id="35" name="Text 33"/>
          <p:cNvSpPr/>
          <p:nvPr/>
        </p:nvSpPr>
        <p:spPr>
          <a:xfrm>
            <a:off x="2551176" y="1961388"/>
            <a:ext cx="1828800" cy="342900"/>
          </a:xfrm>
          <a:prstGeom prst="rect">
            <a:avLst/>
          </a:prstGeom>
          <a:noFill/>
          <a:ln/>
        </p:spPr>
        <p:txBody>
          <a:bodyPr wrap="square" lIns="0" tIns="0" rIns="0" bIns="0" rtlCol="0" anchor="ctr"/>
          <a:lstStyle/>
          <a:p>
            <a:pPr indent="0" marL="0">
              <a:buNone/>
            </a:pPr>
            <a:r>
              <a:rPr lang="en-US" sz="850" dirty="0">
                <a:solidFill>
                  <a:srgbClr val="0D9488"/>
                </a:solidFill>
                <a:latin typeface="Calibri" pitchFamily="34" charset="0"/>
                <a:ea typeface="Calibri" pitchFamily="34" charset="-122"/>
                <a:cs typeface="Calibri" pitchFamily="34" charset="-120"/>
              </a:rPr>
              <a:t>user_id (FK → users)</a:t>
            </a:r>
            <a:endParaRPr lang="en-US" sz="850" dirty="0"/>
          </a:p>
        </p:txBody>
      </p:sp>
      <p:sp>
        <p:nvSpPr>
          <p:cNvPr id="36" name="Shape 34"/>
          <p:cNvSpPr/>
          <p:nvPr/>
        </p:nvSpPr>
        <p:spPr>
          <a:xfrm>
            <a:off x="2441448" y="2304288"/>
            <a:ext cx="2029968" cy="342900"/>
          </a:xfrm>
          <a:prstGeom prst="rect">
            <a:avLst/>
          </a:prstGeom>
          <a:solidFill>
            <a:srgbClr val="F4F6FB"/>
          </a:solidFill>
          <a:ln w="2540">
            <a:solidFill>
              <a:srgbClr val="CBD5E1"/>
            </a:solidFill>
            <a:prstDash val="solid"/>
          </a:ln>
        </p:spPr>
      </p:sp>
      <p:sp>
        <p:nvSpPr>
          <p:cNvPr id="37" name="Text 35"/>
          <p:cNvSpPr/>
          <p:nvPr/>
        </p:nvSpPr>
        <p:spPr>
          <a:xfrm>
            <a:off x="2551176" y="2304288"/>
            <a:ext cx="1828800" cy="342900"/>
          </a:xfrm>
          <a:prstGeom prst="rect">
            <a:avLst/>
          </a:prstGeom>
          <a:noFill/>
          <a:ln/>
        </p:spPr>
        <p:txBody>
          <a:bodyPr wrap="square" lIns="0" tIns="0" rIns="0" bIns="0" rtlCol="0" anchor="ctr"/>
          <a:lstStyle/>
          <a:p>
            <a:pPr indent="0" marL="0">
              <a:buNone/>
            </a:pPr>
            <a:r>
              <a:rPr lang="en-US" sz="850" dirty="0">
                <a:solidFill>
                  <a:srgbClr val="0D9488"/>
                </a:solidFill>
                <a:latin typeface="Calibri" pitchFamily="34" charset="0"/>
                <a:ea typeface="Calibri" pitchFamily="34" charset="-122"/>
                <a:cs typeface="Calibri" pitchFamily="34" charset="-120"/>
              </a:rPr>
              <a:t>leave_type_id (FK)</a:t>
            </a:r>
            <a:endParaRPr lang="en-US" sz="850" dirty="0"/>
          </a:p>
        </p:txBody>
      </p:sp>
      <p:sp>
        <p:nvSpPr>
          <p:cNvPr id="38" name="Shape 36"/>
          <p:cNvSpPr/>
          <p:nvPr/>
        </p:nvSpPr>
        <p:spPr>
          <a:xfrm>
            <a:off x="2441448" y="2647188"/>
            <a:ext cx="2029968" cy="342900"/>
          </a:xfrm>
          <a:prstGeom prst="rect">
            <a:avLst/>
          </a:prstGeom>
          <a:solidFill>
            <a:srgbClr val="FFFFFF"/>
          </a:solidFill>
          <a:ln w="2540">
            <a:solidFill>
              <a:srgbClr val="CBD5E1"/>
            </a:solidFill>
            <a:prstDash val="solid"/>
          </a:ln>
        </p:spPr>
      </p:sp>
      <p:sp>
        <p:nvSpPr>
          <p:cNvPr id="39" name="Text 37"/>
          <p:cNvSpPr/>
          <p:nvPr/>
        </p:nvSpPr>
        <p:spPr>
          <a:xfrm>
            <a:off x="2551176" y="26471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startDate, endDate</a:t>
            </a:r>
            <a:endParaRPr lang="en-US" sz="850" dirty="0"/>
          </a:p>
        </p:txBody>
      </p:sp>
      <p:sp>
        <p:nvSpPr>
          <p:cNvPr id="40" name="Shape 38"/>
          <p:cNvSpPr/>
          <p:nvPr/>
        </p:nvSpPr>
        <p:spPr>
          <a:xfrm>
            <a:off x="2441448" y="2990088"/>
            <a:ext cx="2029968" cy="342900"/>
          </a:xfrm>
          <a:prstGeom prst="rect">
            <a:avLst/>
          </a:prstGeom>
          <a:solidFill>
            <a:srgbClr val="F4F6FB"/>
          </a:solidFill>
          <a:ln w="2540">
            <a:solidFill>
              <a:srgbClr val="CBD5E1"/>
            </a:solidFill>
            <a:prstDash val="solid"/>
          </a:ln>
        </p:spPr>
      </p:sp>
      <p:sp>
        <p:nvSpPr>
          <p:cNvPr id="41" name="Text 39"/>
          <p:cNvSpPr/>
          <p:nvPr/>
        </p:nvSpPr>
        <p:spPr>
          <a:xfrm>
            <a:off x="2551176" y="29900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reason</a:t>
            </a:r>
            <a:endParaRPr lang="en-US" sz="850" dirty="0"/>
          </a:p>
        </p:txBody>
      </p:sp>
      <p:sp>
        <p:nvSpPr>
          <p:cNvPr id="42" name="Shape 40"/>
          <p:cNvSpPr/>
          <p:nvPr/>
        </p:nvSpPr>
        <p:spPr>
          <a:xfrm>
            <a:off x="2441448" y="3332988"/>
            <a:ext cx="2029968" cy="342900"/>
          </a:xfrm>
          <a:prstGeom prst="rect">
            <a:avLst/>
          </a:prstGeom>
          <a:solidFill>
            <a:srgbClr val="FFFFFF"/>
          </a:solidFill>
          <a:ln w="2540">
            <a:solidFill>
              <a:srgbClr val="CBD5E1"/>
            </a:solidFill>
            <a:prstDash val="solid"/>
          </a:ln>
        </p:spPr>
      </p:sp>
      <p:sp>
        <p:nvSpPr>
          <p:cNvPr id="43" name="Text 41"/>
          <p:cNvSpPr/>
          <p:nvPr/>
        </p:nvSpPr>
        <p:spPr>
          <a:xfrm>
            <a:off x="2551176" y="33329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status (ENUM)</a:t>
            </a:r>
            <a:endParaRPr lang="en-US" sz="850" dirty="0"/>
          </a:p>
        </p:txBody>
      </p:sp>
      <p:sp>
        <p:nvSpPr>
          <p:cNvPr id="44" name="Shape 42"/>
          <p:cNvSpPr/>
          <p:nvPr/>
        </p:nvSpPr>
        <p:spPr>
          <a:xfrm>
            <a:off x="2441448" y="3675888"/>
            <a:ext cx="2029968" cy="342900"/>
          </a:xfrm>
          <a:prstGeom prst="rect">
            <a:avLst/>
          </a:prstGeom>
          <a:solidFill>
            <a:srgbClr val="F4F6FB"/>
          </a:solidFill>
          <a:ln w="2540">
            <a:solidFill>
              <a:srgbClr val="CBD5E1"/>
            </a:solidFill>
            <a:prstDash val="solid"/>
          </a:ln>
        </p:spPr>
      </p:sp>
      <p:sp>
        <p:nvSpPr>
          <p:cNvPr id="45" name="Text 43"/>
          <p:cNvSpPr/>
          <p:nvPr/>
        </p:nvSpPr>
        <p:spPr>
          <a:xfrm>
            <a:off x="2551176" y="36758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appliedDate</a:t>
            </a:r>
            <a:endParaRPr lang="en-US" sz="850" dirty="0"/>
          </a:p>
        </p:txBody>
      </p:sp>
      <p:sp>
        <p:nvSpPr>
          <p:cNvPr id="46" name="Shape 44"/>
          <p:cNvSpPr/>
          <p:nvPr/>
        </p:nvSpPr>
        <p:spPr>
          <a:xfrm>
            <a:off x="2441448" y="4018788"/>
            <a:ext cx="2029968" cy="342900"/>
          </a:xfrm>
          <a:prstGeom prst="rect">
            <a:avLst/>
          </a:prstGeom>
          <a:solidFill>
            <a:srgbClr val="FFFFFF"/>
          </a:solidFill>
          <a:ln w="2540">
            <a:solidFill>
              <a:srgbClr val="CBD5E1"/>
            </a:solidFill>
            <a:prstDash val="solid"/>
          </a:ln>
        </p:spPr>
      </p:sp>
      <p:sp>
        <p:nvSpPr>
          <p:cNvPr id="47" name="Text 45"/>
          <p:cNvSpPr/>
          <p:nvPr/>
        </p:nvSpPr>
        <p:spPr>
          <a:xfrm>
            <a:off x="2551176" y="4018788"/>
            <a:ext cx="1828800" cy="342900"/>
          </a:xfrm>
          <a:prstGeom prst="rect">
            <a:avLst/>
          </a:prstGeom>
          <a:noFill/>
          <a:ln/>
        </p:spPr>
        <p:txBody>
          <a:bodyPr wrap="square" lIns="0" tIns="0" rIns="0" bIns="0" rtlCol="0" anchor="ctr"/>
          <a:lstStyle/>
          <a:p>
            <a:pPr indent="0" marL="0">
              <a:buNone/>
            </a:pPr>
            <a:r>
              <a:rPr lang="en-US" sz="850" dirty="0">
                <a:solidFill>
                  <a:srgbClr val="0D9488"/>
                </a:solidFill>
                <a:latin typeface="Calibri" pitchFamily="34" charset="0"/>
                <a:ea typeface="Calibri" pitchFamily="34" charset="-122"/>
                <a:cs typeface="Calibri" pitchFamily="34" charset="-120"/>
              </a:rPr>
              <a:t>approvedBy_id (FK)</a:t>
            </a:r>
            <a:endParaRPr lang="en-US" sz="850" dirty="0"/>
          </a:p>
        </p:txBody>
      </p:sp>
      <p:sp>
        <p:nvSpPr>
          <p:cNvPr id="48" name="Shape 46"/>
          <p:cNvSpPr/>
          <p:nvPr/>
        </p:nvSpPr>
        <p:spPr>
          <a:xfrm>
            <a:off x="2441448" y="4361688"/>
            <a:ext cx="2029968" cy="342900"/>
          </a:xfrm>
          <a:prstGeom prst="rect">
            <a:avLst/>
          </a:prstGeom>
          <a:solidFill>
            <a:srgbClr val="F4F6FB"/>
          </a:solidFill>
          <a:ln w="2540">
            <a:solidFill>
              <a:srgbClr val="CBD5E1"/>
            </a:solidFill>
            <a:prstDash val="solid"/>
          </a:ln>
        </p:spPr>
      </p:sp>
      <p:sp>
        <p:nvSpPr>
          <p:cNvPr id="49" name="Text 47"/>
          <p:cNvSpPr/>
          <p:nvPr/>
        </p:nvSpPr>
        <p:spPr>
          <a:xfrm>
            <a:off x="2551176" y="43616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approvalComment</a:t>
            </a:r>
            <a:endParaRPr lang="en-US" sz="850" dirty="0"/>
          </a:p>
        </p:txBody>
      </p:sp>
      <p:sp>
        <p:nvSpPr>
          <p:cNvPr id="50" name="Shape 48"/>
          <p:cNvSpPr/>
          <p:nvPr/>
        </p:nvSpPr>
        <p:spPr>
          <a:xfrm>
            <a:off x="4654296" y="1234440"/>
            <a:ext cx="2029968" cy="384048"/>
          </a:xfrm>
          <a:prstGeom prst="rect">
            <a:avLst/>
          </a:prstGeom>
          <a:solidFill>
            <a:srgbClr val="EA580C"/>
          </a:solidFill>
          <a:ln/>
        </p:spPr>
      </p:sp>
      <p:sp>
        <p:nvSpPr>
          <p:cNvPr id="51" name="Text 49"/>
          <p:cNvSpPr/>
          <p:nvPr/>
        </p:nvSpPr>
        <p:spPr>
          <a:xfrm>
            <a:off x="4654296" y="1234440"/>
            <a:ext cx="202996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performance_reviews</a:t>
            </a:r>
            <a:endParaRPr lang="en-US" sz="1050" dirty="0"/>
          </a:p>
        </p:txBody>
      </p:sp>
      <p:sp>
        <p:nvSpPr>
          <p:cNvPr id="52" name="Shape 50"/>
          <p:cNvSpPr/>
          <p:nvPr/>
        </p:nvSpPr>
        <p:spPr>
          <a:xfrm>
            <a:off x="4654296" y="1618488"/>
            <a:ext cx="2029968" cy="34290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3" name="Shape 51"/>
          <p:cNvSpPr/>
          <p:nvPr/>
        </p:nvSpPr>
        <p:spPr>
          <a:xfrm>
            <a:off x="4654296" y="1618488"/>
            <a:ext cx="2029968" cy="342900"/>
          </a:xfrm>
          <a:prstGeom prst="rect">
            <a:avLst/>
          </a:prstGeom>
          <a:solidFill>
            <a:srgbClr val="F4F6FB"/>
          </a:solidFill>
          <a:ln w="2540">
            <a:solidFill>
              <a:srgbClr val="CBD5E1"/>
            </a:solidFill>
            <a:prstDash val="solid"/>
          </a:ln>
        </p:spPr>
      </p:sp>
      <p:sp>
        <p:nvSpPr>
          <p:cNvPr id="54" name="Text 52"/>
          <p:cNvSpPr/>
          <p:nvPr/>
        </p:nvSpPr>
        <p:spPr>
          <a:xfrm>
            <a:off x="4764024" y="1618488"/>
            <a:ext cx="1828800" cy="342900"/>
          </a:xfrm>
          <a:prstGeom prst="rect">
            <a:avLst/>
          </a:prstGeom>
          <a:noFill/>
          <a:ln/>
        </p:spPr>
        <p:txBody>
          <a:bodyPr wrap="square" lIns="0" tIns="0" rIns="0" bIns="0" rtlCol="0" anchor="ctr"/>
          <a:lstStyle/>
          <a:p>
            <a:pPr indent="0" marL="0">
              <a:buNone/>
            </a:pPr>
            <a:r>
              <a:rPr lang="en-US" sz="850" b="1" dirty="0">
                <a:solidFill>
                  <a:srgbClr val="C9973A"/>
                </a:solidFill>
                <a:latin typeface="Calibri" pitchFamily="34" charset="0"/>
                <a:ea typeface="Calibri" pitchFamily="34" charset="-122"/>
                <a:cs typeface="Calibri" pitchFamily="34" charset="-120"/>
              </a:rPr>
              <a:t>id (PK)</a:t>
            </a:r>
            <a:endParaRPr lang="en-US" sz="850" dirty="0"/>
          </a:p>
        </p:txBody>
      </p:sp>
      <p:sp>
        <p:nvSpPr>
          <p:cNvPr id="55" name="Shape 53"/>
          <p:cNvSpPr/>
          <p:nvPr/>
        </p:nvSpPr>
        <p:spPr>
          <a:xfrm>
            <a:off x="4654296" y="1961388"/>
            <a:ext cx="2029968" cy="342900"/>
          </a:xfrm>
          <a:prstGeom prst="rect">
            <a:avLst/>
          </a:prstGeom>
          <a:solidFill>
            <a:srgbClr val="FFFFFF"/>
          </a:solidFill>
          <a:ln w="2540">
            <a:solidFill>
              <a:srgbClr val="CBD5E1"/>
            </a:solidFill>
            <a:prstDash val="solid"/>
          </a:ln>
        </p:spPr>
      </p:sp>
      <p:sp>
        <p:nvSpPr>
          <p:cNvPr id="56" name="Text 54"/>
          <p:cNvSpPr/>
          <p:nvPr/>
        </p:nvSpPr>
        <p:spPr>
          <a:xfrm>
            <a:off x="4764024" y="1961388"/>
            <a:ext cx="1828800" cy="342900"/>
          </a:xfrm>
          <a:prstGeom prst="rect">
            <a:avLst/>
          </a:prstGeom>
          <a:noFill/>
          <a:ln/>
        </p:spPr>
        <p:txBody>
          <a:bodyPr wrap="square" lIns="0" tIns="0" rIns="0" bIns="0" rtlCol="0" anchor="ctr"/>
          <a:lstStyle/>
          <a:p>
            <a:pPr indent="0" marL="0">
              <a:buNone/>
            </a:pPr>
            <a:r>
              <a:rPr lang="en-US" sz="850" dirty="0">
                <a:solidFill>
                  <a:srgbClr val="0D9488"/>
                </a:solidFill>
                <a:latin typeface="Calibri" pitchFamily="34" charset="0"/>
                <a:ea typeface="Calibri" pitchFamily="34" charset="-122"/>
                <a:cs typeface="Calibri" pitchFamily="34" charset="-120"/>
              </a:rPr>
              <a:t>employee_id (FK)</a:t>
            </a:r>
            <a:endParaRPr lang="en-US" sz="850" dirty="0"/>
          </a:p>
        </p:txBody>
      </p:sp>
      <p:sp>
        <p:nvSpPr>
          <p:cNvPr id="57" name="Shape 55"/>
          <p:cNvSpPr/>
          <p:nvPr/>
        </p:nvSpPr>
        <p:spPr>
          <a:xfrm>
            <a:off x="4654296" y="2304288"/>
            <a:ext cx="2029968" cy="342900"/>
          </a:xfrm>
          <a:prstGeom prst="rect">
            <a:avLst/>
          </a:prstGeom>
          <a:solidFill>
            <a:srgbClr val="F4F6FB"/>
          </a:solidFill>
          <a:ln w="2540">
            <a:solidFill>
              <a:srgbClr val="CBD5E1"/>
            </a:solidFill>
            <a:prstDash val="solid"/>
          </a:ln>
        </p:spPr>
      </p:sp>
      <p:sp>
        <p:nvSpPr>
          <p:cNvPr id="58" name="Text 56"/>
          <p:cNvSpPr/>
          <p:nvPr/>
        </p:nvSpPr>
        <p:spPr>
          <a:xfrm>
            <a:off x="4764024" y="2304288"/>
            <a:ext cx="1828800" cy="342900"/>
          </a:xfrm>
          <a:prstGeom prst="rect">
            <a:avLst/>
          </a:prstGeom>
          <a:noFill/>
          <a:ln/>
        </p:spPr>
        <p:txBody>
          <a:bodyPr wrap="square" lIns="0" tIns="0" rIns="0" bIns="0" rtlCol="0" anchor="ctr"/>
          <a:lstStyle/>
          <a:p>
            <a:pPr indent="0" marL="0">
              <a:buNone/>
            </a:pPr>
            <a:r>
              <a:rPr lang="en-US" sz="850" dirty="0">
                <a:solidFill>
                  <a:srgbClr val="0D9488"/>
                </a:solidFill>
                <a:latin typeface="Calibri" pitchFamily="34" charset="0"/>
                <a:ea typeface="Calibri" pitchFamily="34" charset="-122"/>
                <a:cs typeface="Calibri" pitchFamily="34" charset="-120"/>
              </a:rPr>
              <a:t>manager_id (FK)</a:t>
            </a:r>
            <a:endParaRPr lang="en-US" sz="850" dirty="0"/>
          </a:p>
        </p:txBody>
      </p:sp>
      <p:sp>
        <p:nvSpPr>
          <p:cNvPr id="59" name="Shape 57"/>
          <p:cNvSpPr/>
          <p:nvPr/>
        </p:nvSpPr>
        <p:spPr>
          <a:xfrm>
            <a:off x="4654296" y="2647188"/>
            <a:ext cx="2029968" cy="342900"/>
          </a:xfrm>
          <a:prstGeom prst="rect">
            <a:avLst/>
          </a:prstGeom>
          <a:solidFill>
            <a:srgbClr val="FFFFFF"/>
          </a:solidFill>
          <a:ln w="2540">
            <a:solidFill>
              <a:srgbClr val="CBD5E1"/>
            </a:solidFill>
            <a:prstDash val="solid"/>
          </a:ln>
        </p:spPr>
      </p:sp>
      <p:sp>
        <p:nvSpPr>
          <p:cNvPr id="60" name="Text 58"/>
          <p:cNvSpPr/>
          <p:nvPr/>
        </p:nvSpPr>
        <p:spPr>
          <a:xfrm>
            <a:off x="4764024" y="26471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keyDeliverables (TEXT)</a:t>
            </a:r>
            <a:endParaRPr lang="en-US" sz="850" dirty="0"/>
          </a:p>
        </p:txBody>
      </p:sp>
      <p:sp>
        <p:nvSpPr>
          <p:cNvPr id="61" name="Shape 59"/>
          <p:cNvSpPr/>
          <p:nvPr/>
        </p:nvSpPr>
        <p:spPr>
          <a:xfrm>
            <a:off x="4654296" y="2990088"/>
            <a:ext cx="2029968" cy="342900"/>
          </a:xfrm>
          <a:prstGeom prst="rect">
            <a:avLst/>
          </a:prstGeom>
          <a:solidFill>
            <a:srgbClr val="F4F6FB"/>
          </a:solidFill>
          <a:ln w="2540">
            <a:solidFill>
              <a:srgbClr val="CBD5E1"/>
            </a:solidFill>
            <a:prstDash val="solid"/>
          </a:ln>
        </p:spPr>
      </p:sp>
      <p:sp>
        <p:nvSpPr>
          <p:cNvPr id="62" name="Text 60"/>
          <p:cNvSpPr/>
          <p:nvPr/>
        </p:nvSpPr>
        <p:spPr>
          <a:xfrm>
            <a:off x="4764024" y="29900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accomplishments (TEXT)</a:t>
            </a:r>
            <a:endParaRPr lang="en-US" sz="850" dirty="0"/>
          </a:p>
        </p:txBody>
      </p:sp>
      <p:sp>
        <p:nvSpPr>
          <p:cNvPr id="63" name="Shape 61"/>
          <p:cNvSpPr/>
          <p:nvPr/>
        </p:nvSpPr>
        <p:spPr>
          <a:xfrm>
            <a:off x="4654296" y="3332988"/>
            <a:ext cx="2029968" cy="342900"/>
          </a:xfrm>
          <a:prstGeom prst="rect">
            <a:avLst/>
          </a:prstGeom>
          <a:solidFill>
            <a:srgbClr val="FFFFFF"/>
          </a:solidFill>
          <a:ln w="2540">
            <a:solidFill>
              <a:srgbClr val="CBD5E1"/>
            </a:solidFill>
            <a:prstDash val="solid"/>
          </a:ln>
        </p:spPr>
      </p:sp>
      <p:sp>
        <p:nvSpPr>
          <p:cNvPr id="64" name="Text 62"/>
          <p:cNvSpPr/>
          <p:nvPr/>
        </p:nvSpPr>
        <p:spPr>
          <a:xfrm>
            <a:off x="4764024" y="33329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areasOfImprovement (TEXT)</a:t>
            </a:r>
            <a:endParaRPr lang="en-US" sz="850" dirty="0"/>
          </a:p>
        </p:txBody>
      </p:sp>
      <p:sp>
        <p:nvSpPr>
          <p:cNvPr id="65" name="Shape 63"/>
          <p:cNvSpPr/>
          <p:nvPr/>
        </p:nvSpPr>
        <p:spPr>
          <a:xfrm>
            <a:off x="4654296" y="3675888"/>
            <a:ext cx="2029968" cy="342900"/>
          </a:xfrm>
          <a:prstGeom prst="rect">
            <a:avLst/>
          </a:prstGeom>
          <a:solidFill>
            <a:srgbClr val="F4F6FB"/>
          </a:solidFill>
          <a:ln w="2540">
            <a:solidFill>
              <a:srgbClr val="CBD5E1"/>
            </a:solidFill>
            <a:prstDash val="solid"/>
          </a:ln>
        </p:spPr>
      </p:sp>
      <p:sp>
        <p:nvSpPr>
          <p:cNvPr id="66" name="Text 64"/>
          <p:cNvSpPr/>
          <p:nvPr/>
        </p:nvSpPr>
        <p:spPr>
          <a:xfrm>
            <a:off x="4764024" y="36758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employeeSelfRating</a:t>
            </a:r>
            <a:endParaRPr lang="en-US" sz="850" dirty="0"/>
          </a:p>
        </p:txBody>
      </p:sp>
      <p:sp>
        <p:nvSpPr>
          <p:cNvPr id="67" name="Shape 65"/>
          <p:cNvSpPr/>
          <p:nvPr/>
        </p:nvSpPr>
        <p:spPr>
          <a:xfrm>
            <a:off x="4654296" y="4018788"/>
            <a:ext cx="2029968" cy="342900"/>
          </a:xfrm>
          <a:prstGeom prst="rect">
            <a:avLst/>
          </a:prstGeom>
          <a:solidFill>
            <a:srgbClr val="FFFFFF"/>
          </a:solidFill>
          <a:ln w="2540">
            <a:solidFill>
              <a:srgbClr val="CBD5E1"/>
            </a:solidFill>
            <a:prstDash val="solid"/>
          </a:ln>
        </p:spPr>
      </p:sp>
      <p:sp>
        <p:nvSpPr>
          <p:cNvPr id="68" name="Text 66"/>
          <p:cNvSpPr/>
          <p:nvPr/>
        </p:nvSpPr>
        <p:spPr>
          <a:xfrm>
            <a:off x="4764024" y="40187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status (ENUM)</a:t>
            </a:r>
            <a:endParaRPr lang="en-US" sz="850" dirty="0"/>
          </a:p>
        </p:txBody>
      </p:sp>
      <p:sp>
        <p:nvSpPr>
          <p:cNvPr id="69" name="Shape 67"/>
          <p:cNvSpPr/>
          <p:nvPr/>
        </p:nvSpPr>
        <p:spPr>
          <a:xfrm>
            <a:off x="4654296" y="4361688"/>
            <a:ext cx="2029968" cy="342900"/>
          </a:xfrm>
          <a:prstGeom prst="rect">
            <a:avLst/>
          </a:prstGeom>
          <a:solidFill>
            <a:srgbClr val="F4F6FB"/>
          </a:solidFill>
          <a:ln w="2540">
            <a:solidFill>
              <a:srgbClr val="CBD5E1"/>
            </a:solidFill>
            <a:prstDash val="solid"/>
          </a:ln>
        </p:spPr>
      </p:sp>
      <p:sp>
        <p:nvSpPr>
          <p:cNvPr id="70" name="Text 68"/>
          <p:cNvSpPr/>
          <p:nvPr/>
        </p:nvSpPr>
        <p:spPr>
          <a:xfrm>
            <a:off x="4764024" y="43616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submittedDate</a:t>
            </a:r>
            <a:endParaRPr lang="en-US" sz="850" dirty="0"/>
          </a:p>
        </p:txBody>
      </p:sp>
      <p:sp>
        <p:nvSpPr>
          <p:cNvPr id="71" name="Shape 69"/>
          <p:cNvSpPr/>
          <p:nvPr/>
        </p:nvSpPr>
        <p:spPr>
          <a:xfrm>
            <a:off x="6867144" y="1234440"/>
            <a:ext cx="2029968" cy="384048"/>
          </a:xfrm>
          <a:prstGeom prst="rect">
            <a:avLst/>
          </a:prstGeom>
          <a:solidFill>
            <a:srgbClr val="C9973A"/>
          </a:solidFill>
          <a:ln/>
        </p:spPr>
      </p:sp>
      <p:sp>
        <p:nvSpPr>
          <p:cNvPr id="72" name="Text 70"/>
          <p:cNvSpPr/>
          <p:nvPr/>
        </p:nvSpPr>
        <p:spPr>
          <a:xfrm>
            <a:off x="6867144" y="1234440"/>
            <a:ext cx="202996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employee_goals</a:t>
            </a:r>
            <a:endParaRPr lang="en-US" sz="1050" dirty="0"/>
          </a:p>
        </p:txBody>
      </p:sp>
      <p:sp>
        <p:nvSpPr>
          <p:cNvPr id="73" name="Shape 71"/>
          <p:cNvSpPr/>
          <p:nvPr/>
        </p:nvSpPr>
        <p:spPr>
          <a:xfrm>
            <a:off x="6867144" y="1618488"/>
            <a:ext cx="2029968" cy="34290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4" name="Shape 72"/>
          <p:cNvSpPr/>
          <p:nvPr/>
        </p:nvSpPr>
        <p:spPr>
          <a:xfrm>
            <a:off x="6867144" y="1618488"/>
            <a:ext cx="2029968" cy="342900"/>
          </a:xfrm>
          <a:prstGeom prst="rect">
            <a:avLst/>
          </a:prstGeom>
          <a:solidFill>
            <a:srgbClr val="F4F6FB"/>
          </a:solidFill>
          <a:ln w="2540">
            <a:solidFill>
              <a:srgbClr val="CBD5E1"/>
            </a:solidFill>
            <a:prstDash val="solid"/>
          </a:ln>
        </p:spPr>
      </p:sp>
      <p:sp>
        <p:nvSpPr>
          <p:cNvPr id="75" name="Text 73"/>
          <p:cNvSpPr/>
          <p:nvPr/>
        </p:nvSpPr>
        <p:spPr>
          <a:xfrm>
            <a:off x="6976872" y="1618488"/>
            <a:ext cx="1828800" cy="342900"/>
          </a:xfrm>
          <a:prstGeom prst="rect">
            <a:avLst/>
          </a:prstGeom>
          <a:noFill/>
          <a:ln/>
        </p:spPr>
        <p:txBody>
          <a:bodyPr wrap="square" lIns="0" tIns="0" rIns="0" bIns="0" rtlCol="0" anchor="ctr"/>
          <a:lstStyle/>
          <a:p>
            <a:pPr indent="0" marL="0">
              <a:buNone/>
            </a:pPr>
            <a:r>
              <a:rPr lang="en-US" sz="850" b="1" dirty="0">
                <a:solidFill>
                  <a:srgbClr val="C9973A"/>
                </a:solidFill>
                <a:latin typeface="Calibri" pitchFamily="34" charset="0"/>
                <a:ea typeface="Calibri" pitchFamily="34" charset="-122"/>
                <a:cs typeface="Calibri" pitchFamily="34" charset="-120"/>
              </a:rPr>
              <a:t>id (PK)</a:t>
            </a:r>
            <a:endParaRPr lang="en-US" sz="850" dirty="0"/>
          </a:p>
        </p:txBody>
      </p:sp>
      <p:sp>
        <p:nvSpPr>
          <p:cNvPr id="76" name="Shape 74"/>
          <p:cNvSpPr/>
          <p:nvPr/>
        </p:nvSpPr>
        <p:spPr>
          <a:xfrm>
            <a:off x="6867144" y="1961388"/>
            <a:ext cx="2029968" cy="342900"/>
          </a:xfrm>
          <a:prstGeom prst="rect">
            <a:avLst/>
          </a:prstGeom>
          <a:solidFill>
            <a:srgbClr val="FFFFFF"/>
          </a:solidFill>
          <a:ln w="2540">
            <a:solidFill>
              <a:srgbClr val="CBD5E1"/>
            </a:solidFill>
            <a:prstDash val="solid"/>
          </a:ln>
        </p:spPr>
      </p:sp>
      <p:sp>
        <p:nvSpPr>
          <p:cNvPr id="77" name="Text 75"/>
          <p:cNvSpPr/>
          <p:nvPr/>
        </p:nvSpPr>
        <p:spPr>
          <a:xfrm>
            <a:off x="6976872" y="1961388"/>
            <a:ext cx="1828800" cy="342900"/>
          </a:xfrm>
          <a:prstGeom prst="rect">
            <a:avLst/>
          </a:prstGeom>
          <a:noFill/>
          <a:ln/>
        </p:spPr>
        <p:txBody>
          <a:bodyPr wrap="square" lIns="0" tIns="0" rIns="0" bIns="0" rtlCol="0" anchor="ctr"/>
          <a:lstStyle/>
          <a:p>
            <a:pPr indent="0" marL="0">
              <a:buNone/>
            </a:pPr>
            <a:r>
              <a:rPr lang="en-US" sz="850" dirty="0">
                <a:solidFill>
                  <a:srgbClr val="0D9488"/>
                </a:solidFill>
                <a:latin typeface="Calibri" pitchFamily="34" charset="0"/>
                <a:ea typeface="Calibri" pitchFamily="34" charset="-122"/>
                <a:cs typeface="Calibri" pitchFamily="34" charset="-120"/>
              </a:rPr>
              <a:t>employee_id (FK)</a:t>
            </a:r>
            <a:endParaRPr lang="en-US" sz="850" dirty="0"/>
          </a:p>
        </p:txBody>
      </p:sp>
      <p:sp>
        <p:nvSpPr>
          <p:cNvPr id="78" name="Shape 76"/>
          <p:cNvSpPr/>
          <p:nvPr/>
        </p:nvSpPr>
        <p:spPr>
          <a:xfrm>
            <a:off x="6867144" y="2304288"/>
            <a:ext cx="2029968" cy="342900"/>
          </a:xfrm>
          <a:prstGeom prst="rect">
            <a:avLst/>
          </a:prstGeom>
          <a:solidFill>
            <a:srgbClr val="F4F6FB"/>
          </a:solidFill>
          <a:ln w="2540">
            <a:solidFill>
              <a:srgbClr val="CBD5E1"/>
            </a:solidFill>
            <a:prstDash val="solid"/>
          </a:ln>
        </p:spPr>
      </p:sp>
      <p:sp>
        <p:nvSpPr>
          <p:cNvPr id="79" name="Text 77"/>
          <p:cNvSpPr/>
          <p:nvPr/>
        </p:nvSpPr>
        <p:spPr>
          <a:xfrm>
            <a:off x="6976872" y="23042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goalDescription</a:t>
            </a:r>
            <a:endParaRPr lang="en-US" sz="850" dirty="0"/>
          </a:p>
        </p:txBody>
      </p:sp>
      <p:sp>
        <p:nvSpPr>
          <p:cNvPr id="80" name="Shape 78"/>
          <p:cNvSpPr/>
          <p:nvPr/>
        </p:nvSpPr>
        <p:spPr>
          <a:xfrm>
            <a:off x="6867144" y="2647188"/>
            <a:ext cx="2029968" cy="342900"/>
          </a:xfrm>
          <a:prstGeom prst="rect">
            <a:avLst/>
          </a:prstGeom>
          <a:solidFill>
            <a:srgbClr val="FFFFFF"/>
          </a:solidFill>
          <a:ln w="2540">
            <a:solidFill>
              <a:srgbClr val="CBD5E1"/>
            </a:solidFill>
            <a:prstDash val="solid"/>
          </a:ln>
        </p:spPr>
      </p:sp>
      <p:sp>
        <p:nvSpPr>
          <p:cNvPr id="81" name="Text 79"/>
          <p:cNvSpPr/>
          <p:nvPr/>
        </p:nvSpPr>
        <p:spPr>
          <a:xfrm>
            <a:off x="6976872" y="26471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deadline</a:t>
            </a:r>
            <a:endParaRPr lang="en-US" sz="850" dirty="0"/>
          </a:p>
        </p:txBody>
      </p:sp>
      <p:sp>
        <p:nvSpPr>
          <p:cNvPr id="82" name="Shape 80"/>
          <p:cNvSpPr/>
          <p:nvPr/>
        </p:nvSpPr>
        <p:spPr>
          <a:xfrm>
            <a:off x="6867144" y="2990088"/>
            <a:ext cx="2029968" cy="342900"/>
          </a:xfrm>
          <a:prstGeom prst="rect">
            <a:avLst/>
          </a:prstGeom>
          <a:solidFill>
            <a:srgbClr val="F4F6FB"/>
          </a:solidFill>
          <a:ln w="2540">
            <a:solidFill>
              <a:srgbClr val="CBD5E1"/>
            </a:solidFill>
            <a:prstDash val="solid"/>
          </a:ln>
        </p:spPr>
      </p:sp>
      <p:sp>
        <p:nvSpPr>
          <p:cNvPr id="83" name="Text 81"/>
          <p:cNvSpPr/>
          <p:nvPr/>
        </p:nvSpPr>
        <p:spPr>
          <a:xfrm>
            <a:off x="6976872" y="29900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priority (ENUM)</a:t>
            </a:r>
            <a:endParaRPr lang="en-US" sz="850" dirty="0"/>
          </a:p>
        </p:txBody>
      </p:sp>
      <p:sp>
        <p:nvSpPr>
          <p:cNvPr id="84" name="Shape 82"/>
          <p:cNvSpPr/>
          <p:nvPr/>
        </p:nvSpPr>
        <p:spPr>
          <a:xfrm>
            <a:off x="6867144" y="3332988"/>
            <a:ext cx="2029968" cy="342900"/>
          </a:xfrm>
          <a:prstGeom prst="rect">
            <a:avLst/>
          </a:prstGeom>
          <a:solidFill>
            <a:srgbClr val="FFFFFF"/>
          </a:solidFill>
          <a:ln w="2540">
            <a:solidFill>
              <a:srgbClr val="CBD5E1"/>
            </a:solidFill>
            <a:prstDash val="solid"/>
          </a:ln>
        </p:spPr>
      </p:sp>
      <p:sp>
        <p:nvSpPr>
          <p:cNvPr id="85" name="Text 83"/>
          <p:cNvSpPr/>
          <p:nvPr/>
        </p:nvSpPr>
        <p:spPr>
          <a:xfrm>
            <a:off x="6976872" y="33329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status (ENUM)</a:t>
            </a:r>
            <a:endParaRPr lang="en-US" sz="850" dirty="0"/>
          </a:p>
        </p:txBody>
      </p:sp>
      <p:sp>
        <p:nvSpPr>
          <p:cNvPr id="86" name="Shape 84"/>
          <p:cNvSpPr/>
          <p:nvPr/>
        </p:nvSpPr>
        <p:spPr>
          <a:xfrm>
            <a:off x="6867144" y="3675888"/>
            <a:ext cx="2029968" cy="342900"/>
          </a:xfrm>
          <a:prstGeom prst="rect">
            <a:avLst/>
          </a:prstGeom>
          <a:solidFill>
            <a:srgbClr val="F4F6FB"/>
          </a:solidFill>
          <a:ln w="2540">
            <a:solidFill>
              <a:srgbClr val="CBD5E1"/>
            </a:solidFill>
            <a:prstDash val="solid"/>
          </a:ln>
        </p:spPr>
      </p:sp>
      <p:sp>
        <p:nvSpPr>
          <p:cNvPr id="87" name="Text 85"/>
          <p:cNvSpPr/>
          <p:nvPr/>
        </p:nvSpPr>
        <p:spPr>
          <a:xfrm>
            <a:off x="6976872" y="36758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progressPercentage</a:t>
            </a:r>
            <a:endParaRPr lang="en-US" sz="850" dirty="0"/>
          </a:p>
        </p:txBody>
      </p:sp>
      <p:sp>
        <p:nvSpPr>
          <p:cNvPr id="88" name="Shape 86"/>
          <p:cNvSpPr/>
          <p:nvPr/>
        </p:nvSpPr>
        <p:spPr>
          <a:xfrm>
            <a:off x="6867144" y="4018788"/>
            <a:ext cx="2029968" cy="342900"/>
          </a:xfrm>
          <a:prstGeom prst="rect">
            <a:avLst/>
          </a:prstGeom>
          <a:solidFill>
            <a:srgbClr val="FFFFFF"/>
          </a:solidFill>
          <a:ln w="2540">
            <a:solidFill>
              <a:srgbClr val="CBD5E1"/>
            </a:solidFill>
            <a:prstDash val="solid"/>
          </a:ln>
        </p:spPr>
      </p:sp>
      <p:sp>
        <p:nvSpPr>
          <p:cNvPr id="89" name="Text 87"/>
          <p:cNvSpPr/>
          <p:nvPr/>
        </p:nvSpPr>
        <p:spPr>
          <a:xfrm>
            <a:off x="6976872" y="40187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progressComment</a:t>
            </a:r>
            <a:endParaRPr lang="en-US" sz="850" dirty="0"/>
          </a:p>
        </p:txBody>
      </p:sp>
      <p:sp>
        <p:nvSpPr>
          <p:cNvPr id="90" name="Shape 88"/>
          <p:cNvSpPr/>
          <p:nvPr/>
        </p:nvSpPr>
        <p:spPr>
          <a:xfrm>
            <a:off x="6867144" y="4361688"/>
            <a:ext cx="2029968" cy="342900"/>
          </a:xfrm>
          <a:prstGeom prst="rect">
            <a:avLst/>
          </a:prstGeom>
          <a:solidFill>
            <a:srgbClr val="F4F6FB"/>
          </a:solidFill>
          <a:ln w="2540">
            <a:solidFill>
              <a:srgbClr val="CBD5E1"/>
            </a:solidFill>
            <a:prstDash val="solid"/>
          </a:ln>
        </p:spPr>
      </p:sp>
      <p:sp>
        <p:nvSpPr>
          <p:cNvPr id="91" name="Text 89"/>
          <p:cNvSpPr/>
          <p:nvPr/>
        </p:nvSpPr>
        <p:spPr>
          <a:xfrm>
            <a:off x="6976872" y="4361688"/>
            <a:ext cx="1828800" cy="3429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managerComment</a:t>
            </a:r>
            <a:endParaRPr lang="en-US" sz="850" dirty="0"/>
          </a:p>
        </p:txBody>
      </p:sp>
      <p:sp>
        <p:nvSpPr>
          <p:cNvPr id="92" name="Text 90"/>
          <p:cNvSpPr/>
          <p:nvPr/>
        </p:nvSpPr>
        <p:spPr>
          <a:xfrm>
            <a:off x="228600" y="4956048"/>
            <a:ext cx="8686800" cy="18288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PK = Primary Key   FK = Foreign Key   ENUM = Enumerated type stored as VARCHAR</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B2A4A"/>
          </a:solidFill>
          <a:ln/>
        </p:spPr>
      </p:sp>
      <p:sp>
        <p:nvSpPr>
          <p:cNvPr id="3" name="Shape 1"/>
          <p:cNvSpPr/>
          <p:nvPr/>
        </p:nvSpPr>
        <p:spPr>
          <a:xfrm>
            <a:off x="0" y="1097280"/>
            <a:ext cx="9144000" cy="54864"/>
          </a:xfrm>
          <a:prstGeom prst="rect">
            <a:avLst/>
          </a:prstGeom>
          <a:solidFill>
            <a:srgbClr val="C9973A"/>
          </a:solidFill>
          <a:ln/>
        </p:spPr>
      </p:sp>
      <p:sp>
        <p:nvSpPr>
          <p:cNvPr id="4" name="Text 2"/>
          <p:cNvSpPr/>
          <p:nvPr/>
        </p:nvSpPr>
        <p:spPr>
          <a:xfrm>
            <a:off x="365760" y="13716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REST API Design</a:t>
            </a:r>
            <a:endParaRPr lang="en-US" sz="2600" dirty="0"/>
          </a:p>
        </p:txBody>
      </p:sp>
      <p:sp>
        <p:nvSpPr>
          <p:cNvPr id="5" name="Text 3"/>
          <p:cNvSpPr/>
          <p:nvPr/>
        </p:nvSpPr>
        <p:spPr>
          <a:xfrm>
            <a:off x="365760" y="685800"/>
            <a:ext cx="8229600" cy="347472"/>
          </a:xfrm>
          <a:prstGeom prst="rect">
            <a:avLst/>
          </a:prstGeom>
          <a:noFill/>
          <a:ln/>
        </p:spPr>
        <p:txBody>
          <a:bodyPr wrap="square" lIns="0" tIns="0" rIns="0" bIns="0" rtlCol="0" anchor="ctr"/>
          <a:lstStyle/>
          <a:p>
            <a:pPr indent="0" marL="0">
              <a:buNone/>
            </a:pPr>
            <a:r>
              <a:rPr lang="en-US" sz="1300" dirty="0">
                <a:solidFill>
                  <a:srgbClr val="E8B96A"/>
                </a:solidFill>
                <a:latin typeface="Calibri" pitchFamily="34" charset="0"/>
                <a:ea typeface="Calibri" pitchFamily="34" charset="-122"/>
                <a:cs typeface="Calibri" pitchFamily="34" charset="-120"/>
              </a:rPr>
              <a:t>Spring Boot controllers with Swagger UI documentation</a:t>
            </a:r>
            <a:endParaRPr lang="en-US" sz="1300" dirty="0"/>
          </a:p>
        </p:txBody>
      </p:sp>
      <p:sp>
        <p:nvSpPr>
          <p:cNvPr id="6" name="Shape 4"/>
          <p:cNvSpPr/>
          <p:nvPr/>
        </p:nvSpPr>
        <p:spPr>
          <a:xfrm>
            <a:off x="274320" y="1234440"/>
            <a:ext cx="914400" cy="292608"/>
          </a:xfrm>
          <a:prstGeom prst="rect">
            <a:avLst/>
          </a:prstGeom>
          <a:solidFill>
            <a:srgbClr val="1B2A4A"/>
          </a:solidFill>
          <a:ln/>
        </p:spPr>
      </p:sp>
      <p:sp>
        <p:nvSpPr>
          <p:cNvPr id="7" name="Shape 5"/>
          <p:cNvSpPr/>
          <p:nvPr/>
        </p:nvSpPr>
        <p:spPr>
          <a:xfrm>
            <a:off x="1234440" y="1234440"/>
            <a:ext cx="3566160" cy="292608"/>
          </a:xfrm>
          <a:prstGeom prst="rect">
            <a:avLst/>
          </a:prstGeom>
          <a:solidFill>
            <a:srgbClr val="1B2A4A"/>
          </a:solidFill>
          <a:ln/>
        </p:spPr>
      </p:sp>
      <p:sp>
        <p:nvSpPr>
          <p:cNvPr id="8" name="Shape 6"/>
          <p:cNvSpPr/>
          <p:nvPr/>
        </p:nvSpPr>
        <p:spPr>
          <a:xfrm>
            <a:off x="4846320" y="1234440"/>
            <a:ext cx="4023360" cy="292608"/>
          </a:xfrm>
          <a:prstGeom prst="rect">
            <a:avLst/>
          </a:prstGeom>
          <a:solidFill>
            <a:srgbClr val="1B2A4A"/>
          </a:solidFill>
          <a:ln/>
        </p:spPr>
      </p:sp>
      <p:sp>
        <p:nvSpPr>
          <p:cNvPr id="9" name="Text 7"/>
          <p:cNvSpPr/>
          <p:nvPr/>
        </p:nvSpPr>
        <p:spPr>
          <a:xfrm>
            <a:off x="347472" y="1234440"/>
            <a:ext cx="914400" cy="292608"/>
          </a:xfrm>
          <a:prstGeom prst="rect">
            <a:avLst/>
          </a:prstGeom>
          <a:noFill/>
          <a:ln/>
        </p:spPr>
        <p:txBody>
          <a:bodyPr wrap="square" lIns="0" tIns="0" rIns="0" bIns="0" rtlCol="0" anchor="ctr"/>
          <a:lstStyle/>
          <a:p>
            <a:pPr indent="0" marL="0">
              <a:buNone/>
            </a:pPr>
            <a:r>
              <a:rPr lang="en-US" sz="1000" b="1" dirty="0">
                <a:solidFill>
                  <a:srgbClr val="C9973A"/>
                </a:solidFill>
                <a:latin typeface="Calibri" pitchFamily="34" charset="0"/>
                <a:ea typeface="Calibri" pitchFamily="34" charset="-122"/>
                <a:cs typeface="Calibri" pitchFamily="34" charset="-120"/>
              </a:rPr>
              <a:t>Method</a:t>
            </a:r>
            <a:endParaRPr lang="en-US" sz="1000" dirty="0"/>
          </a:p>
        </p:txBody>
      </p:sp>
      <p:sp>
        <p:nvSpPr>
          <p:cNvPr id="10" name="Text 8"/>
          <p:cNvSpPr/>
          <p:nvPr/>
        </p:nvSpPr>
        <p:spPr>
          <a:xfrm>
            <a:off x="1307592" y="1234440"/>
            <a:ext cx="3566160" cy="292608"/>
          </a:xfrm>
          <a:prstGeom prst="rect">
            <a:avLst/>
          </a:prstGeom>
          <a:noFill/>
          <a:ln/>
        </p:spPr>
        <p:txBody>
          <a:bodyPr wrap="square" lIns="0" tIns="0" rIns="0" bIns="0" rtlCol="0" anchor="ctr"/>
          <a:lstStyle/>
          <a:p>
            <a:pPr indent="0" marL="0">
              <a:buNone/>
            </a:pPr>
            <a:r>
              <a:rPr lang="en-US" sz="1000" b="1" dirty="0">
                <a:solidFill>
                  <a:srgbClr val="C9973A"/>
                </a:solidFill>
                <a:latin typeface="Calibri" pitchFamily="34" charset="0"/>
                <a:ea typeface="Calibri" pitchFamily="34" charset="-122"/>
                <a:cs typeface="Calibri" pitchFamily="34" charset="-120"/>
              </a:rPr>
              <a:t>Endpoint</a:t>
            </a:r>
            <a:endParaRPr lang="en-US" sz="1000" dirty="0"/>
          </a:p>
        </p:txBody>
      </p:sp>
      <p:sp>
        <p:nvSpPr>
          <p:cNvPr id="11" name="Text 9"/>
          <p:cNvSpPr/>
          <p:nvPr/>
        </p:nvSpPr>
        <p:spPr>
          <a:xfrm>
            <a:off x="4919472" y="1234440"/>
            <a:ext cx="4023360" cy="292608"/>
          </a:xfrm>
          <a:prstGeom prst="rect">
            <a:avLst/>
          </a:prstGeom>
          <a:noFill/>
          <a:ln/>
        </p:spPr>
        <p:txBody>
          <a:bodyPr wrap="square" lIns="0" tIns="0" rIns="0" bIns="0" rtlCol="0" anchor="ctr"/>
          <a:lstStyle/>
          <a:p>
            <a:pPr indent="0" marL="0">
              <a:buNone/>
            </a:pPr>
            <a:r>
              <a:rPr lang="en-US" sz="1000" b="1" dirty="0">
                <a:solidFill>
                  <a:srgbClr val="C9973A"/>
                </a:solidFill>
                <a:latin typeface="Calibri" pitchFamily="34" charset="0"/>
                <a:ea typeface="Calibri" pitchFamily="34" charset="-122"/>
                <a:cs typeface="Calibri" pitchFamily="34" charset="-120"/>
              </a:rPr>
              <a:t>Description</a:t>
            </a:r>
            <a:endParaRPr lang="en-US" sz="1000" dirty="0"/>
          </a:p>
        </p:txBody>
      </p:sp>
      <p:sp>
        <p:nvSpPr>
          <p:cNvPr id="12" name="Shape 10"/>
          <p:cNvSpPr/>
          <p:nvPr/>
        </p:nvSpPr>
        <p:spPr>
          <a:xfrm>
            <a:off x="274320" y="1527048"/>
            <a:ext cx="8595360" cy="301752"/>
          </a:xfrm>
          <a:prstGeom prst="rect">
            <a:avLst/>
          </a:prstGeom>
          <a:solidFill>
            <a:srgbClr val="F4F6FB"/>
          </a:solidFill>
          <a:ln/>
        </p:spPr>
      </p:sp>
      <p:sp>
        <p:nvSpPr>
          <p:cNvPr id="13" name="Shape 11"/>
          <p:cNvSpPr/>
          <p:nvPr/>
        </p:nvSpPr>
        <p:spPr>
          <a:xfrm>
            <a:off x="274320" y="1591056"/>
            <a:ext cx="777240" cy="173736"/>
          </a:xfrm>
          <a:prstGeom prst="rect">
            <a:avLst/>
          </a:prstGeom>
          <a:solidFill>
            <a:srgbClr val="16A34A"/>
          </a:solidFill>
          <a:ln/>
        </p:spPr>
      </p:sp>
      <p:sp>
        <p:nvSpPr>
          <p:cNvPr id="14" name="Text 12"/>
          <p:cNvSpPr/>
          <p:nvPr/>
        </p:nvSpPr>
        <p:spPr>
          <a:xfrm>
            <a:off x="274320" y="1591056"/>
            <a:ext cx="777240"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POST</a:t>
            </a:r>
            <a:endParaRPr lang="en-US" sz="800" dirty="0"/>
          </a:p>
        </p:txBody>
      </p:sp>
      <p:sp>
        <p:nvSpPr>
          <p:cNvPr id="15" name="Text 13"/>
          <p:cNvSpPr/>
          <p:nvPr/>
        </p:nvSpPr>
        <p:spPr>
          <a:xfrm>
            <a:off x="1234440" y="1527048"/>
            <a:ext cx="3520440" cy="301752"/>
          </a:xfrm>
          <a:prstGeom prst="rect">
            <a:avLst/>
          </a:prstGeom>
          <a:noFill/>
          <a:ln/>
        </p:spPr>
        <p:txBody>
          <a:bodyPr wrap="square" lIns="0" tIns="0" rIns="0" bIns="0" rtlCol="0" anchor="ctr"/>
          <a:lstStyle/>
          <a:p>
            <a:pPr indent="0" marL="0">
              <a:buNone/>
            </a:pPr>
            <a:r>
              <a:rPr lang="en-US" sz="900" dirty="0">
                <a:solidFill>
                  <a:srgbClr val="1B2A4A"/>
                </a:solidFill>
                <a:latin typeface="Consolas" pitchFamily="34" charset="0"/>
                <a:ea typeface="Consolas" pitchFamily="34" charset="-122"/>
                <a:cs typeface="Consolas" pitchFamily="34" charset="-120"/>
              </a:rPr>
              <a:t>/rev/auth/login</a:t>
            </a:r>
            <a:endParaRPr lang="en-US" sz="900" dirty="0"/>
          </a:p>
        </p:txBody>
      </p:sp>
      <p:sp>
        <p:nvSpPr>
          <p:cNvPr id="16" name="Text 14"/>
          <p:cNvSpPr/>
          <p:nvPr/>
        </p:nvSpPr>
        <p:spPr>
          <a:xfrm>
            <a:off x="4846320" y="1527048"/>
            <a:ext cx="3977640" cy="30175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Authenticate user &amp; return JWT token</a:t>
            </a:r>
            <a:endParaRPr lang="en-US" sz="950" dirty="0"/>
          </a:p>
        </p:txBody>
      </p:sp>
      <p:sp>
        <p:nvSpPr>
          <p:cNvPr id="17" name="Shape 15"/>
          <p:cNvSpPr/>
          <p:nvPr/>
        </p:nvSpPr>
        <p:spPr>
          <a:xfrm>
            <a:off x="274320" y="1828800"/>
            <a:ext cx="8595360" cy="301752"/>
          </a:xfrm>
          <a:prstGeom prst="rect">
            <a:avLst/>
          </a:prstGeom>
          <a:solidFill>
            <a:srgbClr val="FFFFFF"/>
          </a:solidFill>
          <a:ln/>
        </p:spPr>
      </p:sp>
      <p:sp>
        <p:nvSpPr>
          <p:cNvPr id="18" name="Shape 16"/>
          <p:cNvSpPr/>
          <p:nvPr/>
        </p:nvSpPr>
        <p:spPr>
          <a:xfrm>
            <a:off x="274320" y="1892808"/>
            <a:ext cx="777240" cy="173736"/>
          </a:xfrm>
          <a:prstGeom prst="rect">
            <a:avLst/>
          </a:prstGeom>
          <a:solidFill>
            <a:srgbClr val="0D9488"/>
          </a:solidFill>
          <a:ln/>
        </p:spPr>
      </p:sp>
      <p:sp>
        <p:nvSpPr>
          <p:cNvPr id="19" name="Text 17"/>
          <p:cNvSpPr/>
          <p:nvPr/>
        </p:nvSpPr>
        <p:spPr>
          <a:xfrm>
            <a:off x="274320" y="1892808"/>
            <a:ext cx="777240"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GET</a:t>
            </a:r>
            <a:endParaRPr lang="en-US" sz="800" dirty="0"/>
          </a:p>
        </p:txBody>
      </p:sp>
      <p:sp>
        <p:nvSpPr>
          <p:cNvPr id="20" name="Text 18"/>
          <p:cNvSpPr/>
          <p:nvPr/>
        </p:nvSpPr>
        <p:spPr>
          <a:xfrm>
            <a:off x="1234440" y="1828800"/>
            <a:ext cx="3520440" cy="301752"/>
          </a:xfrm>
          <a:prstGeom prst="rect">
            <a:avLst/>
          </a:prstGeom>
          <a:noFill/>
          <a:ln/>
        </p:spPr>
        <p:txBody>
          <a:bodyPr wrap="square" lIns="0" tIns="0" rIns="0" bIns="0" rtlCol="0" anchor="ctr"/>
          <a:lstStyle/>
          <a:p>
            <a:pPr indent="0" marL="0">
              <a:buNone/>
            </a:pPr>
            <a:r>
              <a:rPr lang="en-US" sz="900" dirty="0">
                <a:solidFill>
                  <a:srgbClr val="1B2A4A"/>
                </a:solidFill>
                <a:latin typeface="Consolas" pitchFamily="34" charset="0"/>
                <a:ea typeface="Consolas" pitchFamily="34" charset="-122"/>
                <a:cs typeface="Consolas" pitchFamily="34" charset="-120"/>
              </a:rPr>
              <a:t>/rev/admin/employees</a:t>
            </a:r>
            <a:endParaRPr lang="en-US" sz="900" dirty="0"/>
          </a:p>
        </p:txBody>
      </p:sp>
      <p:sp>
        <p:nvSpPr>
          <p:cNvPr id="21" name="Text 19"/>
          <p:cNvSpPr/>
          <p:nvPr/>
        </p:nvSpPr>
        <p:spPr>
          <a:xfrm>
            <a:off x="4846320" y="1828800"/>
            <a:ext cx="3977640" cy="30175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Get all employees (Admin)</a:t>
            </a:r>
            <a:endParaRPr lang="en-US" sz="950" dirty="0"/>
          </a:p>
        </p:txBody>
      </p:sp>
      <p:sp>
        <p:nvSpPr>
          <p:cNvPr id="22" name="Shape 20"/>
          <p:cNvSpPr/>
          <p:nvPr/>
        </p:nvSpPr>
        <p:spPr>
          <a:xfrm>
            <a:off x="274320" y="2130552"/>
            <a:ext cx="8595360" cy="301752"/>
          </a:xfrm>
          <a:prstGeom prst="rect">
            <a:avLst/>
          </a:prstGeom>
          <a:solidFill>
            <a:srgbClr val="F4F6FB"/>
          </a:solidFill>
          <a:ln/>
        </p:spPr>
      </p:sp>
      <p:sp>
        <p:nvSpPr>
          <p:cNvPr id="23" name="Shape 21"/>
          <p:cNvSpPr/>
          <p:nvPr/>
        </p:nvSpPr>
        <p:spPr>
          <a:xfrm>
            <a:off x="274320" y="2194560"/>
            <a:ext cx="777240" cy="173736"/>
          </a:xfrm>
          <a:prstGeom prst="rect">
            <a:avLst/>
          </a:prstGeom>
          <a:solidFill>
            <a:srgbClr val="16A34A"/>
          </a:solidFill>
          <a:ln/>
        </p:spPr>
      </p:sp>
      <p:sp>
        <p:nvSpPr>
          <p:cNvPr id="24" name="Text 22"/>
          <p:cNvSpPr/>
          <p:nvPr/>
        </p:nvSpPr>
        <p:spPr>
          <a:xfrm>
            <a:off x="274320" y="2194560"/>
            <a:ext cx="777240"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POST</a:t>
            </a:r>
            <a:endParaRPr lang="en-US" sz="800" dirty="0"/>
          </a:p>
        </p:txBody>
      </p:sp>
      <p:sp>
        <p:nvSpPr>
          <p:cNvPr id="25" name="Text 23"/>
          <p:cNvSpPr/>
          <p:nvPr/>
        </p:nvSpPr>
        <p:spPr>
          <a:xfrm>
            <a:off x="1234440" y="2130552"/>
            <a:ext cx="3520440" cy="301752"/>
          </a:xfrm>
          <a:prstGeom prst="rect">
            <a:avLst/>
          </a:prstGeom>
          <a:noFill/>
          <a:ln/>
        </p:spPr>
        <p:txBody>
          <a:bodyPr wrap="square" lIns="0" tIns="0" rIns="0" bIns="0" rtlCol="0" anchor="ctr"/>
          <a:lstStyle/>
          <a:p>
            <a:pPr indent="0" marL="0">
              <a:buNone/>
            </a:pPr>
            <a:r>
              <a:rPr lang="en-US" sz="900" dirty="0">
                <a:solidFill>
                  <a:srgbClr val="1B2A4A"/>
                </a:solidFill>
                <a:latin typeface="Consolas" pitchFamily="34" charset="0"/>
                <a:ea typeface="Consolas" pitchFamily="34" charset="-122"/>
                <a:cs typeface="Consolas" pitchFamily="34" charset="-120"/>
              </a:rPr>
              <a:t>/rev/admin/employees</a:t>
            </a:r>
            <a:endParaRPr lang="en-US" sz="900" dirty="0"/>
          </a:p>
        </p:txBody>
      </p:sp>
      <p:sp>
        <p:nvSpPr>
          <p:cNvPr id="26" name="Text 24"/>
          <p:cNvSpPr/>
          <p:nvPr/>
        </p:nvSpPr>
        <p:spPr>
          <a:xfrm>
            <a:off x="4846320" y="2130552"/>
            <a:ext cx="3977640" cy="30175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Add new employee</a:t>
            </a:r>
            <a:endParaRPr lang="en-US" sz="950" dirty="0"/>
          </a:p>
        </p:txBody>
      </p:sp>
      <p:sp>
        <p:nvSpPr>
          <p:cNvPr id="27" name="Shape 25"/>
          <p:cNvSpPr/>
          <p:nvPr/>
        </p:nvSpPr>
        <p:spPr>
          <a:xfrm>
            <a:off x="274320" y="2432304"/>
            <a:ext cx="8595360" cy="301752"/>
          </a:xfrm>
          <a:prstGeom prst="rect">
            <a:avLst/>
          </a:prstGeom>
          <a:solidFill>
            <a:srgbClr val="FFFFFF"/>
          </a:solidFill>
          <a:ln/>
        </p:spPr>
      </p:sp>
      <p:sp>
        <p:nvSpPr>
          <p:cNvPr id="28" name="Shape 26"/>
          <p:cNvSpPr/>
          <p:nvPr/>
        </p:nvSpPr>
        <p:spPr>
          <a:xfrm>
            <a:off x="274320" y="2496312"/>
            <a:ext cx="777240" cy="173736"/>
          </a:xfrm>
          <a:prstGeom prst="rect">
            <a:avLst/>
          </a:prstGeom>
          <a:solidFill>
            <a:srgbClr val="EA580C"/>
          </a:solidFill>
          <a:ln/>
        </p:spPr>
      </p:sp>
      <p:sp>
        <p:nvSpPr>
          <p:cNvPr id="29" name="Text 27"/>
          <p:cNvSpPr/>
          <p:nvPr/>
        </p:nvSpPr>
        <p:spPr>
          <a:xfrm>
            <a:off x="274320" y="2496312"/>
            <a:ext cx="777240"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PUT</a:t>
            </a:r>
            <a:endParaRPr lang="en-US" sz="800" dirty="0"/>
          </a:p>
        </p:txBody>
      </p:sp>
      <p:sp>
        <p:nvSpPr>
          <p:cNvPr id="30" name="Text 28"/>
          <p:cNvSpPr/>
          <p:nvPr/>
        </p:nvSpPr>
        <p:spPr>
          <a:xfrm>
            <a:off x="1234440" y="2432304"/>
            <a:ext cx="3520440" cy="301752"/>
          </a:xfrm>
          <a:prstGeom prst="rect">
            <a:avLst/>
          </a:prstGeom>
          <a:noFill/>
          <a:ln/>
        </p:spPr>
        <p:txBody>
          <a:bodyPr wrap="square" lIns="0" tIns="0" rIns="0" bIns="0" rtlCol="0" anchor="ctr"/>
          <a:lstStyle/>
          <a:p>
            <a:pPr indent="0" marL="0">
              <a:buNone/>
            </a:pPr>
            <a:r>
              <a:rPr lang="en-US" sz="900" dirty="0">
                <a:solidFill>
                  <a:srgbClr val="1B2A4A"/>
                </a:solidFill>
                <a:latin typeface="Consolas" pitchFamily="34" charset="0"/>
                <a:ea typeface="Consolas" pitchFamily="34" charset="-122"/>
                <a:cs typeface="Consolas" pitchFamily="34" charset="-120"/>
              </a:rPr>
              <a:t>/rev/admin/employees/{id}</a:t>
            </a:r>
            <a:endParaRPr lang="en-US" sz="900" dirty="0"/>
          </a:p>
        </p:txBody>
      </p:sp>
      <p:sp>
        <p:nvSpPr>
          <p:cNvPr id="31" name="Text 29"/>
          <p:cNvSpPr/>
          <p:nvPr/>
        </p:nvSpPr>
        <p:spPr>
          <a:xfrm>
            <a:off x="4846320" y="2432304"/>
            <a:ext cx="3977640" cy="30175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Update employee details</a:t>
            </a:r>
            <a:endParaRPr lang="en-US" sz="950" dirty="0"/>
          </a:p>
        </p:txBody>
      </p:sp>
      <p:sp>
        <p:nvSpPr>
          <p:cNvPr id="32" name="Shape 30"/>
          <p:cNvSpPr/>
          <p:nvPr/>
        </p:nvSpPr>
        <p:spPr>
          <a:xfrm>
            <a:off x="274320" y="2734056"/>
            <a:ext cx="8595360" cy="301752"/>
          </a:xfrm>
          <a:prstGeom prst="rect">
            <a:avLst/>
          </a:prstGeom>
          <a:solidFill>
            <a:srgbClr val="F4F6FB"/>
          </a:solidFill>
          <a:ln/>
        </p:spPr>
      </p:sp>
      <p:sp>
        <p:nvSpPr>
          <p:cNvPr id="33" name="Shape 31"/>
          <p:cNvSpPr/>
          <p:nvPr/>
        </p:nvSpPr>
        <p:spPr>
          <a:xfrm>
            <a:off x="274320" y="2798064"/>
            <a:ext cx="777240" cy="173736"/>
          </a:xfrm>
          <a:prstGeom prst="rect">
            <a:avLst/>
          </a:prstGeom>
          <a:solidFill>
            <a:srgbClr val="0D9488"/>
          </a:solidFill>
          <a:ln/>
        </p:spPr>
      </p:sp>
      <p:sp>
        <p:nvSpPr>
          <p:cNvPr id="34" name="Text 32"/>
          <p:cNvSpPr/>
          <p:nvPr/>
        </p:nvSpPr>
        <p:spPr>
          <a:xfrm>
            <a:off x="274320" y="2798064"/>
            <a:ext cx="777240"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GET</a:t>
            </a:r>
            <a:endParaRPr lang="en-US" sz="800" dirty="0"/>
          </a:p>
        </p:txBody>
      </p:sp>
      <p:sp>
        <p:nvSpPr>
          <p:cNvPr id="35" name="Text 33"/>
          <p:cNvSpPr/>
          <p:nvPr/>
        </p:nvSpPr>
        <p:spPr>
          <a:xfrm>
            <a:off x="1234440" y="2734056"/>
            <a:ext cx="3520440" cy="301752"/>
          </a:xfrm>
          <a:prstGeom prst="rect">
            <a:avLst/>
          </a:prstGeom>
          <a:noFill/>
          <a:ln/>
        </p:spPr>
        <p:txBody>
          <a:bodyPr wrap="square" lIns="0" tIns="0" rIns="0" bIns="0" rtlCol="0" anchor="ctr"/>
          <a:lstStyle/>
          <a:p>
            <a:pPr indent="0" marL="0">
              <a:buNone/>
            </a:pPr>
            <a:r>
              <a:rPr lang="en-US" sz="900" dirty="0">
                <a:solidFill>
                  <a:srgbClr val="1B2A4A"/>
                </a:solidFill>
                <a:latin typeface="Consolas" pitchFamily="34" charset="0"/>
                <a:ea typeface="Consolas" pitchFamily="34" charset="-122"/>
                <a:cs typeface="Consolas" pitchFamily="34" charset="-120"/>
              </a:rPr>
              <a:t>/rev/employee/leaves/{id}</a:t>
            </a:r>
            <a:endParaRPr lang="en-US" sz="900" dirty="0"/>
          </a:p>
        </p:txBody>
      </p:sp>
      <p:sp>
        <p:nvSpPr>
          <p:cNvPr id="36" name="Text 34"/>
          <p:cNvSpPr/>
          <p:nvPr/>
        </p:nvSpPr>
        <p:spPr>
          <a:xfrm>
            <a:off x="4846320" y="2734056"/>
            <a:ext cx="3977640" cy="30175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Get employee's leave applications</a:t>
            </a:r>
            <a:endParaRPr lang="en-US" sz="950" dirty="0"/>
          </a:p>
        </p:txBody>
      </p:sp>
      <p:sp>
        <p:nvSpPr>
          <p:cNvPr id="37" name="Shape 35"/>
          <p:cNvSpPr/>
          <p:nvPr/>
        </p:nvSpPr>
        <p:spPr>
          <a:xfrm>
            <a:off x="274320" y="3035808"/>
            <a:ext cx="8595360" cy="301752"/>
          </a:xfrm>
          <a:prstGeom prst="rect">
            <a:avLst/>
          </a:prstGeom>
          <a:solidFill>
            <a:srgbClr val="FFFFFF"/>
          </a:solidFill>
          <a:ln/>
        </p:spPr>
      </p:sp>
      <p:sp>
        <p:nvSpPr>
          <p:cNvPr id="38" name="Shape 36"/>
          <p:cNvSpPr/>
          <p:nvPr/>
        </p:nvSpPr>
        <p:spPr>
          <a:xfrm>
            <a:off x="274320" y="3099816"/>
            <a:ext cx="777240" cy="173736"/>
          </a:xfrm>
          <a:prstGeom prst="rect">
            <a:avLst/>
          </a:prstGeom>
          <a:solidFill>
            <a:srgbClr val="16A34A"/>
          </a:solidFill>
          <a:ln/>
        </p:spPr>
      </p:sp>
      <p:sp>
        <p:nvSpPr>
          <p:cNvPr id="39" name="Text 37"/>
          <p:cNvSpPr/>
          <p:nvPr/>
        </p:nvSpPr>
        <p:spPr>
          <a:xfrm>
            <a:off x="274320" y="3099816"/>
            <a:ext cx="777240"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POST</a:t>
            </a:r>
            <a:endParaRPr lang="en-US" sz="800" dirty="0"/>
          </a:p>
        </p:txBody>
      </p:sp>
      <p:sp>
        <p:nvSpPr>
          <p:cNvPr id="40" name="Text 38"/>
          <p:cNvSpPr/>
          <p:nvPr/>
        </p:nvSpPr>
        <p:spPr>
          <a:xfrm>
            <a:off x="1234440" y="3035808"/>
            <a:ext cx="3520440" cy="301752"/>
          </a:xfrm>
          <a:prstGeom prst="rect">
            <a:avLst/>
          </a:prstGeom>
          <a:noFill/>
          <a:ln/>
        </p:spPr>
        <p:txBody>
          <a:bodyPr wrap="square" lIns="0" tIns="0" rIns="0" bIns="0" rtlCol="0" anchor="ctr"/>
          <a:lstStyle/>
          <a:p>
            <a:pPr indent="0" marL="0">
              <a:buNone/>
            </a:pPr>
            <a:r>
              <a:rPr lang="en-US" sz="900" dirty="0">
                <a:solidFill>
                  <a:srgbClr val="1B2A4A"/>
                </a:solidFill>
                <a:latin typeface="Consolas" pitchFamily="34" charset="0"/>
                <a:ea typeface="Consolas" pitchFamily="34" charset="-122"/>
                <a:cs typeface="Consolas" pitchFamily="34" charset="-120"/>
              </a:rPr>
              <a:t>/rev/employee/leaves/{id}/apply</a:t>
            </a:r>
            <a:endParaRPr lang="en-US" sz="900" dirty="0"/>
          </a:p>
        </p:txBody>
      </p:sp>
      <p:sp>
        <p:nvSpPr>
          <p:cNvPr id="41" name="Text 39"/>
          <p:cNvSpPr/>
          <p:nvPr/>
        </p:nvSpPr>
        <p:spPr>
          <a:xfrm>
            <a:off x="4846320" y="3035808"/>
            <a:ext cx="3977640" cy="30175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Apply for leave</a:t>
            </a:r>
            <a:endParaRPr lang="en-US" sz="950" dirty="0"/>
          </a:p>
        </p:txBody>
      </p:sp>
      <p:sp>
        <p:nvSpPr>
          <p:cNvPr id="42" name="Shape 40"/>
          <p:cNvSpPr/>
          <p:nvPr/>
        </p:nvSpPr>
        <p:spPr>
          <a:xfrm>
            <a:off x="274320" y="3337560"/>
            <a:ext cx="8595360" cy="301752"/>
          </a:xfrm>
          <a:prstGeom prst="rect">
            <a:avLst/>
          </a:prstGeom>
          <a:solidFill>
            <a:srgbClr val="F4F6FB"/>
          </a:solidFill>
          <a:ln/>
        </p:spPr>
      </p:sp>
      <p:sp>
        <p:nvSpPr>
          <p:cNvPr id="43" name="Shape 41"/>
          <p:cNvSpPr/>
          <p:nvPr/>
        </p:nvSpPr>
        <p:spPr>
          <a:xfrm>
            <a:off x="274320" y="3401568"/>
            <a:ext cx="777240" cy="173736"/>
          </a:xfrm>
          <a:prstGeom prst="rect">
            <a:avLst/>
          </a:prstGeom>
          <a:solidFill>
            <a:srgbClr val="EA580C"/>
          </a:solidFill>
          <a:ln/>
        </p:spPr>
      </p:sp>
      <p:sp>
        <p:nvSpPr>
          <p:cNvPr id="44" name="Text 42"/>
          <p:cNvSpPr/>
          <p:nvPr/>
        </p:nvSpPr>
        <p:spPr>
          <a:xfrm>
            <a:off x="274320" y="3401568"/>
            <a:ext cx="777240"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PUT</a:t>
            </a:r>
            <a:endParaRPr lang="en-US" sz="800" dirty="0"/>
          </a:p>
        </p:txBody>
      </p:sp>
      <p:sp>
        <p:nvSpPr>
          <p:cNvPr id="45" name="Text 43"/>
          <p:cNvSpPr/>
          <p:nvPr/>
        </p:nvSpPr>
        <p:spPr>
          <a:xfrm>
            <a:off x="1234440" y="3337560"/>
            <a:ext cx="3520440" cy="301752"/>
          </a:xfrm>
          <a:prstGeom prst="rect">
            <a:avLst/>
          </a:prstGeom>
          <a:noFill/>
          <a:ln/>
        </p:spPr>
        <p:txBody>
          <a:bodyPr wrap="square" lIns="0" tIns="0" rIns="0" bIns="0" rtlCol="0" anchor="ctr"/>
          <a:lstStyle/>
          <a:p>
            <a:pPr indent="0" marL="0">
              <a:buNone/>
            </a:pPr>
            <a:r>
              <a:rPr lang="en-US" sz="900" dirty="0">
                <a:solidFill>
                  <a:srgbClr val="1B2A4A"/>
                </a:solidFill>
                <a:latin typeface="Consolas" pitchFamily="34" charset="0"/>
                <a:ea typeface="Consolas" pitchFamily="34" charset="-122"/>
                <a:cs typeface="Consolas" pitchFamily="34" charset="-120"/>
              </a:rPr>
              <a:t>/rev/manager/leaves/{id}/approve</a:t>
            </a:r>
            <a:endParaRPr lang="en-US" sz="900" dirty="0"/>
          </a:p>
        </p:txBody>
      </p:sp>
      <p:sp>
        <p:nvSpPr>
          <p:cNvPr id="46" name="Text 44"/>
          <p:cNvSpPr/>
          <p:nvPr/>
        </p:nvSpPr>
        <p:spPr>
          <a:xfrm>
            <a:off x="4846320" y="3337560"/>
            <a:ext cx="3977640" cy="30175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Approve / reject leave request</a:t>
            </a:r>
            <a:endParaRPr lang="en-US" sz="950" dirty="0"/>
          </a:p>
        </p:txBody>
      </p:sp>
      <p:sp>
        <p:nvSpPr>
          <p:cNvPr id="47" name="Shape 45"/>
          <p:cNvSpPr/>
          <p:nvPr/>
        </p:nvSpPr>
        <p:spPr>
          <a:xfrm>
            <a:off x="274320" y="3639312"/>
            <a:ext cx="8595360" cy="301752"/>
          </a:xfrm>
          <a:prstGeom prst="rect">
            <a:avLst/>
          </a:prstGeom>
          <a:solidFill>
            <a:srgbClr val="FFFFFF"/>
          </a:solidFill>
          <a:ln/>
        </p:spPr>
      </p:sp>
      <p:sp>
        <p:nvSpPr>
          <p:cNvPr id="48" name="Shape 46"/>
          <p:cNvSpPr/>
          <p:nvPr/>
        </p:nvSpPr>
        <p:spPr>
          <a:xfrm>
            <a:off x="274320" y="3703320"/>
            <a:ext cx="777240" cy="173736"/>
          </a:xfrm>
          <a:prstGeom prst="rect">
            <a:avLst/>
          </a:prstGeom>
          <a:solidFill>
            <a:srgbClr val="0D9488"/>
          </a:solidFill>
          <a:ln/>
        </p:spPr>
      </p:sp>
      <p:sp>
        <p:nvSpPr>
          <p:cNvPr id="49" name="Text 47"/>
          <p:cNvSpPr/>
          <p:nvPr/>
        </p:nvSpPr>
        <p:spPr>
          <a:xfrm>
            <a:off x="274320" y="3703320"/>
            <a:ext cx="777240"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GET</a:t>
            </a:r>
            <a:endParaRPr lang="en-US" sz="800" dirty="0"/>
          </a:p>
        </p:txBody>
      </p:sp>
      <p:sp>
        <p:nvSpPr>
          <p:cNvPr id="50" name="Text 48"/>
          <p:cNvSpPr/>
          <p:nvPr/>
        </p:nvSpPr>
        <p:spPr>
          <a:xfrm>
            <a:off x="1234440" y="3639312"/>
            <a:ext cx="3520440" cy="301752"/>
          </a:xfrm>
          <a:prstGeom prst="rect">
            <a:avLst/>
          </a:prstGeom>
          <a:noFill/>
          <a:ln/>
        </p:spPr>
        <p:txBody>
          <a:bodyPr wrap="square" lIns="0" tIns="0" rIns="0" bIns="0" rtlCol="0" anchor="ctr"/>
          <a:lstStyle/>
          <a:p>
            <a:pPr indent="0" marL="0">
              <a:buNone/>
            </a:pPr>
            <a:r>
              <a:rPr lang="en-US" sz="900" dirty="0">
                <a:solidFill>
                  <a:srgbClr val="1B2A4A"/>
                </a:solidFill>
                <a:latin typeface="Consolas" pitchFamily="34" charset="0"/>
                <a:ea typeface="Consolas" pitchFamily="34" charset="-122"/>
                <a:cs typeface="Consolas" pitchFamily="34" charset="-120"/>
              </a:rPr>
              <a:t>/rev/employee/performance/{id}</a:t>
            </a:r>
            <a:endParaRPr lang="en-US" sz="900" dirty="0"/>
          </a:p>
        </p:txBody>
      </p:sp>
      <p:sp>
        <p:nvSpPr>
          <p:cNvPr id="51" name="Text 49"/>
          <p:cNvSpPr/>
          <p:nvPr/>
        </p:nvSpPr>
        <p:spPr>
          <a:xfrm>
            <a:off x="4846320" y="3639312"/>
            <a:ext cx="3977640" cy="30175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Get performance reviews</a:t>
            </a:r>
            <a:endParaRPr lang="en-US" sz="950" dirty="0"/>
          </a:p>
        </p:txBody>
      </p:sp>
      <p:sp>
        <p:nvSpPr>
          <p:cNvPr id="52" name="Shape 50"/>
          <p:cNvSpPr/>
          <p:nvPr/>
        </p:nvSpPr>
        <p:spPr>
          <a:xfrm>
            <a:off x="274320" y="3941064"/>
            <a:ext cx="8595360" cy="301752"/>
          </a:xfrm>
          <a:prstGeom prst="rect">
            <a:avLst/>
          </a:prstGeom>
          <a:solidFill>
            <a:srgbClr val="F4F6FB"/>
          </a:solidFill>
          <a:ln/>
        </p:spPr>
      </p:sp>
      <p:sp>
        <p:nvSpPr>
          <p:cNvPr id="53" name="Shape 51"/>
          <p:cNvSpPr/>
          <p:nvPr/>
        </p:nvSpPr>
        <p:spPr>
          <a:xfrm>
            <a:off x="274320" y="4005072"/>
            <a:ext cx="777240" cy="173736"/>
          </a:xfrm>
          <a:prstGeom prst="rect">
            <a:avLst/>
          </a:prstGeom>
          <a:solidFill>
            <a:srgbClr val="16A34A"/>
          </a:solidFill>
          <a:ln/>
        </p:spPr>
      </p:sp>
      <p:sp>
        <p:nvSpPr>
          <p:cNvPr id="54" name="Text 52"/>
          <p:cNvSpPr/>
          <p:nvPr/>
        </p:nvSpPr>
        <p:spPr>
          <a:xfrm>
            <a:off x="274320" y="4005072"/>
            <a:ext cx="777240"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POST</a:t>
            </a:r>
            <a:endParaRPr lang="en-US" sz="800" dirty="0"/>
          </a:p>
        </p:txBody>
      </p:sp>
      <p:sp>
        <p:nvSpPr>
          <p:cNvPr id="55" name="Text 53"/>
          <p:cNvSpPr/>
          <p:nvPr/>
        </p:nvSpPr>
        <p:spPr>
          <a:xfrm>
            <a:off x="1234440" y="3941064"/>
            <a:ext cx="3520440" cy="301752"/>
          </a:xfrm>
          <a:prstGeom prst="rect">
            <a:avLst/>
          </a:prstGeom>
          <a:noFill/>
          <a:ln/>
        </p:spPr>
        <p:txBody>
          <a:bodyPr wrap="square" lIns="0" tIns="0" rIns="0" bIns="0" rtlCol="0" anchor="ctr"/>
          <a:lstStyle/>
          <a:p>
            <a:pPr indent="0" marL="0">
              <a:buNone/>
            </a:pPr>
            <a:r>
              <a:rPr lang="en-US" sz="900" dirty="0">
                <a:solidFill>
                  <a:srgbClr val="1B2A4A"/>
                </a:solidFill>
                <a:latin typeface="Consolas" pitchFamily="34" charset="0"/>
                <a:ea typeface="Consolas" pitchFamily="34" charset="-122"/>
                <a:cs typeface="Consolas" pitchFamily="34" charset="-120"/>
              </a:rPr>
              <a:t>/rev/employee/goals/{id}</a:t>
            </a:r>
            <a:endParaRPr lang="en-US" sz="900" dirty="0"/>
          </a:p>
        </p:txBody>
      </p:sp>
      <p:sp>
        <p:nvSpPr>
          <p:cNvPr id="56" name="Text 54"/>
          <p:cNvSpPr/>
          <p:nvPr/>
        </p:nvSpPr>
        <p:spPr>
          <a:xfrm>
            <a:off x="4846320" y="3941064"/>
            <a:ext cx="3977640" cy="30175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Create a new goal</a:t>
            </a:r>
            <a:endParaRPr lang="en-US" sz="950" dirty="0"/>
          </a:p>
        </p:txBody>
      </p:sp>
      <p:sp>
        <p:nvSpPr>
          <p:cNvPr id="57" name="Shape 55"/>
          <p:cNvSpPr/>
          <p:nvPr/>
        </p:nvSpPr>
        <p:spPr>
          <a:xfrm>
            <a:off x="274320" y="4242816"/>
            <a:ext cx="8595360" cy="301752"/>
          </a:xfrm>
          <a:prstGeom prst="rect">
            <a:avLst/>
          </a:prstGeom>
          <a:solidFill>
            <a:srgbClr val="FFFFFF"/>
          </a:solidFill>
          <a:ln/>
        </p:spPr>
      </p:sp>
      <p:sp>
        <p:nvSpPr>
          <p:cNvPr id="58" name="Shape 56"/>
          <p:cNvSpPr/>
          <p:nvPr/>
        </p:nvSpPr>
        <p:spPr>
          <a:xfrm>
            <a:off x="274320" y="4306824"/>
            <a:ext cx="777240" cy="173736"/>
          </a:xfrm>
          <a:prstGeom prst="rect">
            <a:avLst/>
          </a:prstGeom>
          <a:solidFill>
            <a:srgbClr val="0D9488"/>
          </a:solidFill>
          <a:ln/>
        </p:spPr>
      </p:sp>
      <p:sp>
        <p:nvSpPr>
          <p:cNvPr id="59" name="Text 57"/>
          <p:cNvSpPr/>
          <p:nvPr/>
        </p:nvSpPr>
        <p:spPr>
          <a:xfrm>
            <a:off x="274320" y="4306824"/>
            <a:ext cx="777240"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GET</a:t>
            </a:r>
            <a:endParaRPr lang="en-US" sz="800" dirty="0"/>
          </a:p>
        </p:txBody>
      </p:sp>
      <p:sp>
        <p:nvSpPr>
          <p:cNvPr id="60" name="Text 58"/>
          <p:cNvSpPr/>
          <p:nvPr/>
        </p:nvSpPr>
        <p:spPr>
          <a:xfrm>
            <a:off x="1234440" y="4242816"/>
            <a:ext cx="3520440" cy="301752"/>
          </a:xfrm>
          <a:prstGeom prst="rect">
            <a:avLst/>
          </a:prstGeom>
          <a:noFill/>
          <a:ln/>
        </p:spPr>
        <p:txBody>
          <a:bodyPr wrap="square" lIns="0" tIns="0" rIns="0" bIns="0" rtlCol="0" anchor="ctr"/>
          <a:lstStyle/>
          <a:p>
            <a:pPr indent="0" marL="0">
              <a:buNone/>
            </a:pPr>
            <a:r>
              <a:rPr lang="en-US" sz="900" dirty="0">
                <a:solidFill>
                  <a:srgbClr val="1B2A4A"/>
                </a:solidFill>
                <a:latin typeface="Consolas" pitchFamily="34" charset="0"/>
                <a:ea typeface="Consolas" pitchFamily="34" charset="-122"/>
                <a:cs typeface="Consolas" pitchFamily="34" charset="-120"/>
              </a:rPr>
              <a:t>/rev/admin/reports/excel</a:t>
            </a:r>
            <a:endParaRPr lang="en-US" sz="900" dirty="0"/>
          </a:p>
        </p:txBody>
      </p:sp>
      <p:sp>
        <p:nvSpPr>
          <p:cNvPr id="61" name="Text 59"/>
          <p:cNvSpPr/>
          <p:nvPr/>
        </p:nvSpPr>
        <p:spPr>
          <a:xfrm>
            <a:off x="4846320" y="4242816"/>
            <a:ext cx="3977640" cy="30175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Download Excel employee report</a:t>
            </a:r>
            <a:endParaRPr lang="en-US" sz="950" dirty="0"/>
          </a:p>
        </p:txBody>
      </p:sp>
      <p:sp>
        <p:nvSpPr>
          <p:cNvPr id="62" name="Shape 60"/>
          <p:cNvSpPr/>
          <p:nvPr/>
        </p:nvSpPr>
        <p:spPr>
          <a:xfrm>
            <a:off x="274320" y="4544568"/>
            <a:ext cx="8595360" cy="301752"/>
          </a:xfrm>
          <a:prstGeom prst="rect">
            <a:avLst/>
          </a:prstGeom>
          <a:solidFill>
            <a:srgbClr val="F4F6FB"/>
          </a:solidFill>
          <a:ln/>
        </p:spPr>
      </p:sp>
      <p:sp>
        <p:nvSpPr>
          <p:cNvPr id="63" name="Shape 61"/>
          <p:cNvSpPr/>
          <p:nvPr/>
        </p:nvSpPr>
        <p:spPr>
          <a:xfrm>
            <a:off x="274320" y="4608576"/>
            <a:ext cx="777240" cy="173736"/>
          </a:xfrm>
          <a:prstGeom prst="rect">
            <a:avLst/>
          </a:prstGeom>
          <a:solidFill>
            <a:srgbClr val="0D9488"/>
          </a:solidFill>
          <a:ln/>
        </p:spPr>
      </p:sp>
      <p:sp>
        <p:nvSpPr>
          <p:cNvPr id="64" name="Text 62"/>
          <p:cNvSpPr/>
          <p:nvPr/>
        </p:nvSpPr>
        <p:spPr>
          <a:xfrm>
            <a:off x="274320" y="4608576"/>
            <a:ext cx="777240" cy="1737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GET</a:t>
            </a:r>
            <a:endParaRPr lang="en-US" sz="800" dirty="0"/>
          </a:p>
        </p:txBody>
      </p:sp>
      <p:sp>
        <p:nvSpPr>
          <p:cNvPr id="65" name="Text 63"/>
          <p:cNvSpPr/>
          <p:nvPr/>
        </p:nvSpPr>
        <p:spPr>
          <a:xfrm>
            <a:off x="1234440" y="4544568"/>
            <a:ext cx="3520440" cy="301752"/>
          </a:xfrm>
          <a:prstGeom prst="rect">
            <a:avLst/>
          </a:prstGeom>
          <a:noFill/>
          <a:ln/>
        </p:spPr>
        <p:txBody>
          <a:bodyPr wrap="square" lIns="0" tIns="0" rIns="0" bIns="0" rtlCol="0" anchor="ctr"/>
          <a:lstStyle/>
          <a:p>
            <a:pPr indent="0" marL="0">
              <a:buNone/>
            </a:pPr>
            <a:r>
              <a:rPr lang="en-US" sz="900" dirty="0">
                <a:solidFill>
                  <a:srgbClr val="1B2A4A"/>
                </a:solidFill>
                <a:latin typeface="Consolas" pitchFamily="34" charset="0"/>
                <a:ea typeface="Consolas" pitchFamily="34" charset="-122"/>
                <a:cs typeface="Consolas" pitchFamily="34" charset="-120"/>
              </a:rPr>
              <a:t>/rev/admin/audit-logs</a:t>
            </a:r>
            <a:endParaRPr lang="en-US" sz="900" dirty="0"/>
          </a:p>
        </p:txBody>
      </p:sp>
      <p:sp>
        <p:nvSpPr>
          <p:cNvPr id="66" name="Text 64"/>
          <p:cNvSpPr/>
          <p:nvPr/>
        </p:nvSpPr>
        <p:spPr>
          <a:xfrm>
            <a:off x="4846320" y="4544568"/>
            <a:ext cx="3977640" cy="30175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Get all system audit logs</a:t>
            </a:r>
            <a:endParaRPr lang="en-US" sz="950" dirty="0"/>
          </a:p>
        </p:txBody>
      </p:sp>
      <p:sp>
        <p:nvSpPr>
          <p:cNvPr id="67" name="Text 65"/>
          <p:cNvSpPr/>
          <p:nvPr/>
        </p:nvSpPr>
        <p:spPr>
          <a:xfrm>
            <a:off x="274320" y="4846320"/>
            <a:ext cx="8595360" cy="201168"/>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Swagger UI available at: /rev/swagger-ui.html  |  Context path: /rev  |  Port: 8080</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B2A4A"/>
          </a:solidFill>
          <a:ln/>
        </p:spPr>
      </p:sp>
      <p:sp>
        <p:nvSpPr>
          <p:cNvPr id="3" name="Shape 1"/>
          <p:cNvSpPr/>
          <p:nvPr/>
        </p:nvSpPr>
        <p:spPr>
          <a:xfrm>
            <a:off x="0" y="1097280"/>
            <a:ext cx="9144000" cy="54864"/>
          </a:xfrm>
          <a:prstGeom prst="rect">
            <a:avLst/>
          </a:prstGeom>
          <a:solidFill>
            <a:srgbClr val="C9973A"/>
          </a:solidFill>
          <a:ln/>
        </p:spPr>
      </p:sp>
      <p:sp>
        <p:nvSpPr>
          <p:cNvPr id="4" name="Text 2"/>
          <p:cNvSpPr/>
          <p:nvPr/>
        </p:nvSpPr>
        <p:spPr>
          <a:xfrm>
            <a:off x="365760" y="13716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Frontend Architecture</a:t>
            </a:r>
            <a:endParaRPr lang="en-US" sz="2600" dirty="0"/>
          </a:p>
        </p:txBody>
      </p:sp>
      <p:sp>
        <p:nvSpPr>
          <p:cNvPr id="5" name="Text 3"/>
          <p:cNvSpPr/>
          <p:nvPr/>
        </p:nvSpPr>
        <p:spPr>
          <a:xfrm>
            <a:off x="365760" y="685800"/>
            <a:ext cx="8229600" cy="347472"/>
          </a:xfrm>
          <a:prstGeom prst="rect">
            <a:avLst/>
          </a:prstGeom>
          <a:noFill/>
          <a:ln/>
        </p:spPr>
        <p:txBody>
          <a:bodyPr wrap="square" lIns="0" tIns="0" rIns="0" bIns="0" rtlCol="0" anchor="ctr"/>
          <a:lstStyle/>
          <a:p>
            <a:pPr indent="0" marL="0">
              <a:buNone/>
            </a:pPr>
            <a:r>
              <a:rPr lang="en-US" sz="1300" dirty="0">
                <a:solidFill>
                  <a:srgbClr val="E8B96A"/>
                </a:solidFill>
                <a:latin typeface="Calibri" pitchFamily="34" charset="0"/>
                <a:ea typeface="Calibri" pitchFamily="34" charset="-122"/>
                <a:cs typeface="Calibri" pitchFamily="34" charset="-120"/>
              </a:rPr>
              <a:t>Angular 17 with standalone components, lazy loading &amp; role-based routing</a:t>
            </a:r>
            <a:endParaRPr lang="en-US" sz="1300" dirty="0"/>
          </a:p>
        </p:txBody>
      </p:sp>
      <p:sp>
        <p:nvSpPr>
          <p:cNvPr id="6" name="Shape 4"/>
          <p:cNvSpPr/>
          <p:nvPr/>
        </p:nvSpPr>
        <p:spPr>
          <a:xfrm>
            <a:off x="274320" y="1261872"/>
            <a:ext cx="3840480" cy="3657600"/>
          </a:xfrm>
          <a:prstGeom prst="rect">
            <a:avLst/>
          </a:prstGeom>
          <a:solidFill>
            <a:srgbClr val="12203A"/>
          </a:solidFill>
          <a:ln/>
          <a:effectLst>
            <a:outerShdw sx="100000" sy="100000" kx="0" ky="0" algn="bl" rotWithShape="0" blurRad="101600" dist="38100" dir="8100000">
              <a:srgbClr val="000000">
                <a:alpha val="12000"/>
              </a:srgbClr>
            </a:outerShdw>
          </a:effectLst>
        </p:spPr>
      </p:sp>
      <p:sp>
        <p:nvSpPr>
          <p:cNvPr id="7" name="Text 5"/>
          <p:cNvSpPr/>
          <p:nvPr/>
        </p:nvSpPr>
        <p:spPr>
          <a:xfrm>
            <a:off x="457200" y="1353312"/>
            <a:ext cx="3474720" cy="274320"/>
          </a:xfrm>
          <a:prstGeom prst="rect">
            <a:avLst/>
          </a:prstGeom>
          <a:noFill/>
          <a:ln/>
        </p:spPr>
        <p:txBody>
          <a:bodyPr wrap="square" lIns="0" tIns="0" rIns="0" bIns="0" rtlCol="0" anchor="ctr"/>
          <a:lstStyle/>
          <a:p>
            <a:pPr indent="0" marL="0">
              <a:buNone/>
            </a:pPr>
            <a:r>
              <a:rPr lang="en-US" sz="1050" b="1" dirty="0">
                <a:solidFill>
                  <a:srgbClr val="C9973A"/>
                </a:solidFill>
                <a:latin typeface="Calibri" pitchFamily="34" charset="0"/>
                <a:ea typeface="Calibri" pitchFamily="34" charset="-122"/>
                <a:cs typeface="Calibri" pitchFamily="34" charset="-120"/>
              </a:rPr>
              <a:t>📁 src/app/</a:t>
            </a:r>
            <a:endParaRPr lang="en-US" sz="1050" dirty="0"/>
          </a:p>
        </p:txBody>
      </p:sp>
      <p:sp>
        <p:nvSpPr>
          <p:cNvPr id="8" name="Text 6"/>
          <p:cNvSpPr/>
          <p:nvPr/>
        </p:nvSpPr>
        <p:spPr>
          <a:xfrm>
            <a:off x="411480" y="1691640"/>
            <a:ext cx="3566160" cy="228600"/>
          </a:xfrm>
          <a:prstGeom prst="rect">
            <a:avLst/>
          </a:prstGeom>
          <a:noFill/>
          <a:ln/>
        </p:spPr>
        <p:txBody>
          <a:bodyPr wrap="square" lIns="0" tIns="0" rIns="0" bIns="0" rtlCol="0" anchor="ctr"/>
          <a:lstStyle/>
          <a:p>
            <a:pPr indent="0" marL="0">
              <a:buNone/>
            </a:pPr>
            <a:r>
              <a:rPr lang="en-US" sz="900" dirty="0">
                <a:solidFill>
                  <a:srgbClr val="E8B96A"/>
                </a:solidFill>
                <a:latin typeface="Consolas" pitchFamily="34" charset="0"/>
                <a:ea typeface="Consolas" pitchFamily="34" charset="-122"/>
                <a:cs typeface="Consolas" pitchFamily="34" charset="-120"/>
              </a:rPr>
              <a:t>  📁 core/</a:t>
            </a:r>
            <a:endParaRPr lang="en-US" sz="900" dirty="0"/>
          </a:p>
        </p:txBody>
      </p:sp>
      <p:sp>
        <p:nvSpPr>
          <p:cNvPr id="9" name="Text 7"/>
          <p:cNvSpPr/>
          <p:nvPr/>
        </p:nvSpPr>
        <p:spPr>
          <a:xfrm>
            <a:off x="411480" y="1938528"/>
            <a:ext cx="3566160" cy="228600"/>
          </a:xfrm>
          <a:prstGeom prst="rect">
            <a:avLst/>
          </a:prstGeom>
          <a:noFill/>
          <a:ln/>
        </p:spPr>
        <p:txBody>
          <a:bodyPr wrap="square" lIns="0" tIns="0" rIns="0" bIns="0" rtlCol="0" anchor="ctr"/>
          <a:lstStyle/>
          <a:p>
            <a:pPr indent="0" marL="0">
              <a:buNone/>
            </a:pPr>
            <a:r>
              <a:rPr lang="en-US" sz="900" dirty="0">
                <a:solidFill>
                  <a:srgbClr val="CBD5E1"/>
                </a:solidFill>
                <a:latin typeface="Consolas" pitchFamily="34" charset="0"/>
                <a:ea typeface="Consolas" pitchFamily="34" charset="-122"/>
                <a:cs typeface="Consolas" pitchFamily="34" charset="-120"/>
              </a:rPr>
              <a:t>    📄 models.ts</a:t>
            </a:r>
            <a:endParaRPr lang="en-US" sz="900" dirty="0"/>
          </a:p>
        </p:txBody>
      </p:sp>
      <p:sp>
        <p:nvSpPr>
          <p:cNvPr id="10" name="Text 8"/>
          <p:cNvSpPr/>
          <p:nvPr/>
        </p:nvSpPr>
        <p:spPr>
          <a:xfrm>
            <a:off x="411480" y="2185416"/>
            <a:ext cx="3566160" cy="228600"/>
          </a:xfrm>
          <a:prstGeom prst="rect">
            <a:avLst/>
          </a:prstGeom>
          <a:noFill/>
          <a:ln/>
        </p:spPr>
        <p:txBody>
          <a:bodyPr wrap="square" lIns="0" tIns="0" rIns="0" bIns="0" rtlCol="0" anchor="ctr"/>
          <a:lstStyle/>
          <a:p>
            <a:pPr indent="0" marL="0">
              <a:buNone/>
            </a:pPr>
            <a:r>
              <a:rPr lang="en-US" sz="900" dirty="0">
                <a:solidFill>
                  <a:srgbClr val="CBD5E1"/>
                </a:solidFill>
                <a:latin typeface="Consolas" pitchFamily="34" charset="0"/>
                <a:ea typeface="Consolas" pitchFamily="34" charset="-122"/>
                <a:cs typeface="Consolas" pitchFamily="34" charset="-120"/>
              </a:rPr>
              <a:t>    📁 services/  (5 services)</a:t>
            </a:r>
            <a:endParaRPr lang="en-US" sz="900" dirty="0"/>
          </a:p>
        </p:txBody>
      </p:sp>
      <p:sp>
        <p:nvSpPr>
          <p:cNvPr id="11" name="Text 9"/>
          <p:cNvSpPr/>
          <p:nvPr/>
        </p:nvSpPr>
        <p:spPr>
          <a:xfrm>
            <a:off x="411480" y="2432304"/>
            <a:ext cx="3566160" cy="228600"/>
          </a:xfrm>
          <a:prstGeom prst="rect">
            <a:avLst/>
          </a:prstGeom>
          <a:noFill/>
          <a:ln/>
        </p:spPr>
        <p:txBody>
          <a:bodyPr wrap="square" lIns="0" tIns="0" rIns="0" bIns="0" rtlCol="0" anchor="ctr"/>
          <a:lstStyle/>
          <a:p>
            <a:pPr indent="0" marL="0">
              <a:buNone/>
            </a:pPr>
            <a:r>
              <a:rPr lang="en-US" sz="900" dirty="0">
                <a:solidFill>
                  <a:srgbClr val="CBD5E1"/>
                </a:solidFill>
                <a:latin typeface="Consolas" pitchFamily="34" charset="0"/>
                <a:ea typeface="Consolas" pitchFamily="34" charset="-122"/>
                <a:cs typeface="Consolas" pitchFamily="34" charset="-120"/>
              </a:rPr>
              <a:t>    📁 guards/  (adminGuard…)</a:t>
            </a:r>
            <a:endParaRPr lang="en-US" sz="900" dirty="0"/>
          </a:p>
        </p:txBody>
      </p:sp>
      <p:sp>
        <p:nvSpPr>
          <p:cNvPr id="12" name="Text 10"/>
          <p:cNvSpPr/>
          <p:nvPr/>
        </p:nvSpPr>
        <p:spPr>
          <a:xfrm>
            <a:off x="411480" y="2679192"/>
            <a:ext cx="3566160" cy="228600"/>
          </a:xfrm>
          <a:prstGeom prst="rect">
            <a:avLst/>
          </a:prstGeom>
          <a:noFill/>
          <a:ln/>
        </p:spPr>
        <p:txBody>
          <a:bodyPr wrap="square" lIns="0" tIns="0" rIns="0" bIns="0" rtlCol="0" anchor="ctr"/>
          <a:lstStyle/>
          <a:p>
            <a:pPr indent="0" marL="0">
              <a:buNone/>
            </a:pPr>
            <a:r>
              <a:rPr lang="en-US" sz="900" dirty="0">
                <a:solidFill>
                  <a:srgbClr val="CBD5E1"/>
                </a:solidFill>
                <a:latin typeface="Consolas" pitchFamily="34" charset="0"/>
                <a:ea typeface="Consolas" pitchFamily="34" charset="-122"/>
                <a:cs typeface="Consolas" pitchFamily="34" charset="-120"/>
              </a:rPr>
              <a:t>    📁 interceptors/  (JWT, resp.)</a:t>
            </a:r>
            <a:endParaRPr lang="en-US" sz="900" dirty="0"/>
          </a:p>
        </p:txBody>
      </p:sp>
      <p:sp>
        <p:nvSpPr>
          <p:cNvPr id="13" name="Text 11"/>
          <p:cNvSpPr/>
          <p:nvPr/>
        </p:nvSpPr>
        <p:spPr>
          <a:xfrm>
            <a:off x="411480" y="2926080"/>
            <a:ext cx="3566160" cy="228600"/>
          </a:xfrm>
          <a:prstGeom prst="rect">
            <a:avLst/>
          </a:prstGeom>
          <a:noFill/>
          <a:ln/>
        </p:spPr>
        <p:txBody>
          <a:bodyPr wrap="square" lIns="0" tIns="0" rIns="0" bIns="0" rtlCol="0" anchor="ctr"/>
          <a:lstStyle/>
          <a:p>
            <a:pPr indent="0" marL="0">
              <a:buNone/>
            </a:pPr>
            <a:r>
              <a:rPr lang="en-US" sz="900" dirty="0">
                <a:solidFill>
                  <a:srgbClr val="E8B96A"/>
                </a:solidFill>
                <a:latin typeface="Consolas" pitchFamily="34" charset="0"/>
                <a:ea typeface="Consolas" pitchFamily="34" charset="-122"/>
                <a:cs typeface="Consolas" pitchFamily="34" charset="-120"/>
              </a:rPr>
              <a:t>  📁 features/</a:t>
            </a:r>
            <a:endParaRPr lang="en-US" sz="900" dirty="0"/>
          </a:p>
        </p:txBody>
      </p:sp>
      <p:sp>
        <p:nvSpPr>
          <p:cNvPr id="14" name="Text 12"/>
          <p:cNvSpPr/>
          <p:nvPr/>
        </p:nvSpPr>
        <p:spPr>
          <a:xfrm>
            <a:off x="411480" y="3172968"/>
            <a:ext cx="3566160" cy="228600"/>
          </a:xfrm>
          <a:prstGeom prst="rect">
            <a:avLst/>
          </a:prstGeom>
          <a:noFill/>
          <a:ln/>
        </p:spPr>
        <p:txBody>
          <a:bodyPr wrap="square" lIns="0" tIns="0" rIns="0" bIns="0" rtlCol="0" anchor="ctr"/>
          <a:lstStyle/>
          <a:p>
            <a:pPr indent="0" marL="0">
              <a:buNone/>
            </a:pPr>
            <a:r>
              <a:rPr lang="en-US" sz="900" dirty="0">
                <a:solidFill>
                  <a:srgbClr val="CBD5E1"/>
                </a:solidFill>
                <a:latin typeface="Consolas" pitchFamily="34" charset="0"/>
                <a:ea typeface="Consolas" pitchFamily="34" charset="-122"/>
                <a:cs typeface="Consolas" pitchFamily="34" charset="-120"/>
              </a:rPr>
              <a:t>    📁 admin/  (11 pages)</a:t>
            </a:r>
            <a:endParaRPr lang="en-US" sz="900" dirty="0"/>
          </a:p>
        </p:txBody>
      </p:sp>
      <p:sp>
        <p:nvSpPr>
          <p:cNvPr id="15" name="Text 13"/>
          <p:cNvSpPr/>
          <p:nvPr/>
        </p:nvSpPr>
        <p:spPr>
          <a:xfrm>
            <a:off x="411480" y="3419856"/>
            <a:ext cx="3566160" cy="228600"/>
          </a:xfrm>
          <a:prstGeom prst="rect">
            <a:avLst/>
          </a:prstGeom>
          <a:noFill/>
          <a:ln/>
        </p:spPr>
        <p:txBody>
          <a:bodyPr wrap="square" lIns="0" tIns="0" rIns="0" bIns="0" rtlCol="0" anchor="ctr"/>
          <a:lstStyle/>
          <a:p>
            <a:pPr indent="0" marL="0">
              <a:buNone/>
            </a:pPr>
            <a:r>
              <a:rPr lang="en-US" sz="900" dirty="0">
                <a:solidFill>
                  <a:srgbClr val="CBD5E1"/>
                </a:solidFill>
                <a:latin typeface="Consolas" pitchFamily="34" charset="0"/>
                <a:ea typeface="Consolas" pitchFamily="34" charset="-122"/>
                <a:cs typeface="Consolas" pitchFamily="34" charset="-120"/>
              </a:rPr>
              <a:t>    📁 manager/  (9 pages)</a:t>
            </a:r>
            <a:endParaRPr lang="en-US" sz="900" dirty="0"/>
          </a:p>
        </p:txBody>
      </p:sp>
      <p:sp>
        <p:nvSpPr>
          <p:cNvPr id="16" name="Text 14"/>
          <p:cNvSpPr/>
          <p:nvPr/>
        </p:nvSpPr>
        <p:spPr>
          <a:xfrm>
            <a:off x="411480" y="3666744"/>
            <a:ext cx="3566160" cy="228600"/>
          </a:xfrm>
          <a:prstGeom prst="rect">
            <a:avLst/>
          </a:prstGeom>
          <a:noFill/>
          <a:ln/>
        </p:spPr>
        <p:txBody>
          <a:bodyPr wrap="square" lIns="0" tIns="0" rIns="0" bIns="0" rtlCol="0" anchor="ctr"/>
          <a:lstStyle/>
          <a:p>
            <a:pPr indent="0" marL="0">
              <a:buNone/>
            </a:pPr>
            <a:r>
              <a:rPr lang="en-US" sz="900" dirty="0">
                <a:solidFill>
                  <a:srgbClr val="CBD5E1"/>
                </a:solidFill>
                <a:latin typeface="Consolas" pitchFamily="34" charset="0"/>
                <a:ea typeface="Consolas" pitchFamily="34" charset="-122"/>
                <a:cs typeface="Consolas" pitchFamily="34" charset="-120"/>
              </a:rPr>
              <a:t>    📁 employee/  (8 pages)</a:t>
            </a:r>
            <a:endParaRPr lang="en-US" sz="900" dirty="0"/>
          </a:p>
        </p:txBody>
      </p:sp>
      <p:sp>
        <p:nvSpPr>
          <p:cNvPr id="17" name="Text 15"/>
          <p:cNvSpPr/>
          <p:nvPr/>
        </p:nvSpPr>
        <p:spPr>
          <a:xfrm>
            <a:off x="411480" y="3913632"/>
            <a:ext cx="3566160" cy="228600"/>
          </a:xfrm>
          <a:prstGeom prst="rect">
            <a:avLst/>
          </a:prstGeom>
          <a:noFill/>
          <a:ln/>
        </p:spPr>
        <p:txBody>
          <a:bodyPr wrap="square" lIns="0" tIns="0" rIns="0" bIns="0" rtlCol="0" anchor="ctr"/>
          <a:lstStyle/>
          <a:p>
            <a:pPr indent="0" marL="0">
              <a:buNone/>
            </a:pPr>
            <a:r>
              <a:rPr lang="en-US" sz="900" dirty="0">
                <a:solidFill>
                  <a:srgbClr val="CBD5E1"/>
                </a:solidFill>
                <a:latin typeface="Consolas" pitchFamily="34" charset="0"/>
                <a:ea typeface="Consolas" pitchFamily="34" charset="-122"/>
                <a:cs typeface="Consolas" pitchFamily="34" charset="-120"/>
              </a:rPr>
              <a:t>    📁 auth/  (login, unauthorized)</a:t>
            </a:r>
            <a:endParaRPr lang="en-US" sz="900" dirty="0"/>
          </a:p>
        </p:txBody>
      </p:sp>
      <p:sp>
        <p:nvSpPr>
          <p:cNvPr id="18" name="Text 16"/>
          <p:cNvSpPr/>
          <p:nvPr/>
        </p:nvSpPr>
        <p:spPr>
          <a:xfrm>
            <a:off x="411480" y="4160520"/>
            <a:ext cx="3566160" cy="228600"/>
          </a:xfrm>
          <a:prstGeom prst="rect">
            <a:avLst/>
          </a:prstGeom>
          <a:noFill/>
          <a:ln/>
        </p:spPr>
        <p:txBody>
          <a:bodyPr wrap="square" lIns="0" tIns="0" rIns="0" bIns="0" rtlCol="0" anchor="ctr"/>
          <a:lstStyle/>
          <a:p>
            <a:pPr indent="0" marL="0">
              <a:buNone/>
            </a:pPr>
            <a:r>
              <a:rPr lang="en-US" sz="900" dirty="0">
                <a:solidFill>
                  <a:srgbClr val="E8B96A"/>
                </a:solidFill>
                <a:latin typeface="Consolas" pitchFamily="34" charset="0"/>
                <a:ea typeface="Consolas" pitchFamily="34" charset="-122"/>
                <a:cs typeface="Consolas" pitchFamily="34" charset="-120"/>
              </a:rPr>
              <a:t>  📄 app.routes.ts</a:t>
            </a:r>
            <a:endParaRPr lang="en-US" sz="900" dirty="0"/>
          </a:p>
        </p:txBody>
      </p:sp>
      <p:sp>
        <p:nvSpPr>
          <p:cNvPr id="19" name="Text 17"/>
          <p:cNvSpPr/>
          <p:nvPr/>
        </p:nvSpPr>
        <p:spPr>
          <a:xfrm>
            <a:off x="411480" y="4407408"/>
            <a:ext cx="3566160" cy="228600"/>
          </a:xfrm>
          <a:prstGeom prst="rect">
            <a:avLst/>
          </a:prstGeom>
          <a:noFill/>
          <a:ln/>
        </p:spPr>
        <p:txBody>
          <a:bodyPr wrap="square" lIns="0" tIns="0" rIns="0" bIns="0" rtlCol="0" anchor="ctr"/>
          <a:lstStyle/>
          <a:p>
            <a:pPr indent="0" marL="0">
              <a:buNone/>
            </a:pPr>
            <a:r>
              <a:rPr lang="en-US" sz="900" dirty="0">
                <a:solidFill>
                  <a:srgbClr val="E8B96A"/>
                </a:solidFill>
                <a:latin typeface="Consolas" pitchFamily="34" charset="0"/>
                <a:ea typeface="Consolas" pitchFamily="34" charset="-122"/>
                <a:cs typeface="Consolas" pitchFamily="34" charset="-120"/>
              </a:rPr>
              <a:t>  📄 app.config.ts</a:t>
            </a:r>
            <a:endParaRPr lang="en-US" sz="900" dirty="0"/>
          </a:p>
        </p:txBody>
      </p:sp>
      <p:sp>
        <p:nvSpPr>
          <p:cNvPr id="20" name="Shape 18"/>
          <p:cNvSpPr/>
          <p:nvPr/>
        </p:nvSpPr>
        <p:spPr>
          <a:xfrm>
            <a:off x="4343400" y="1261872"/>
            <a:ext cx="4526280" cy="54864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4343400" y="1261872"/>
            <a:ext cx="54864" cy="548640"/>
          </a:xfrm>
          <a:prstGeom prst="rect">
            <a:avLst/>
          </a:prstGeom>
          <a:solidFill>
            <a:srgbClr val="0D9488"/>
          </a:solidFill>
          <a:ln/>
        </p:spPr>
      </p:sp>
      <p:sp>
        <p:nvSpPr>
          <p:cNvPr id="22" name="Text 20"/>
          <p:cNvSpPr/>
          <p:nvPr/>
        </p:nvSpPr>
        <p:spPr>
          <a:xfrm>
            <a:off x="4480560" y="1307592"/>
            <a:ext cx="4251960" cy="20116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Standalone Components</a:t>
            </a:r>
            <a:endParaRPr lang="en-US" sz="1050" dirty="0"/>
          </a:p>
        </p:txBody>
      </p:sp>
      <p:sp>
        <p:nvSpPr>
          <p:cNvPr id="23" name="Text 21"/>
          <p:cNvSpPr/>
          <p:nvPr/>
        </p:nvSpPr>
        <p:spPr>
          <a:xfrm>
            <a:off x="4480560" y="1536192"/>
            <a:ext cx="425196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All components use Angular 17 standalone API — no NgModules required</a:t>
            </a:r>
            <a:endParaRPr lang="en-US" sz="900" dirty="0"/>
          </a:p>
        </p:txBody>
      </p:sp>
      <p:sp>
        <p:nvSpPr>
          <p:cNvPr id="24" name="Shape 22"/>
          <p:cNvSpPr/>
          <p:nvPr/>
        </p:nvSpPr>
        <p:spPr>
          <a:xfrm>
            <a:off x="4343400" y="1874520"/>
            <a:ext cx="4526280" cy="54864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4343400" y="1874520"/>
            <a:ext cx="54864" cy="548640"/>
          </a:xfrm>
          <a:prstGeom prst="rect">
            <a:avLst/>
          </a:prstGeom>
          <a:solidFill>
            <a:srgbClr val="0D9488"/>
          </a:solidFill>
          <a:ln/>
        </p:spPr>
      </p:sp>
      <p:sp>
        <p:nvSpPr>
          <p:cNvPr id="26" name="Text 24"/>
          <p:cNvSpPr/>
          <p:nvPr/>
        </p:nvSpPr>
        <p:spPr>
          <a:xfrm>
            <a:off x="4480560" y="1920240"/>
            <a:ext cx="4251960" cy="20116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Lazy Loading</a:t>
            </a:r>
            <a:endParaRPr lang="en-US" sz="1050" dirty="0"/>
          </a:p>
        </p:txBody>
      </p:sp>
      <p:sp>
        <p:nvSpPr>
          <p:cNvPr id="27" name="Text 25"/>
          <p:cNvSpPr/>
          <p:nvPr/>
        </p:nvSpPr>
        <p:spPr>
          <a:xfrm>
            <a:off x="4480560" y="2148840"/>
            <a:ext cx="425196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All routes use loadComponent() for code splitting and faster initial load</a:t>
            </a:r>
            <a:endParaRPr lang="en-US" sz="900" dirty="0"/>
          </a:p>
        </p:txBody>
      </p:sp>
      <p:sp>
        <p:nvSpPr>
          <p:cNvPr id="28" name="Shape 26"/>
          <p:cNvSpPr/>
          <p:nvPr/>
        </p:nvSpPr>
        <p:spPr>
          <a:xfrm>
            <a:off x="4343400" y="2487168"/>
            <a:ext cx="4526280" cy="54864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29" name="Shape 27"/>
          <p:cNvSpPr/>
          <p:nvPr/>
        </p:nvSpPr>
        <p:spPr>
          <a:xfrm>
            <a:off x="4343400" y="2487168"/>
            <a:ext cx="54864" cy="548640"/>
          </a:xfrm>
          <a:prstGeom prst="rect">
            <a:avLst/>
          </a:prstGeom>
          <a:solidFill>
            <a:srgbClr val="0D9488"/>
          </a:solidFill>
          <a:ln/>
        </p:spPr>
      </p:sp>
      <p:sp>
        <p:nvSpPr>
          <p:cNvPr id="30" name="Text 28"/>
          <p:cNvSpPr/>
          <p:nvPr/>
        </p:nvSpPr>
        <p:spPr>
          <a:xfrm>
            <a:off x="4480560" y="2532888"/>
            <a:ext cx="4251960" cy="20116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Route Guards</a:t>
            </a:r>
            <a:endParaRPr lang="en-US" sz="1050" dirty="0"/>
          </a:p>
        </p:txBody>
      </p:sp>
      <p:sp>
        <p:nvSpPr>
          <p:cNvPr id="31" name="Text 29"/>
          <p:cNvSpPr/>
          <p:nvPr/>
        </p:nvSpPr>
        <p:spPr>
          <a:xfrm>
            <a:off x="4480560" y="2761488"/>
            <a:ext cx="425196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adminGuard, managerGuard, employeeGuard control access per user role</a:t>
            </a:r>
            <a:endParaRPr lang="en-US" sz="900" dirty="0"/>
          </a:p>
        </p:txBody>
      </p:sp>
      <p:sp>
        <p:nvSpPr>
          <p:cNvPr id="32" name="Shape 30"/>
          <p:cNvSpPr/>
          <p:nvPr/>
        </p:nvSpPr>
        <p:spPr>
          <a:xfrm>
            <a:off x="4343400" y="3099816"/>
            <a:ext cx="4526280" cy="54864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4343400" y="3099816"/>
            <a:ext cx="54864" cy="548640"/>
          </a:xfrm>
          <a:prstGeom prst="rect">
            <a:avLst/>
          </a:prstGeom>
          <a:solidFill>
            <a:srgbClr val="0D9488"/>
          </a:solidFill>
          <a:ln/>
        </p:spPr>
      </p:sp>
      <p:sp>
        <p:nvSpPr>
          <p:cNvPr id="34" name="Text 32"/>
          <p:cNvSpPr/>
          <p:nvPr/>
        </p:nvSpPr>
        <p:spPr>
          <a:xfrm>
            <a:off x="4480560" y="3145536"/>
            <a:ext cx="4251960" cy="20116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JWT Interceptor</a:t>
            </a:r>
            <a:endParaRPr lang="en-US" sz="1050" dirty="0"/>
          </a:p>
        </p:txBody>
      </p:sp>
      <p:sp>
        <p:nvSpPr>
          <p:cNvPr id="35" name="Text 33"/>
          <p:cNvSpPr/>
          <p:nvPr/>
        </p:nvSpPr>
        <p:spPr>
          <a:xfrm>
            <a:off x="4480560" y="3374136"/>
            <a:ext cx="425196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HttpInterceptor auto-attaches Bearer token to every outgoing API request</a:t>
            </a:r>
            <a:endParaRPr lang="en-US" sz="900" dirty="0"/>
          </a:p>
        </p:txBody>
      </p:sp>
      <p:sp>
        <p:nvSpPr>
          <p:cNvPr id="36" name="Shape 34"/>
          <p:cNvSpPr/>
          <p:nvPr/>
        </p:nvSpPr>
        <p:spPr>
          <a:xfrm>
            <a:off x="4343400" y="3712464"/>
            <a:ext cx="4526280" cy="54864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37" name="Shape 35"/>
          <p:cNvSpPr/>
          <p:nvPr/>
        </p:nvSpPr>
        <p:spPr>
          <a:xfrm>
            <a:off x="4343400" y="3712464"/>
            <a:ext cx="54864" cy="548640"/>
          </a:xfrm>
          <a:prstGeom prst="rect">
            <a:avLst/>
          </a:prstGeom>
          <a:solidFill>
            <a:srgbClr val="0D9488"/>
          </a:solidFill>
          <a:ln/>
        </p:spPr>
      </p:sp>
      <p:sp>
        <p:nvSpPr>
          <p:cNvPr id="38" name="Text 36"/>
          <p:cNvSpPr/>
          <p:nvPr/>
        </p:nvSpPr>
        <p:spPr>
          <a:xfrm>
            <a:off x="4480560" y="3758184"/>
            <a:ext cx="4251960" cy="20116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Response Interceptor</a:t>
            </a:r>
            <a:endParaRPr lang="en-US" sz="1050" dirty="0"/>
          </a:p>
        </p:txBody>
      </p:sp>
      <p:sp>
        <p:nvSpPr>
          <p:cNvPr id="39" name="Text 37"/>
          <p:cNvSpPr/>
          <p:nvPr/>
        </p:nvSpPr>
        <p:spPr>
          <a:xfrm>
            <a:off x="4480560" y="3986784"/>
            <a:ext cx="425196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Handles global error responses, unauthorized (401) redirect to login</a:t>
            </a:r>
            <a:endParaRPr lang="en-US" sz="900" dirty="0"/>
          </a:p>
        </p:txBody>
      </p:sp>
      <p:sp>
        <p:nvSpPr>
          <p:cNvPr id="40" name="Shape 38"/>
          <p:cNvSpPr/>
          <p:nvPr/>
        </p:nvSpPr>
        <p:spPr>
          <a:xfrm>
            <a:off x="4343400" y="4325112"/>
            <a:ext cx="4526280" cy="548640"/>
          </a:xfrm>
          <a:prstGeom prst="rect">
            <a:avLst/>
          </a:prstGeom>
          <a:solidFill>
            <a:srgbClr val="FFFFFF"/>
          </a:solidFill>
          <a:ln w="5080">
            <a:solidFill>
              <a:srgbClr val="CBD5E1"/>
            </a:solidFill>
            <a:prstDash val="solid"/>
          </a:ln>
          <a:effectLst>
            <a:outerShdw sx="100000" sy="100000" kx="0" ky="0" algn="bl" rotWithShape="0" blurRad="101600" dist="38100" dir="8100000">
              <a:srgbClr val="000000">
                <a:alpha val="12000"/>
              </a:srgbClr>
            </a:outerShdw>
          </a:effectLst>
        </p:spPr>
      </p:sp>
      <p:sp>
        <p:nvSpPr>
          <p:cNvPr id="41" name="Shape 39"/>
          <p:cNvSpPr/>
          <p:nvPr/>
        </p:nvSpPr>
        <p:spPr>
          <a:xfrm>
            <a:off x="4343400" y="4325112"/>
            <a:ext cx="54864" cy="548640"/>
          </a:xfrm>
          <a:prstGeom prst="rect">
            <a:avLst/>
          </a:prstGeom>
          <a:solidFill>
            <a:srgbClr val="0D9488"/>
          </a:solidFill>
          <a:ln/>
        </p:spPr>
      </p:sp>
      <p:sp>
        <p:nvSpPr>
          <p:cNvPr id="42" name="Text 40"/>
          <p:cNvSpPr/>
          <p:nvPr/>
        </p:nvSpPr>
        <p:spPr>
          <a:xfrm>
            <a:off x="4480560" y="4370832"/>
            <a:ext cx="4251960" cy="20116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5 Angular Services</a:t>
            </a:r>
            <a:endParaRPr lang="en-US" sz="1050" dirty="0"/>
          </a:p>
        </p:txBody>
      </p:sp>
      <p:sp>
        <p:nvSpPr>
          <p:cNvPr id="43" name="Text 41"/>
          <p:cNvSpPr/>
          <p:nvPr/>
        </p:nvSpPr>
        <p:spPr>
          <a:xfrm>
            <a:off x="4480560" y="4599432"/>
            <a:ext cx="425196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AuthService, AdminService, ManagerService, EmployeeService, LeaveService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B2A4A"/>
          </a:solidFill>
          <a:ln/>
        </p:spPr>
      </p:sp>
      <p:sp>
        <p:nvSpPr>
          <p:cNvPr id="3" name="Shape 1"/>
          <p:cNvSpPr/>
          <p:nvPr/>
        </p:nvSpPr>
        <p:spPr>
          <a:xfrm>
            <a:off x="0" y="1097280"/>
            <a:ext cx="9144000" cy="54864"/>
          </a:xfrm>
          <a:prstGeom prst="rect">
            <a:avLst/>
          </a:prstGeom>
          <a:solidFill>
            <a:srgbClr val="C9973A"/>
          </a:solidFill>
          <a:ln/>
        </p:spPr>
      </p:sp>
      <p:sp>
        <p:nvSpPr>
          <p:cNvPr id="4" name="Text 2"/>
          <p:cNvSpPr/>
          <p:nvPr/>
        </p:nvSpPr>
        <p:spPr>
          <a:xfrm>
            <a:off x="365760" y="13716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Testing Strategy</a:t>
            </a:r>
            <a:endParaRPr lang="en-US" sz="2600" dirty="0"/>
          </a:p>
        </p:txBody>
      </p:sp>
      <p:sp>
        <p:nvSpPr>
          <p:cNvPr id="5" name="Text 3"/>
          <p:cNvSpPr/>
          <p:nvPr/>
        </p:nvSpPr>
        <p:spPr>
          <a:xfrm>
            <a:off x="365760" y="685800"/>
            <a:ext cx="8229600" cy="347472"/>
          </a:xfrm>
          <a:prstGeom prst="rect">
            <a:avLst/>
          </a:prstGeom>
          <a:noFill/>
          <a:ln/>
        </p:spPr>
        <p:txBody>
          <a:bodyPr wrap="square" lIns="0" tIns="0" rIns="0" bIns="0" rtlCol="0" anchor="ctr"/>
          <a:lstStyle/>
          <a:p>
            <a:pPr indent="0" marL="0">
              <a:buNone/>
            </a:pPr>
            <a:r>
              <a:rPr lang="en-US" sz="1300" dirty="0">
                <a:solidFill>
                  <a:srgbClr val="E8B96A"/>
                </a:solidFill>
                <a:latin typeface="Calibri" pitchFamily="34" charset="0"/>
                <a:ea typeface="Calibri" pitchFamily="34" charset="-122"/>
                <a:cs typeface="Calibri" pitchFamily="34" charset="-120"/>
              </a:rPr>
              <a:t>Unit tests covering critical service layers with JUnit 5 &amp; Mockito</a:t>
            </a:r>
            <a:endParaRPr lang="en-US" sz="1300" dirty="0"/>
          </a:p>
        </p:txBody>
      </p:sp>
      <p:sp>
        <p:nvSpPr>
          <p:cNvPr id="6" name="Shape 4"/>
          <p:cNvSpPr/>
          <p:nvPr/>
        </p:nvSpPr>
        <p:spPr>
          <a:xfrm>
            <a:off x="228600" y="1234440"/>
            <a:ext cx="2743200" cy="384048"/>
          </a:xfrm>
          <a:prstGeom prst="rect">
            <a:avLst/>
          </a:prstGeom>
          <a:solidFill>
            <a:srgbClr val="1B2A4A"/>
          </a:solidFill>
          <a:ln/>
        </p:spPr>
      </p:sp>
      <p:sp>
        <p:nvSpPr>
          <p:cNvPr id="7" name="Text 5"/>
          <p:cNvSpPr/>
          <p:nvPr/>
        </p:nvSpPr>
        <p:spPr>
          <a:xfrm>
            <a:off x="320040" y="1234440"/>
            <a:ext cx="2560320" cy="384048"/>
          </a:xfrm>
          <a:prstGeom prst="rect">
            <a:avLst/>
          </a:prstGeom>
          <a:noFill/>
          <a:ln/>
        </p:spPr>
        <p:txBody>
          <a:bodyPr wrap="square" lIns="0" tIns="0" rIns="0" bIns="0" rtlCol="0" anchor="ctr"/>
          <a:lstStyle/>
          <a:p>
            <a:pPr indent="0" marL="0">
              <a:buNone/>
            </a:pPr>
            <a:r>
              <a:rPr lang="en-US" sz="950" b="1" dirty="0">
                <a:solidFill>
                  <a:srgbClr val="FFFFFF"/>
                </a:solidFill>
                <a:latin typeface="Consolas" pitchFamily="34" charset="0"/>
                <a:ea typeface="Consolas" pitchFamily="34" charset="-122"/>
                <a:cs typeface="Consolas" pitchFamily="34" charset="-120"/>
              </a:rPr>
              <a:t>UserServiceTest.java</a:t>
            </a:r>
            <a:endParaRPr lang="en-US" sz="950" dirty="0"/>
          </a:p>
        </p:txBody>
      </p:sp>
      <p:sp>
        <p:nvSpPr>
          <p:cNvPr id="8" name="Shape 6"/>
          <p:cNvSpPr/>
          <p:nvPr/>
        </p:nvSpPr>
        <p:spPr>
          <a:xfrm>
            <a:off x="228600" y="1618488"/>
            <a:ext cx="2743200" cy="35204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9" name="Shape 7"/>
          <p:cNvSpPr/>
          <p:nvPr/>
        </p:nvSpPr>
        <p:spPr>
          <a:xfrm>
            <a:off x="356616" y="1801368"/>
            <a:ext cx="109728" cy="109728"/>
          </a:xfrm>
          <a:prstGeom prst="ellipse">
            <a:avLst/>
          </a:prstGeom>
          <a:solidFill>
            <a:srgbClr val="1B2A4A"/>
          </a:solidFill>
          <a:ln/>
        </p:spPr>
      </p:sp>
      <p:sp>
        <p:nvSpPr>
          <p:cNvPr id="10" name="Text 8"/>
          <p:cNvSpPr/>
          <p:nvPr/>
        </p:nvSpPr>
        <p:spPr>
          <a:xfrm>
            <a:off x="521208" y="1764792"/>
            <a:ext cx="2331720"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testAddEmployee_Success</a:t>
            </a:r>
            <a:endParaRPr lang="en-US" sz="950" dirty="0"/>
          </a:p>
        </p:txBody>
      </p:sp>
      <p:sp>
        <p:nvSpPr>
          <p:cNvPr id="11" name="Text 9"/>
          <p:cNvSpPr/>
          <p:nvPr/>
        </p:nvSpPr>
        <p:spPr>
          <a:xfrm>
            <a:off x="521208" y="1984248"/>
            <a:ext cx="233172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creates employee with correct role &amp; dept</a:t>
            </a:r>
            <a:endParaRPr lang="en-US" sz="850" dirty="0"/>
          </a:p>
        </p:txBody>
      </p:sp>
      <p:sp>
        <p:nvSpPr>
          <p:cNvPr id="12" name="Shape 10"/>
          <p:cNvSpPr/>
          <p:nvPr/>
        </p:nvSpPr>
        <p:spPr>
          <a:xfrm>
            <a:off x="356616" y="2459736"/>
            <a:ext cx="109728" cy="109728"/>
          </a:xfrm>
          <a:prstGeom prst="ellipse">
            <a:avLst/>
          </a:prstGeom>
          <a:solidFill>
            <a:srgbClr val="1B2A4A"/>
          </a:solidFill>
          <a:ln/>
        </p:spPr>
      </p:sp>
      <p:sp>
        <p:nvSpPr>
          <p:cNvPr id="13" name="Text 11"/>
          <p:cNvSpPr/>
          <p:nvPr/>
        </p:nvSpPr>
        <p:spPr>
          <a:xfrm>
            <a:off x="521208" y="2423160"/>
            <a:ext cx="2331720"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testAddEmployee_DuplicateEmail</a:t>
            </a:r>
            <a:endParaRPr lang="en-US" sz="950" dirty="0"/>
          </a:p>
        </p:txBody>
      </p:sp>
      <p:sp>
        <p:nvSpPr>
          <p:cNvPr id="14" name="Text 12"/>
          <p:cNvSpPr/>
          <p:nvPr/>
        </p:nvSpPr>
        <p:spPr>
          <a:xfrm>
            <a:off x="521208" y="2642616"/>
            <a:ext cx="233172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throws exception for duplicate email</a:t>
            </a:r>
            <a:endParaRPr lang="en-US" sz="850" dirty="0"/>
          </a:p>
        </p:txBody>
      </p:sp>
      <p:sp>
        <p:nvSpPr>
          <p:cNvPr id="15" name="Shape 13"/>
          <p:cNvSpPr/>
          <p:nvPr/>
        </p:nvSpPr>
        <p:spPr>
          <a:xfrm>
            <a:off x="356616" y="3118104"/>
            <a:ext cx="109728" cy="109728"/>
          </a:xfrm>
          <a:prstGeom prst="ellipse">
            <a:avLst/>
          </a:prstGeom>
          <a:solidFill>
            <a:srgbClr val="1B2A4A"/>
          </a:solidFill>
          <a:ln/>
        </p:spPr>
      </p:sp>
      <p:sp>
        <p:nvSpPr>
          <p:cNvPr id="16" name="Text 14"/>
          <p:cNvSpPr/>
          <p:nvPr/>
        </p:nvSpPr>
        <p:spPr>
          <a:xfrm>
            <a:off x="521208" y="3081528"/>
            <a:ext cx="2331720"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testGetCurrentUser_Success</a:t>
            </a:r>
            <a:endParaRPr lang="en-US" sz="950" dirty="0"/>
          </a:p>
        </p:txBody>
      </p:sp>
      <p:sp>
        <p:nvSpPr>
          <p:cNvPr id="17" name="Text 15"/>
          <p:cNvSpPr/>
          <p:nvPr/>
        </p:nvSpPr>
        <p:spPr>
          <a:xfrm>
            <a:off x="521208" y="3300984"/>
            <a:ext cx="233172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retrieves authenticated user</a:t>
            </a:r>
            <a:endParaRPr lang="en-US" sz="850" dirty="0"/>
          </a:p>
        </p:txBody>
      </p:sp>
      <p:sp>
        <p:nvSpPr>
          <p:cNvPr id="18" name="Shape 16"/>
          <p:cNvSpPr/>
          <p:nvPr/>
        </p:nvSpPr>
        <p:spPr>
          <a:xfrm>
            <a:off x="356616" y="3776472"/>
            <a:ext cx="109728" cy="109728"/>
          </a:xfrm>
          <a:prstGeom prst="ellipse">
            <a:avLst/>
          </a:prstGeom>
          <a:solidFill>
            <a:srgbClr val="1B2A4A"/>
          </a:solidFill>
          <a:ln/>
        </p:spPr>
      </p:sp>
      <p:sp>
        <p:nvSpPr>
          <p:cNvPr id="19" name="Text 17"/>
          <p:cNvSpPr/>
          <p:nvPr/>
        </p:nvSpPr>
        <p:spPr>
          <a:xfrm>
            <a:off x="521208" y="3739896"/>
            <a:ext cx="2331720"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testUpdateEmployee_Success</a:t>
            </a:r>
            <a:endParaRPr lang="en-US" sz="950" dirty="0"/>
          </a:p>
        </p:txBody>
      </p:sp>
      <p:sp>
        <p:nvSpPr>
          <p:cNvPr id="20" name="Text 18"/>
          <p:cNvSpPr/>
          <p:nvPr/>
        </p:nvSpPr>
        <p:spPr>
          <a:xfrm>
            <a:off x="521208" y="3959352"/>
            <a:ext cx="233172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updates user fields correctly</a:t>
            </a:r>
            <a:endParaRPr lang="en-US" sz="850" dirty="0"/>
          </a:p>
        </p:txBody>
      </p:sp>
      <p:sp>
        <p:nvSpPr>
          <p:cNvPr id="21" name="Shape 19"/>
          <p:cNvSpPr/>
          <p:nvPr/>
        </p:nvSpPr>
        <p:spPr>
          <a:xfrm>
            <a:off x="356616" y="4434840"/>
            <a:ext cx="109728" cy="109728"/>
          </a:xfrm>
          <a:prstGeom prst="ellipse">
            <a:avLst/>
          </a:prstGeom>
          <a:solidFill>
            <a:srgbClr val="1B2A4A"/>
          </a:solidFill>
          <a:ln/>
        </p:spPr>
      </p:sp>
      <p:sp>
        <p:nvSpPr>
          <p:cNvPr id="22" name="Text 20"/>
          <p:cNvSpPr/>
          <p:nvPr/>
        </p:nvSpPr>
        <p:spPr>
          <a:xfrm>
            <a:off x="521208" y="4398264"/>
            <a:ext cx="2331720"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testDeactivateEmployee</a:t>
            </a:r>
            <a:endParaRPr lang="en-US" sz="950" dirty="0"/>
          </a:p>
        </p:txBody>
      </p:sp>
      <p:sp>
        <p:nvSpPr>
          <p:cNvPr id="23" name="Text 21"/>
          <p:cNvSpPr/>
          <p:nvPr/>
        </p:nvSpPr>
        <p:spPr>
          <a:xfrm>
            <a:off x="521208" y="4617720"/>
            <a:ext cx="233172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sets status to 'Left'</a:t>
            </a:r>
            <a:endParaRPr lang="en-US" sz="850" dirty="0"/>
          </a:p>
        </p:txBody>
      </p:sp>
      <p:sp>
        <p:nvSpPr>
          <p:cNvPr id="24" name="Shape 22"/>
          <p:cNvSpPr/>
          <p:nvPr/>
        </p:nvSpPr>
        <p:spPr>
          <a:xfrm>
            <a:off x="3172968" y="1234440"/>
            <a:ext cx="2743200" cy="384048"/>
          </a:xfrm>
          <a:prstGeom prst="rect">
            <a:avLst/>
          </a:prstGeom>
          <a:solidFill>
            <a:srgbClr val="0D9488"/>
          </a:solidFill>
          <a:ln/>
        </p:spPr>
      </p:sp>
      <p:sp>
        <p:nvSpPr>
          <p:cNvPr id="25" name="Text 23"/>
          <p:cNvSpPr/>
          <p:nvPr/>
        </p:nvSpPr>
        <p:spPr>
          <a:xfrm>
            <a:off x="3264408" y="1234440"/>
            <a:ext cx="2560320" cy="384048"/>
          </a:xfrm>
          <a:prstGeom prst="rect">
            <a:avLst/>
          </a:prstGeom>
          <a:noFill/>
          <a:ln/>
        </p:spPr>
        <p:txBody>
          <a:bodyPr wrap="square" lIns="0" tIns="0" rIns="0" bIns="0" rtlCol="0" anchor="ctr"/>
          <a:lstStyle/>
          <a:p>
            <a:pPr indent="0" marL="0">
              <a:buNone/>
            </a:pPr>
            <a:r>
              <a:rPr lang="en-US" sz="950" b="1" dirty="0">
                <a:solidFill>
                  <a:srgbClr val="FFFFFF"/>
                </a:solidFill>
                <a:latin typeface="Consolas" pitchFamily="34" charset="0"/>
                <a:ea typeface="Consolas" pitchFamily="34" charset="-122"/>
                <a:cs typeface="Consolas" pitchFamily="34" charset="-120"/>
              </a:rPr>
              <a:t>LeaveApplicationServiceTest.java</a:t>
            </a:r>
            <a:endParaRPr lang="en-US" sz="950" dirty="0"/>
          </a:p>
        </p:txBody>
      </p:sp>
      <p:sp>
        <p:nvSpPr>
          <p:cNvPr id="26" name="Shape 24"/>
          <p:cNvSpPr/>
          <p:nvPr/>
        </p:nvSpPr>
        <p:spPr>
          <a:xfrm>
            <a:off x="3172968" y="1618488"/>
            <a:ext cx="2743200" cy="35204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7" name="Shape 25"/>
          <p:cNvSpPr/>
          <p:nvPr/>
        </p:nvSpPr>
        <p:spPr>
          <a:xfrm>
            <a:off x="3300984" y="1801368"/>
            <a:ext cx="109728" cy="109728"/>
          </a:xfrm>
          <a:prstGeom prst="ellipse">
            <a:avLst/>
          </a:prstGeom>
          <a:solidFill>
            <a:srgbClr val="0D9488"/>
          </a:solidFill>
          <a:ln/>
        </p:spPr>
      </p:sp>
      <p:sp>
        <p:nvSpPr>
          <p:cNvPr id="28" name="Text 26"/>
          <p:cNvSpPr/>
          <p:nvPr/>
        </p:nvSpPr>
        <p:spPr>
          <a:xfrm>
            <a:off x="3465576" y="1764792"/>
            <a:ext cx="2331720"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testApplyForLeave_Success</a:t>
            </a:r>
            <a:endParaRPr lang="en-US" sz="950" dirty="0"/>
          </a:p>
        </p:txBody>
      </p:sp>
      <p:sp>
        <p:nvSpPr>
          <p:cNvPr id="29" name="Text 27"/>
          <p:cNvSpPr/>
          <p:nvPr/>
        </p:nvSpPr>
        <p:spPr>
          <a:xfrm>
            <a:off x="3465576" y="1984248"/>
            <a:ext cx="233172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creates leave &amp; sends notification</a:t>
            </a:r>
            <a:endParaRPr lang="en-US" sz="850" dirty="0"/>
          </a:p>
        </p:txBody>
      </p:sp>
      <p:sp>
        <p:nvSpPr>
          <p:cNvPr id="30" name="Shape 28"/>
          <p:cNvSpPr/>
          <p:nvPr/>
        </p:nvSpPr>
        <p:spPr>
          <a:xfrm>
            <a:off x="3300984" y="2459736"/>
            <a:ext cx="109728" cy="109728"/>
          </a:xfrm>
          <a:prstGeom prst="ellipse">
            <a:avLst/>
          </a:prstGeom>
          <a:solidFill>
            <a:srgbClr val="0D9488"/>
          </a:solidFill>
          <a:ln/>
        </p:spPr>
      </p:sp>
      <p:sp>
        <p:nvSpPr>
          <p:cNvPr id="31" name="Text 29"/>
          <p:cNvSpPr/>
          <p:nvPr/>
        </p:nvSpPr>
        <p:spPr>
          <a:xfrm>
            <a:off x="3465576" y="2423160"/>
            <a:ext cx="2331720"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testApplyForLeave_UserNotFound</a:t>
            </a:r>
            <a:endParaRPr lang="en-US" sz="950" dirty="0"/>
          </a:p>
        </p:txBody>
      </p:sp>
      <p:sp>
        <p:nvSpPr>
          <p:cNvPr id="32" name="Text 30"/>
          <p:cNvSpPr/>
          <p:nvPr/>
        </p:nvSpPr>
        <p:spPr>
          <a:xfrm>
            <a:off x="3465576" y="2642616"/>
            <a:ext cx="233172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throws RuntimeException</a:t>
            </a:r>
            <a:endParaRPr lang="en-US" sz="850" dirty="0"/>
          </a:p>
        </p:txBody>
      </p:sp>
      <p:sp>
        <p:nvSpPr>
          <p:cNvPr id="33" name="Shape 31"/>
          <p:cNvSpPr/>
          <p:nvPr/>
        </p:nvSpPr>
        <p:spPr>
          <a:xfrm>
            <a:off x="3300984" y="3118104"/>
            <a:ext cx="109728" cy="109728"/>
          </a:xfrm>
          <a:prstGeom prst="ellipse">
            <a:avLst/>
          </a:prstGeom>
          <a:solidFill>
            <a:srgbClr val="0D9488"/>
          </a:solidFill>
          <a:ln/>
        </p:spPr>
      </p:sp>
      <p:sp>
        <p:nvSpPr>
          <p:cNvPr id="34" name="Text 32"/>
          <p:cNvSpPr/>
          <p:nvPr/>
        </p:nvSpPr>
        <p:spPr>
          <a:xfrm>
            <a:off x="3465576" y="3081528"/>
            <a:ext cx="2331720"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testApproveLeave_Success</a:t>
            </a:r>
            <a:endParaRPr lang="en-US" sz="950" dirty="0"/>
          </a:p>
        </p:txBody>
      </p:sp>
      <p:sp>
        <p:nvSpPr>
          <p:cNvPr id="35" name="Text 33"/>
          <p:cNvSpPr/>
          <p:nvPr/>
        </p:nvSpPr>
        <p:spPr>
          <a:xfrm>
            <a:off x="3465576" y="3300984"/>
            <a:ext cx="233172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updates status to APPROVED</a:t>
            </a:r>
            <a:endParaRPr lang="en-US" sz="850" dirty="0"/>
          </a:p>
        </p:txBody>
      </p:sp>
      <p:sp>
        <p:nvSpPr>
          <p:cNvPr id="36" name="Shape 34"/>
          <p:cNvSpPr/>
          <p:nvPr/>
        </p:nvSpPr>
        <p:spPr>
          <a:xfrm>
            <a:off x="3300984" y="3776472"/>
            <a:ext cx="109728" cy="109728"/>
          </a:xfrm>
          <a:prstGeom prst="ellipse">
            <a:avLst/>
          </a:prstGeom>
          <a:solidFill>
            <a:srgbClr val="0D9488"/>
          </a:solidFill>
          <a:ln/>
        </p:spPr>
      </p:sp>
      <p:sp>
        <p:nvSpPr>
          <p:cNvPr id="37" name="Text 35"/>
          <p:cNvSpPr/>
          <p:nvPr/>
        </p:nvSpPr>
        <p:spPr>
          <a:xfrm>
            <a:off x="3465576" y="3739896"/>
            <a:ext cx="2331720"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testApproveLeave_AlreadyApproved</a:t>
            </a:r>
            <a:endParaRPr lang="en-US" sz="950" dirty="0"/>
          </a:p>
        </p:txBody>
      </p:sp>
      <p:sp>
        <p:nvSpPr>
          <p:cNvPr id="38" name="Text 36"/>
          <p:cNvSpPr/>
          <p:nvPr/>
        </p:nvSpPr>
        <p:spPr>
          <a:xfrm>
            <a:off x="3465576" y="3959352"/>
            <a:ext cx="233172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throws exception for non-pending</a:t>
            </a:r>
            <a:endParaRPr lang="en-US" sz="850" dirty="0"/>
          </a:p>
        </p:txBody>
      </p:sp>
      <p:sp>
        <p:nvSpPr>
          <p:cNvPr id="39" name="Shape 37"/>
          <p:cNvSpPr/>
          <p:nvPr/>
        </p:nvSpPr>
        <p:spPr>
          <a:xfrm>
            <a:off x="3300984" y="4434840"/>
            <a:ext cx="109728" cy="109728"/>
          </a:xfrm>
          <a:prstGeom prst="ellipse">
            <a:avLst/>
          </a:prstGeom>
          <a:solidFill>
            <a:srgbClr val="0D9488"/>
          </a:solidFill>
          <a:ln/>
        </p:spPr>
      </p:sp>
      <p:sp>
        <p:nvSpPr>
          <p:cNvPr id="40" name="Text 38"/>
          <p:cNvSpPr/>
          <p:nvPr/>
        </p:nvSpPr>
        <p:spPr>
          <a:xfrm>
            <a:off x="3465576" y="4398264"/>
            <a:ext cx="2331720"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testRejectLeave_Success</a:t>
            </a:r>
            <a:endParaRPr lang="en-US" sz="950" dirty="0"/>
          </a:p>
        </p:txBody>
      </p:sp>
      <p:sp>
        <p:nvSpPr>
          <p:cNvPr id="41" name="Text 39"/>
          <p:cNvSpPr/>
          <p:nvPr/>
        </p:nvSpPr>
        <p:spPr>
          <a:xfrm>
            <a:off x="3465576" y="4617720"/>
            <a:ext cx="233172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updates status to REJECTED</a:t>
            </a:r>
            <a:endParaRPr lang="en-US" sz="850" dirty="0"/>
          </a:p>
        </p:txBody>
      </p:sp>
      <p:sp>
        <p:nvSpPr>
          <p:cNvPr id="42" name="Shape 40"/>
          <p:cNvSpPr/>
          <p:nvPr/>
        </p:nvSpPr>
        <p:spPr>
          <a:xfrm>
            <a:off x="6117336" y="1234440"/>
            <a:ext cx="2743200" cy="384048"/>
          </a:xfrm>
          <a:prstGeom prst="rect">
            <a:avLst/>
          </a:prstGeom>
          <a:solidFill>
            <a:srgbClr val="C9973A"/>
          </a:solidFill>
          <a:ln/>
        </p:spPr>
      </p:sp>
      <p:sp>
        <p:nvSpPr>
          <p:cNvPr id="43" name="Text 41"/>
          <p:cNvSpPr/>
          <p:nvPr/>
        </p:nvSpPr>
        <p:spPr>
          <a:xfrm>
            <a:off x="6208776" y="1234440"/>
            <a:ext cx="2560320" cy="384048"/>
          </a:xfrm>
          <a:prstGeom prst="rect">
            <a:avLst/>
          </a:prstGeom>
          <a:noFill/>
          <a:ln/>
        </p:spPr>
        <p:txBody>
          <a:bodyPr wrap="square" lIns="0" tIns="0" rIns="0" bIns="0" rtlCol="0" anchor="ctr"/>
          <a:lstStyle/>
          <a:p>
            <a:pPr indent="0" marL="0">
              <a:buNone/>
            </a:pPr>
            <a:r>
              <a:rPr lang="en-US" sz="950" b="1" dirty="0">
                <a:solidFill>
                  <a:srgbClr val="FFFFFF"/>
                </a:solidFill>
                <a:latin typeface="Consolas" pitchFamily="34" charset="0"/>
                <a:ea typeface="Consolas" pitchFamily="34" charset="-122"/>
                <a:cs typeface="Consolas" pitchFamily="34" charset="-120"/>
              </a:rPr>
              <a:t>PerformanceReviewServiceTest.java</a:t>
            </a:r>
            <a:endParaRPr lang="en-US" sz="950" dirty="0"/>
          </a:p>
        </p:txBody>
      </p:sp>
      <p:sp>
        <p:nvSpPr>
          <p:cNvPr id="44" name="Shape 42"/>
          <p:cNvSpPr/>
          <p:nvPr/>
        </p:nvSpPr>
        <p:spPr>
          <a:xfrm>
            <a:off x="6117336" y="1618488"/>
            <a:ext cx="2743200" cy="35204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5" name="Shape 43"/>
          <p:cNvSpPr/>
          <p:nvPr/>
        </p:nvSpPr>
        <p:spPr>
          <a:xfrm>
            <a:off x="6245352" y="1801368"/>
            <a:ext cx="109728" cy="109728"/>
          </a:xfrm>
          <a:prstGeom prst="ellipse">
            <a:avLst/>
          </a:prstGeom>
          <a:solidFill>
            <a:srgbClr val="C9973A"/>
          </a:solidFill>
          <a:ln/>
        </p:spPr>
      </p:sp>
      <p:sp>
        <p:nvSpPr>
          <p:cNvPr id="46" name="Text 44"/>
          <p:cNvSpPr/>
          <p:nvPr/>
        </p:nvSpPr>
        <p:spPr>
          <a:xfrm>
            <a:off x="6409944" y="1764792"/>
            <a:ext cx="2331720"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testCreatePerformanceReview_Success</a:t>
            </a:r>
            <a:endParaRPr lang="en-US" sz="950" dirty="0"/>
          </a:p>
        </p:txBody>
      </p:sp>
      <p:sp>
        <p:nvSpPr>
          <p:cNvPr id="47" name="Text 45"/>
          <p:cNvSpPr/>
          <p:nvPr/>
        </p:nvSpPr>
        <p:spPr>
          <a:xfrm>
            <a:off x="6409944" y="1984248"/>
            <a:ext cx="233172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saves review in DRAFT</a:t>
            </a:r>
            <a:endParaRPr lang="en-US" sz="850" dirty="0"/>
          </a:p>
        </p:txBody>
      </p:sp>
      <p:sp>
        <p:nvSpPr>
          <p:cNvPr id="48" name="Shape 46"/>
          <p:cNvSpPr/>
          <p:nvPr/>
        </p:nvSpPr>
        <p:spPr>
          <a:xfrm>
            <a:off x="6245352" y="2459736"/>
            <a:ext cx="109728" cy="109728"/>
          </a:xfrm>
          <a:prstGeom prst="ellipse">
            <a:avLst/>
          </a:prstGeom>
          <a:solidFill>
            <a:srgbClr val="C9973A"/>
          </a:solidFill>
          <a:ln/>
        </p:spPr>
      </p:sp>
      <p:sp>
        <p:nvSpPr>
          <p:cNvPr id="49" name="Text 47"/>
          <p:cNvSpPr/>
          <p:nvPr/>
        </p:nvSpPr>
        <p:spPr>
          <a:xfrm>
            <a:off x="6409944" y="2423160"/>
            <a:ext cx="2331720"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testSubmitPerformanceReview_Success</a:t>
            </a:r>
            <a:endParaRPr lang="en-US" sz="950" dirty="0"/>
          </a:p>
        </p:txBody>
      </p:sp>
      <p:sp>
        <p:nvSpPr>
          <p:cNvPr id="50" name="Text 48"/>
          <p:cNvSpPr/>
          <p:nvPr/>
        </p:nvSpPr>
        <p:spPr>
          <a:xfrm>
            <a:off x="6409944" y="2642616"/>
            <a:ext cx="233172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transitions to SUBMITTED</a:t>
            </a:r>
            <a:endParaRPr lang="en-US" sz="850" dirty="0"/>
          </a:p>
        </p:txBody>
      </p:sp>
      <p:sp>
        <p:nvSpPr>
          <p:cNvPr id="51" name="Shape 49"/>
          <p:cNvSpPr/>
          <p:nvPr/>
        </p:nvSpPr>
        <p:spPr>
          <a:xfrm>
            <a:off x="6245352" y="3118104"/>
            <a:ext cx="109728" cy="109728"/>
          </a:xfrm>
          <a:prstGeom prst="ellipse">
            <a:avLst/>
          </a:prstGeom>
          <a:solidFill>
            <a:srgbClr val="C9973A"/>
          </a:solidFill>
          <a:ln/>
        </p:spPr>
      </p:sp>
      <p:sp>
        <p:nvSpPr>
          <p:cNvPr id="52" name="Text 50"/>
          <p:cNvSpPr/>
          <p:nvPr/>
        </p:nvSpPr>
        <p:spPr>
          <a:xfrm>
            <a:off x="6409944" y="3081528"/>
            <a:ext cx="2331720"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testSubmitReview_NotDraft</a:t>
            </a:r>
            <a:endParaRPr lang="en-US" sz="950" dirty="0"/>
          </a:p>
        </p:txBody>
      </p:sp>
      <p:sp>
        <p:nvSpPr>
          <p:cNvPr id="53" name="Text 51"/>
          <p:cNvSpPr/>
          <p:nvPr/>
        </p:nvSpPr>
        <p:spPr>
          <a:xfrm>
            <a:off x="6409944" y="3300984"/>
            <a:ext cx="233172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throws exception if already submitted</a:t>
            </a:r>
            <a:endParaRPr lang="en-US" sz="850" dirty="0"/>
          </a:p>
        </p:txBody>
      </p:sp>
      <p:sp>
        <p:nvSpPr>
          <p:cNvPr id="54" name="Shape 52"/>
          <p:cNvSpPr/>
          <p:nvPr/>
        </p:nvSpPr>
        <p:spPr>
          <a:xfrm>
            <a:off x="6245352" y="3776472"/>
            <a:ext cx="109728" cy="109728"/>
          </a:xfrm>
          <a:prstGeom prst="ellipse">
            <a:avLst/>
          </a:prstGeom>
          <a:solidFill>
            <a:srgbClr val="C9973A"/>
          </a:solidFill>
          <a:ln/>
        </p:spPr>
      </p:sp>
      <p:sp>
        <p:nvSpPr>
          <p:cNvPr id="55" name="Text 53"/>
          <p:cNvSpPr/>
          <p:nvPr/>
        </p:nvSpPr>
        <p:spPr>
          <a:xfrm>
            <a:off x="6409944" y="3739896"/>
            <a:ext cx="2331720"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testAddManagerFeedback</a:t>
            </a:r>
            <a:endParaRPr lang="en-US" sz="950" dirty="0"/>
          </a:p>
        </p:txBody>
      </p:sp>
      <p:sp>
        <p:nvSpPr>
          <p:cNvPr id="56" name="Text 54"/>
          <p:cNvSpPr/>
          <p:nvPr/>
        </p:nvSpPr>
        <p:spPr>
          <a:xfrm>
            <a:off x="6409944" y="3959352"/>
            <a:ext cx="233172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saves feedback &amp; updates status</a:t>
            </a:r>
            <a:endParaRPr lang="en-US" sz="850" dirty="0"/>
          </a:p>
        </p:txBody>
      </p:sp>
      <p:sp>
        <p:nvSpPr>
          <p:cNvPr id="57" name="Shape 55"/>
          <p:cNvSpPr/>
          <p:nvPr/>
        </p:nvSpPr>
        <p:spPr>
          <a:xfrm>
            <a:off x="6245352" y="4434840"/>
            <a:ext cx="109728" cy="109728"/>
          </a:xfrm>
          <a:prstGeom prst="ellipse">
            <a:avLst/>
          </a:prstGeom>
          <a:solidFill>
            <a:srgbClr val="C9973A"/>
          </a:solidFill>
          <a:ln/>
        </p:spPr>
      </p:sp>
      <p:sp>
        <p:nvSpPr>
          <p:cNvPr id="58" name="Text 56"/>
          <p:cNvSpPr/>
          <p:nvPr/>
        </p:nvSpPr>
        <p:spPr>
          <a:xfrm>
            <a:off x="6409944" y="4398264"/>
            <a:ext cx="2331720"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testGetReviewsByEmployee</a:t>
            </a:r>
            <a:endParaRPr lang="en-US" sz="950" dirty="0"/>
          </a:p>
        </p:txBody>
      </p:sp>
      <p:sp>
        <p:nvSpPr>
          <p:cNvPr id="59" name="Text 57"/>
          <p:cNvSpPr/>
          <p:nvPr/>
        </p:nvSpPr>
        <p:spPr>
          <a:xfrm>
            <a:off x="6409944" y="4617720"/>
            <a:ext cx="233172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returns all reviews for an employee</a:t>
            </a:r>
            <a:endParaRPr lang="en-US" sz="850" dirty="0"/>
          </a:p>
        </p:txBody>
      </p:sp>
      <p:sp>
        <p:nvSpPr>
          <p:cNvPr id="60" name="Text 58"/>
          <p:cNvSpPr/>
          <p:nvPr/>
        </p:nvSpPr>
        <p:spPr>
          <a:xfrm>
            <a:off x="228600" y="4956048"/>
            <a:ext cx="8686800" cy="18288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Framework: JUnit 5 + Mockito  |  Mock repositories used  |  @BeforeEach setup pattern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03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973A"/>
          </a:solidFill>
          <a:ln/>
        </p:spPr>
      </p:sp>
      <p:sp>
        <p:nvSpPr>
          <p:cNvPr id="3" name="Shape 1"/>
          <p:cNvSpPr/>
          <p:nvPr/>
        </p:nvSpPr>
        <p:spPr>
          <a:xfrm>
            <a:off x="0" y="5070348"/>
            <a:ext cx="9144000" cy="73152"/>
          </a:xfrm>
          <a:prstGeom prst="rect">
            <a:avLst/>
          </a:prstGeom>
          <a:solidFill>
            <a:srgbClr val="C9973A"/>
          </a:solidFill>
          <a:ln/>
        </p:spPr>
      </p:sp>
      <p:sp>
        <p:nvSpPr>
          <p:cNvPr id="4" name="Text 2"/>
          <p:cNvSpPr/>
          <p:nvPr/>
        </p:nvSpPr>
        <p:spPr>
          <a:xfrm>
            <a:off x="365760" y="164592"/>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Key Features Summary</a:t>
            </a:r>
            <a:endParaRPr lang="en-US" sz="2800" dirty="0"/>
          </a:p>
        </p:txBody>
      </p:sp>
      <p:sp>
        <p:nvSpPr>
          <p:cNvPr id="5" name="Text 3"/>
          <p:cNvSpPr/>
          <p:nvPr/>
        </p:nvSpPr>
        <p:spPr>
          <a:xfrm>
            <a:off x="365760" y="713232"/>
            <a:ext cx="8229600" cy="274320"/>
          </a:xfrm>
          <a:prstGeom prst="rect">
            <a:avLst/>
          </a:prstGeom>
          <a:noFill/>
          <a:ln/>
        </p:spPr>
        <p:txBody>
          <a:bodyPr wrap="square" lIns="0" tIns="0" rIns="0" bIns="0" rtlCol="0" anchor="ctr"/>
          <a:lstStyle/>
          <a:p>
            <a:pPr indent="0" marL="0">
              <a:buNone/>
            </a:pPr>
            <a:r>
              <a:rPr lang="en-US" sz="1300" dirty="0">
                <a:solidFill>
                  <a:srgbClr val="E8B96A"/>
                </a:solidFill>
                <a:latin typeface="Calibri" pitchFamily="34" charset="0"/>
                <a:ea typeface="Calibri" pitchFamily="34" charset="-122"/>
                <a:cs typeface="Calibri" pitchFamily="34" charset="-120"/>
              </a:rPr>
              <a:t>RevWorkforce HRM System — Complete &amp; Production-Ready</a:t>
            </a:r>
            <a:endParaRPr lang="en-US" sz="1300" dirty="0"/>
          </a:p>
        </p:txBody>
      </p:sp>
      <p:sp>
        <p:nvSpPr>
          <p:cNvPr id="6" name="Shape 4"/>
          <p:cNvSpPr/>
          <p:nvPr/>
        </p:nvSpPr>
        <p:spPr>
          <a:xfrm>
            <a:off x="228600" y="1115568"/>
            <a:ext cx="2011680" cy="1417320"/>
          </a:xfrm>
          <a:prstGeom prst="rect">
            <a:avLst/>
          </a:prstGeom>
          <a:solidFill>
            <a:srgbClr val="1E3A5F"/>
          </a:solidFill>
          <a:ln/>
          <a:effectLst>
            <a:outerShdw sx="100000" sy="100000" kx="0" ky="0" algn="bl" rotWithShape="0" blurRad="101600" dist="38100" dir="8100000">
              <a:srgbClr val="000000">
                <a:alpha val="12000"/>
              </a:srgbClr>
            </a:outerShdw>
          </a:effectLst>
        </p:spPr>
      </p:sp>
      <p:sp>
        <p:nvSpPr>
          <p:cNvPr id="7" name="Shape 5"/>
          <p:cNvSpPr/>
          <p:nvPr/>
        </p:nvSpPr>
        <p:spPr>
          <a:xfrm>
            <a:off x="228600" y="1115568"/>
            <a:ext cx="2011680" cy="54864"/>
          </a:xfrm>
          <a:prstGeom prst="rect">
            <a:avLst/>
          </a:prstGeom>
          <a:solidFill>
            <a:srgbClr val="C9973A"/>
          </a:solidFill>
          <a:ln/>
        </p:spPr>
      </p:sp>
      <p:sp>
        <p:nvSpPr>
          <p:cNvPr id="8" name="Text 6"/>
          <p:cNvSpPr/>
          <p:nvPr/>
        </p:nvSpPr>
        <p:spPr>
          <a:xfrm>
            <a:off x="228600" y="1207008"/>
            <a:ext cx="2011680" cy="457200"/>
          </a:xfrm>
          <a:prstGeom prst="rect">
            <a:avLst/>
          </a:prstGeom>
          <a:noFill/>
          <a:ln/>
        </p:spPr>
        <p:txBody>
          <a:bodyPr wrap="square" lIns="0" tIns="0" rIns="0" bIns="0" rtlCol="0" anchor="ctr"/>
          <a:lstStyle/>
          <a:p>
            <a:pPr algn="ct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9" name="Text 7"/>
          <p:cNvSpPr/>
          <p:nvPr/>
        </p:nvSpPr>
        <p:spPr>
          <a:xfrm>
            <a:off x="228600" y="1664208"/>
            <a:ext cx="2011680" cy="274320"/>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JWT Security</a:t>
            </a:r>
            <a:endParaRPr lang="en-US" sz="1100" dirty="0"/>
          </a:p>
        </p:txBody>
      </p:sp>
      <p:sp>
        <p:nvSpPr>
          <p:cNvPr id="10" name="Text 8"/>
          <p:cNvSpPr/>
          <p:nvPr/>
        </p:nvSpPr>
        <p:spPr>
          <a:xfrm>
            <a:off x="320040" y="1965960"/>
            <a:ext cx="1828800" cy="512064"/>
          </a:xfrm>
          <a:prstGeom prst="rect">
            <a:avLst/>
          </a:prstGeom>
          <a:noFill/>
          <a:ln/>
        </p:spPr>
        <p:txBody>
          <a:bodyPr wrap="square" lIns="0" tIns="0" rIns="0" bIns="0" rtlCol="0" anchor="ctr"/>
          <a:lstStyle/>
          <a:p>
            <a:pPr algn="ctr" indent="0" marL="0">
              <a:buNone/>
            </a:pPr>
            <a:r>
              <a:rPr lang="en-US" sz="850" dirty="0">
                <a:solidFill>
                  <a:srgbClr val="CBD5E1"/>
                </a:solidFill>
                <a:latin typeface="Calibri" pitchFamily="34" charset="0"/>
                <a:ea typeface="Calibri" pitchFamily="34" charset="-122"/>
                <a:cs typeface="Calibri" pitchFamily="34" charset="-120"/>
              </a:rPr>
              <a:t>Stateless auth with BCrypt, role guards on both frontend &amp; backend</a:t>
            </a:r>
            <a:endParaRPr lang="en-US" sz="850" dirty="0"/>
          </a:p>
        </p:txBody>
      </p:sp>
      <p:sp>
        <p:nvSpPr>
          <p:cNvPr id="11" name="Shape 9"/>
          <p:cNvSpPr/>
          <p:nvPr/>
        </p:nvSpPr>
        <p:spPr>
          <a:xfrm>
            <a:off x="2423160" y="1115568"/>
            <a:ext cx="2011680" cy="1417320"/>
          </a:xfrm>
          <a:prstGeom prst="rect">
            <a:avLst/>
          </a:prstGeom>
          <a:solidFill>
            <a:srgbClr val="1E3A5F"/>
          </a:solidFill>
          <a:ln/>
          <a:effectLst>
            <a:outerShdw sx="100000" sy="100000" kx="0" ky="0" algn="bl" rotWithShape="0" blurRad="101600" dist="38100" dir="8100000">
              <a:srgbClr val="000000">
                <a:alpha val="12000"/>
              </a:srgbClr>
            </a:outerShdw>
          </a:effectLst>
        </p:spPr>
      </p:sp>
      <p:sp>
        <p:nvSpPr>
          <p:cNvPr id="12" name="Shape 10"/>
          <p:cNvSpPr/>
          <p:nvPr/>
        </p:nvSpPr>
        <p:spPr>
          <a:xfrm>
            <a:off x="2423160" y="1115568"/>
            <a:ext cx="2011680" cy="54864"/>
          </a:xfrm>
          <a:prstGeom prst="rect">
            <a:avLst/>
          </a:prstGeom>
          <a:solidFill>
            <a:srgbClr val="C9973A"/>
          </a:solidFill>
          <a:ln/>
        </p:spPr>
      </p:sp>
      <p:sp>
        <p:nvSpPr>
          <p:cNvPr id="13" name="Text 11"/>
          <p:cNvSpPr/>
          <p:nvPr/>
        </p:nvSpPr>
        <p:spPr>
          <a:xfrm>
            <a:off x="2423160" y="1207008"/>
            <a:ext cx="2011680" cy="457200"/>
          </a:xfrm>
          <a:prstGeom prst="rect">
            <a:avLst/>
          </a:prstGeom>
          <a:noFill/>
          <a:ln/>
        </p:spPr>
        <p:txBody>
          <a:bodyPr wrap="square" lIns="0" tIns="0" rIns="0" bIns="0" rtlCol="0" anchor="ctr"/>
          <a:lstStyle/>
          <a:p>
            <a:pPr algn="ct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4" name="Text 12"/>
          <p:cNvSpPr/>
          <p:nvPr/>
        </p:nvSpPr>
        <p:spPr>
          <a:xfrm>
            <a:off x="2423160" y="1664208"/>
            <a:ext cx="2011680" cy="274320"/>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3 Role System</a:t>
            </a:r>
            <a:endParaRPr lang="en-US" sz="1100" dirty="0"/>
          </a:p>
        </p:txBody>
      </p:sp>
      <p:sp>
        <p:nvSpPr>
          <p:cNvPr id="15" name="Text 13"/>
          <p:cNvSpPr/>
          <p:nvPr/>
        </p:nvSpPr>
        <p:spPr>
          <a:xfrm>
            <a:off x="2514600" y="1965960"/>
            <a:ext cx="1828800" cy="512064"/>
          </a:xfrm>
          <a:prstGeom prst="rect">
            <a:avLst/>
          </a:prstGeom>
          <a:noFill/>
          <a:ln/>
        </p:spPr>
        <p:txBody>
          <a:bodyPr wrap="square" lIns="0" tIns="0" rIns="0" bIns="0" rtlCol="0" anchor="ctr"/>
          <a:lstStyle/>
          <a:p>
            <a:pPr algn="ctr" indent="0" marL="0">
              <a:buNone/>
            </a:pPr>
            <a:r>
              <a:rPr lang="en-US" sz="850" dirty="0">
                <a:solidFill>
                  <a:srgbClr val="CBD5E1"/>
                </a:solidFill>
                <a:latin typeface="Calibri" pitchFamily="34" charset="0"/>
                <a:ea typeface="Calibri" pitchFamily="34" charset="-122"/>
                <a:cs typeface="Calibri" pitchFamily="34" charset="-120"/>
              </a:rPr>
              <a:t>Admin, Manager, Employee — each with distinct dashboard &amp; permissions</a:t>
            </a:r>
            <a:endParaRPr lang="en-US" sz="850" dirty="0"/>
          </a:p>
        </p:txBody>
      </p:sp>
      <p:sp>
        <p:nvSpPr>
          <p:cNvPr id="16" name="Shape 14"/>
          <p:cNvSpPr/>
          <p:nvPr/>
        </p:nvSpPr>
        <p:spPr>
          <a:xfrm>
            <a:off x="4617720" y="1115568"/>
            <a:ext cx="2011680" cy="1417320"/>
          </a:xfrm>
          <a:prstGeom prst="rect">
            <a:avLst/>
          </a:prstGeom>
          <a:solidFill>
            <a:srgbClr val="1E3A5F"/>
          </a:solidFill>
          <a:ln/>
          <a:effectLst>
            <a:outerShdw sx="100000" sy="100000" kx="0" ky="0" algn="bl" rotWithShape="0" blurRad="101600" dist="38100" dir="8100000">
              <a:srgbClr val="000000">
                <a:alpha val="12000"/>
              </a:srgbClr>
            </a:outerShdw>
          </a:effectLst>
        </p:spPr>
      </p:sp>
      <p:sp>
        <p:nvSpPr>
          <p:cNvPr id="17" name="Shape 15"/>
          <p:cNvSpPr/>
          <p:nvPr/>
        </p:nvSpPr>
        <p:spPr>
          <a:xfrm>
            <a:off x="4617720" y="1115568"/>
            <a:ext cx="2011680" cy="54864"/>
          </a:xfrm>
          <a:prstGeom prst="rect">
            <a:avLst/>
          </a:prstGeom>
          <a:solidFill>
            <a:srgbClr val="C9973A"/>
          </a:solidFill>
          <a:ln/>
        </p:spPr>
      </p:sp>
      <p:sp>
        <p:nvSpPr>
          <p:cNvPr id="18" name="Text 16"/>
          <p:cNvSpPr/>
          <p:nvPr/>
        </p:nvSpPr>
        <p:spPr>
          <a:xfrm>
            <a:off x="4617720" y="1207008"/>
            <a:ext cx="2011680" cy="457200"/>
          </a:xfrm>
          <a:prstGeom prst="rect">
            <a:avLst/>
          </a:prstGeom>
          <a:noFill/>
          <a:ln/>
        </p:spPr>
        <p:txBody>
          <a:bodyPr wrap="square" lIns="0" tIns="0" rIns="0" bIns="0" rtlCol="0" anchor="ctr"/>
          <a:lstStyle/>
          <a:p>
            <a:pPr algn="ct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9" name="Text 17"/>
          <p:cNvSpPr/>
          <p:nvPr/>
        </p:nvSpPr>
        <p:spPr>
          <a:xfrm>
            <a:off x="4617720" y="1664208"/>
            <a:ext cx="2011680" cy="274320"/>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Leave Workflow</a:t>
            </a:r>
            <a:endParaRPr lang="en-US" sz="1100" dirty="0"/>
          </a:p>
        </p:txBody>
      </p:sp>
      <p:sp>
        <p:nvSpPr>
          <p:cNvPr id="20" name="Text 18"/>
          <p:cNvSpPr/>
          <p:nvPr/>
        </p:nvSpPr>
        <p:spPr>
          <a:xfrm>
            <a:off x="4709160" y="1965960"/>
            <a:ext cx="1828800" cy="512064"/>
          </a:xfrm>
          <a:prstGeom prst="rect">
            <a:avLst/>
          </a:prstGeom>
          <a:noFill/>
          <a:ln/>
        </p:spPr>
        <p:txBody>
          <a:bodyPr wrap="square" lIns="0" tIns="0" rIns="0" bIns="0" rtlCol="0" anchor="ctr"/>
          <a:lstStyle/>
          <a:p>
            <a:pPr algn="ctr" indent="0" marL="0">
              <a:buNone/>
            </a:pPr>
            <a:r>
              <a:rPr lang="en-US" sz="850" dirty="0">
                <a:solidFill>
                  <a:srgbClr val="CBD5E1"/>
                </a:solidFill>
                <a:latin typeface="Calibri" pitchFamily="34" charset="0"/>
                <a:ea typeface="Calibri" pitchFamily="34" charset="-122"/>
                <a:cs typeface="Calibri" pitchFamily="34" charset="-120"/>
              </a:rPr>
              <a:t>Full apply → approve/reject cycle with balance tracking &amp; notifications</a:t>
            </a:r>
            <a:endParaRPr lang="en-US" sz="850" dirty="0"/>
          </a:p>
        </p:txBody>
      </p:sp>
      <p:sp>
        <p:nvSpPr>
          <p:cNvPr id="21" name="Shape 19"/>
          <p:cNvSpPr/>
          <p:nvPr/>
        </p:nvSpPr>
        <p:spPr>
          <a:xfrm>
            <a:off x="6812280" y="1115568"/>
            <a:ext cx="2011680" cy="1417320"/>
          </a:xfrm>
          <a:prstGeom prst="rect">
            <a:avLst/>
          </a:prstGeom>
          <a:solidFill>
            <a:srgbClr val="1E3A5F"/>
          </a:solidFill>
          <a:ln/>
          <a:effectLst>
            <a:outerShdw sx="100000" sy="100000" kx="0" ky="0" algn="bl" rotWithShape="0" blurRad="101600" dist="38100" dir="8100000">
              <a:srgbClr val="000000">
                <a:alpha val="12000"/>
              </a:srgbClr>
            </a:outerShdw>
          </a:effectLst>
        </p:spPr>
      </p:sp>
      <p:sp>
        <p:nvSpPr>
          <p:cNvPr id="22" name="Shape 20"/>
          <p:cNvSpPr/>
          <p:nvPr/>
        </p:nvSpPr>
        <p:spPr>
          <a:xfrm>
            <a:off x="6812280" y="1115568"/>
            <a:ext cx="2011680" cy="54864"/>
          </a:xfrm>
          <a:prstGeom prst="rect">
            <a:avLst/>
          </a:prstGeom>
          <a:solidFill>
            <a:srgbClr val="C9973A"/>
          </a:solidFill>
          <a:ln/>
        </p:spPr>
      </p:sp>
      <p:sp>
        <p:nvSpPr>
          <p:cNvPr id="23" name="Text 21"/>
          <p:cNvSpPr/>
          <p:nvPr/>
        </p:nvSpPr>
        <p:spPr>
          <a:xfrm>
            <a:off x="6812280" y="1207008"/>
            <a:ext cx="2011680" cy="457200"/>
          </a:xfrm>
          <a:prstGeom prst="rect">
            <a:avLst/>
          </a:prstGeom>
          <a:noFill/>
          <a:ln/>
        </p:spPr>
        <p:txBody>
          <a:bodyPr wrap="square" lIns="0" tIns="0" rIns="0" bIns="0" rtlCol="0" anchor="ctr"/>
          <a:lstStyle/>
          <a:p>
            <a:pPr algn="ct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4" name="Text 22"/>
          <p:cNvSpPr/>
          <p:nvPr/>
        </p:nvSpPr>
        <p:spPr>
          <a:xfrm>
            <a:off x="6812280" y="1664208"/>
            <a:ext cx="2011680" cy="274320"/>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Performance Mgmt</a:t>
            </a:r>
            <a:endParaRPr lang="en-US" sz="1100" dirty="0"/>
          </a:p>
        </p:txBody>
      </p:sp>
      <p:sp>
        <p:nvSpPr>
          <p:cNvPr id="25" name="Text 23"/>
          <p:cNvSpPr/>
          <p:nvPr/>
        </p:nvSpPr>
        <p:spPr>
          <a:xfrm>
            <a:off x="6903720" y="1965960"/>
            <a:ext cx="1828800" cy="512064"/>
          </a:xfrm>
          <a:prstGeom prst="rect">
            <a:avLst/>
          </a:prstGeom>
          <a:noFill/>
          <a:ln/>
        </p:spPr>
        <p:txBody>
          <a:bodyPr wrap="square" lIns="0" tIns="0" rIns="0" bIns="0" rtlCol="0" anchor="ctr"/>
          <a:lstStyle/>
          <a:p>
            <a:pPr algn="ctr" indent="0" marL="0">
              <a:buNone/>
            </a:pPr>
            <a:r>
              <a:rPr lang="en-US" sz="850" dirty="0">
                <a:solidFill>
                  <a:srgbClr val="CBD5E1"/>
                </a:solidFill>
                <a:latin typeface="Calibri" pitchFamily="34" charset="0"/>
                <a:ea typeface="Calibri" pitchFamily="34" charset="-122"/>
                <a:cs typeface="Calibri" pitchFamily="34" charset="-120"/>
              </a:rPr>
              <a:t>4-stage review workflow with self-rating and manager feedback</a:t>
            </a:r>
            <a:endParaRPr lang="en-US" sz="850" dirty="0"/>
          </a:p>
        </p:txBody>
      </p:sp>
      <p:sp>
        <p:nvSpPr>
          <p:cNvPr id="26" name="Shape 24"/>
          <p:cNvSpPr/>
          <p:nvPr/>
        </p:nvSpPr>
        <p:spPr>
          <a:xfrm>
            <a:off x="228600" y="2944368"/>
            <a:ext cx="2011680" cy="1417320"/>
          </a:xfrm>
          <a:prstGeom prst="rect">
            <a:avLst/>
          </a:prstGeom>
          <a:solidFill>
            <a:srgbClr val="1E3A5F"/>
          </a:solidFill>
          <a:ln/>
          <a:effectLst>
            <a:outerShdw sx="100000" sy="100000" kx="0" ky="0" algn="bl" rotWithShape="0" blurRad="101600" dist="38100" dir="8100000">
              <a:srgbClr val="000000">
                <a:alpha val="12000"/>
              </a:srgbClr>
            </a:outerShdw>
          </a:effectLst>
        </p:spPr>
      </p:sp>
      <p:sp>
        <p:nvSpPr>
          <p:cNvPr id="27" name="Shape 25"/>
          <p:cNvSpPr/>
          <p:nvPr/>
        </p:nvSpPr>
        <p:spPr>
          <a:xfrm>
            <a:off x="228600" y="2944368"/>
            <a:ext cx="2011680" cy="54864"/>
          </a:xfrm>
          <a:prstGeom prst="rect">
            <a:avLst/>
          </a:prstGeom>
          <a:solidFill>
            <a:srgbClr val="C9973A"/>
          </a:solidFill>
          <a:ln/>
        </p:spPr>
      </p:sp>
      <p:sp>
        <p:nvSpPr>
          <p:cNvPr id="28" name="Text 26"/>
          <p:cNvSpPr/>
          <p:nvPr/>
        </p:nvSpPr>
        <p:spPr>
          <a:xfrm>
            <a:off x="228600" y="3035808"/>
            <a:ext cx="2011680" cy="457200"/>
          </a:xfrm>
          <a:prstGeom prst="rect">
            <a:avLst/>
          </a:prstGeom>
          <a:noFill/>
          <a:ln/>
        </p:spPr>
        <p:txBody>
          <a:bodyPr wrap="square" lIns="0" tIns="0" rIns="0" bIns="0" rtlCol="0" anchor="ctr"/>
          <a:lstStyle/>
          <a:p>
            <a:pPr algn="ct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9" name="Text 27"/>
          <p:cNvSpPr/>
          <p:nvPr/>
        </p:nvSpPr>
        <p:spPr>
          <a:xfrm>
            <a:off x="228600" y="3493008"/>
            <a:ext cx="2011680" cy="274320"/>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Goal Tracking</a:t>
            </a:r>
            <a:endParaRPr lang="en-US" sz="1100" dirty="0"/>
          </a:p>
        </p:txBody>
      </p:sp>
      <p:sp>
        <p:nvSpPr>
          <p:cNvPr id="30" name="Text 28"/>
          <p:cNvSpPr/>
          <p:nvPr/>
        </p:nvSpPr>
        <p:spPr>
          <a:xfrm>
            <a:off x="320040" y="3794760"/>
            <a:ext cx="1828800" cy="512064"/>
          </a:xfrm>
          <a:prstGeom prst="rect">
            <a:avLst/>
          </a:prstGeom>
          <a:noFill/>
          <a:ln/>
        </p:spPr>
        <p:txBody>
          <a:bodyPr wrap="square" lIns="0" tIns="0" rIns="0" bIns="0" rtlCol="0" anchor="ctr"/>
          <a:lstStyle/>
          <a:p>
            <a:pPr algn="ctr" indent="0" marL="0">
              <a:buNone/>
            </a:pPr>
            <a:r>
              <a:rPr lang="en-US" sz="850" dirty="0">
                <a:solidFill>
                  <a:srgbClr val="CBD5E1"/>
                </a:solidFill>
                <a:latin typeface="Calibri" pitchFamily="34" charset="0"/>
                <a:ea typeface="Calibri" pitchFamily="34" charset="-122"/>
                <a:cs typeface="Calibri" pitchFamily="34" charset="-120"/>
              </a:rPr>
              <a:t>OKR-style goals with priority, progress % and manager comments</a:t>
            </a:r>
            <a:endParaRPr lang="en-US" sz="850" dirty="0"/>
          </a:p>
        </p:txBody>
      </p:sp>
      <p:sp>
        <p:nvSpPr>
          <p:cNvPr id="31" name="Shape 29"/>
          <p:cNvSpPr/>
          <p:nvPr/>
        </p:nvSpPr>
        <p:spPr>
          <a:xfrm>
            <a:off x="2423160" y="2944368"/>
            <a:ext cx="2011680" cy="1417320"/>
          </a:xfrm>
          <a:prstGeom prst="rect">
            <a:avLst/>
          </a:prstGeom>
          <a:solidFill>
            <a:srgbClr val="1E3A5F"/>
          </a:solidFill>
          <a:ln/>
          <a:effectLst>
            <a:outerShdw sx="100000" sy="100000" kx="0" ky="0" algn="bl" rotWithShape="0" blurRad="101600" dist="38100" dir="8100000">
              <a:srgbClr val="000000">
                <a:alpha val="12000"/>
              </a:srgbClr>
            </a:outerShdw>
          </a:effectLst>
        </p:spPr>
      </p:sp>
      <p:sp>
        <p:nvSpPr>
          <p:cNvPr id="32" name="Shape 30"/>
          <p:cNvSpPr/>
          <p:nvPr/>
        </p:nvSpPr>
        <p:spPr>
          <a:xfrm>
            <a:off x="2423160" y="2944368"/>
            <a:ext cx="2011680" cy="54864"/>
          </a:xfrm>
          <a:prstGeom prst="rect">
            <a:avLst/>
          </a:prstGeom>
          <a:solidFill>
            <a:srgbClr val="C9973A"/>
          </a:solidFill>
          <a:ln/>
        </p:spPr>
      </p:sp>
      <p:sp>
        <p:nvSpPr>
          <p:cNvPr id="33" name="Text 31"/>
          <p:cNvSpPr/>
          <p:nvPr/>
        </p:nvSpPr>
        <p:spPr>
          <a:xfrm>
            <a:off x="2423160" y="3035808"/>
            <a:ext cx="2011680" cy="457200"/>
          </a:xfrm>
          <a:prstGeom prst="rect">
            <a:avLst/>
          </a:prstGeom>
          <a:noFill/>
          <a:ln/>
        </p:spPr>
        <p:txBody>
          <a:bodyPr wrap="square" lIns="0" tIns="0" rIns="0" bIns="0" rtlCol="0" anchor="ctr"/>
          <a:lstStyle/>
          <a:p>
            <a:pPr algn="ct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34" name="Text 32"/>
          <p:cNvSpPr/>
          <p:nvPr/>
        </p:nvSpPr>
        <p:spPr>
          <a:xfrm>
            <a:off x="2423160" y="3493008"/>
            <a:ext cx="2011680" cy="274320"/>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Reports &amp; QR</a:t>
            </a:r>
            <a:endParaRPr lang="en-US" sz="1100" dirty="0"/>
          </a:p>
        </p:txBody>
      </p:sp>
      <p:sp>
        <p:nvSpPr>
          <p:cNvPr id="35" name="Text 33"/>
          <p:cNvSpPr/>
          <p:nvPr/>
        </p:nvSpPr>
        <p:spPr>
          <a:xfrm>
            <a:off x="2514600" y="3794760"/>
            <a:ext cx="1828800" cy="512064"/>
          </a:xfrm>
          <a:prstGeom prst="rect">
            <a:avLst/>
          </a:prstGeom>
          <a:noFill/>
          <a:ln/>
        </p:spPr>
        <p:txBody>
          <a:bodyPr wrap="square" lIns="0" tIns="0" rIns="0" bIns="0" rtlCol="0" anchor="ctr"/>
          <a:lstStyle/>
          <a:p>
            <a:pPr algn="ctr" indent="0" marL="0">
              <a:buNone/>
            </a:pPr>
            <a:r>
              <a:rPr lang="en-US" sz="850" dirty="0">
                <a:solidFill>
                  <a:srgbClr val="CBD5E1"/>
                </a:solidFill>
                <a:latin typeface="Calibri" pitchFamily="34" charset="0"/>
                <a:ea typeface="Calibri" pitchFamily="34" charset="-122"/>
                <a:cs typeface="Calibri" pitchFamily="34" charset="-120"/>
              </a:rPr>
              <a:t>Excel report generation and QR code per employee via ZXing</a:t>
            </a:r>
            <a:endParaRPr lang="en-US" sz="850" dirty="0"/>
          </a:p>
        </p:txBody>
      </p:sp>
      <p:sp>
        <p:nvSpPr>
          <p:cNvPr id="36" name="Shape 34"/>
          <p:cNvSpPr/>
          <p:nvPr/>
        </p:nvSpPr>
        <p:spPr>
          <a:xfrm>
            <a:off x="4617720" y="2944368"/>
            <a:ext cx="2011680" cy="1417320"/>
          </a:xfrm>
          <a:prstGeom prst="rect">
            <a:avLst/>
          </a:prstGeom>
          <a:solidFill>
            <a:srgbClr val="1E3A5F"/>
          </a:solidFill>
          <a:ln/>
          <a:effectLst>
            <a:outerShdw sx="100000" sy="100000" kx="0" ky="0" algn="bl" rotWithShape="0" blurRad="101600" dist="38100" dir="8100000">
              <a:srgbClr val="000000">
                <a:alpha val="12000"/>
              </a:srgbClr>
            </a:outerShdw>
          </a:effectLst>
        </p:spPr>
      </p:sp>
      <p:sp>
        <p:nvSpPr>
          <p:cNvPr id="37" name="Shape 35"/>
          <p:cNvSpPr/>
          <p:nvPr/>
        </p:nvSpPr>
        <p:spPr>
          <a:xfrm>
            <a:off x="4617720" y="2944368"/>
            <a:ext cx="2011680" cy="54864"/>
          </a:xfrm>
          <a:prstGeom prst="rect">
            <a:avLst/>
          </a:prstGeom>
          <a:solidFill>
            <a:srgbClr val="C9973A"/>
          </a:solidFill>
          <a:ln/>
        </p:spPr>
      </p:sp>
      <p:sp>
        <p:nvSpPr>
          <p:cNvPr id="38" name="Text 36"/>
          <p:cNvSpPr/>
          <p:nvPr/>
        </p:nvSpPr>
        <p:spPr>
          <a:xfrm>
            <a:off x="4617720" y="3035808"/>
            <a:ext cx="2011680" cy="457200"/>
          </a:xfrm>
          <a:prstGeom prst="rect">
            <a:avLst/>
          </a:prstGeom>
          <a:noFill/>
          <a:ln/>
        </p:spPr>
        <p:txBody>
          <a:bodyPr wrap="square" lIns="0" tIns="0" rIns="0" bIns="0" rtlCol="0" anchor="ctr"/>
          <a:lstStyle/>
          <a:p>
            <a:pPr algn="ct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39" name="Text 37"/>
          <p:cNvSpPr/>
          <p:nvPr/>
        </p:nvSpPr>
        <p:spPr>
          <a:xfrm>
            <a:off x="4617720" y="3493008"/>
            <a:ext cx="2011680" cy="274320"/>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Notifications</a:t>
            </a:r>
            <a:endParaRPr lang="en-US" sz="1100" dirty="0"/>
          </a:p>
        </p:txBody>
      </p:sp>
      <p:sp>
        <p:nvSpPr>
          <p:cNvPr id="40" name="Text 38"/>
          <p:cNvSpPr/>
          <p:nvPr/>
        </p:nvSpPr>
        <p:spPr>
          <a:xfrm>
            <a:off x="4709160" y="3794760"/>
            <a:ext cx="1828800" cy="512064"/>
          </a:xfrm>
          <a:prstGeom prst="rect">
            <a:avLst/>
          </a:prstGeom>
          <a:noFill/>
          <a:ln/>
        </p:spPr>
        <p:txBody>
          <a:bodyPr wrap="square" lIns="0" tIns="0" rIns="0" bIns="0" rtlCol="0" anchor="ctr"/>
          <a:lstStyle/>
          <a:p>
            <a:pPr algn="ctr" indent="0" marL="0">
              <a:buNone/>
            </a:pPr>
            <a:r>
              <a:rPr lang="en-US" sz="850" dirty="0">
                <a:solidFill>
                  <a:srgbClr val="CBD5E1"/>
                </a:solidFill>
                <a:latin typeface="Calibri" pitchFamily="34" charset="0"/>
                <a:ea typeface="Calibri" pitchFamily="34" charset="-122"/>
                <a:cs typeface="Calibri" pitchFamily="34" charset="-120"/>
              </a:rPr>
              <a:t>Event-driven in-app notifications for leave, reviews, announcements</a:t>
            </a:r>
            <a:endParaRPr lang="en-US" sz="850" dirty="0"/>
          </a:p>
        </p:txBody>
      </p:sp>
      <p:sp>
        <p:nvSpPr>
          <p:cNvPr id="41" name="Shape 39"/>
          <p:cNvSpPr/>
          <p:nvPr/>
        </p:nvSpPr>
        <p:spPr>
          <a:xfrm>
            <a:off x="6812280" y="2944368"/>
            <a:ext cx="2011680" cy="1417320"/>
          </a:xfrm>
          <a:prstGeom prst="rect">
            <a:avLst/>
          </a:prstGeom>
          <a:solidFill>
            <a:srgbClr val="1E3A5F"/>
          </a:solidFill>
          <a:ln/>
          <a:effectLst>
            <a:outerShdw sx="100000" sy="100000" kx="0" ky="0" algn="bl" rotWithShape="0" blurRad="101600" dist="38100" dir="8100000">
              <a:srgbClr val="000000">
                <a:alpha val="12000"/>
              </a:srgbClr>
            </a:outerShdw>
          </a:effectLst>
        </p:spPr>
      </p:sp>
      <p:sp>
        <p:nvSpPr>
          <p:cNvPr id="42" name="Shape 40"/>
          <p:cNvSpPr/>
          <p:nvPr/>
        </p:nvSpPr>
        <p:spPr>
          <a:xfrm>
            <a:off x="6812280" y="2944368"/>
            <a:ext cx="2011680" cy="54864"/>
          </a:xfrm>
          <a:prstGeom prst="rect">
            <a:avLst/>
          </a:prstGeom>
          <a:solidFill>
            <a:srgbClr val="C9973A"/>
          </a:solidFill>
          <a:ln/>
        </p:spPr>
      </p:sp>
      <p:sp>
        <p:nvSpPr>
          <p:cNvPr id="43" name="Text 41"/>
          <p:cNvSpPr/>
          <p:nvPr/>
        </p:nvSpPr>
        <p:spPr>
          <a:xfrm>
            <a:off x="6812280" y="3035808"/>
            <a:ext cx="2011680" cy="457200"/>
          </a:xfrm>
          <a:prstGeom prst="rect">
            <a:avLst/>
          </a:prstGeom>
          <a:noFill/>
          <a:ln/>
        </p:spPr>
        <p:txBody>
          <a:bodyPr wrap="square" lIns="0" tIns="0" rIns="0" bIns="0" rtlCol="0" anchor="ctr"/>
          <a:lstStyle/>
          <a:p>
            <a:pPr algn="ct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44" name="Text 42"/>
          <p:cNvSpPr/>
          <p:nvPr/>
        </p:nvSpPr>
        <p:spPr>
          <a:xfrm>
            <a:off x="6812280" y="3493008"/>
            <a:ext cx="2011680" cy="274320"/>
          </a:xfrm>
          <a:prstGeom prst="rect">
            <a:avLst/>
          </a:prstGeom>
          <a:noFill/>
          <a:ln/>
        </p:spPr>
        <p:txBody>
          <a:bodyPr wrap="square" lIns="0" tIns="0" rIns="0" bIns="0" rtlCol="0" anchor="ctr"/>
          <a:lstStyle/>
          <a:p>
            <a:pPr algn="ctr" indent="0" marL="0">
              <a:buNone/>
            </a:pPr>
            <a:r>
              <a:rPr lang="en-US" sz="1100" b="1" dirty="0">
                <a:solidFill>
                  <a:srgbClr val="C9973A"/>
                </a:solidFill>
                <a:latin typeface="Calibri" pitchFamily="34" charset="0"/>
                <a:ea typeface="Calibri" pitchFamily="34" charset="-122"/>
                <a:cs typeface="Calibri" pitchFamily="34" charset="-120"/>
              </a:rPr>
              <a:t>Audit Logs</a:t>
            </a:r>
            <a:endParaRPr lang="en-US" sz="1100" dirty="0"/>
          </a:p>
        </p:txBody>
      </p:sp>
      <p:sp>
        <p:nvSpPr>
          <p:cNvPr id="45" name="Text 43"/>
          <p:cNvSpPr/>
          <p:nvPr/>
        </p:nvSpPr>
        <p:spPr>
          <a:xfrm>
            <a:off x="6903720" y="3794760"/>
            <a:ext cx="1828800" cy="512064"/>
          </a:xfrm>
          <a:prstGeom prst="rect">
            <a:avLst/>
          </a:prstGeom>
          <a:noFill/>
          <a:ln/>
        </p:spPr>
        <p:txBody>
          <a:bodyPr wrap="square" lIns="0" tIns="0" rIns="0" bIns="0" rtlCol="0" anchor="ctr"/>
          <a:lstStyle/>
          <a:p>
            <a:pPr algn="ctr" indent="0" marL="0">
              <a:buNone/>
            </a:pPr>
            <a:r>
              <a:rPr lang="en-US" sz="850" dirty="0">
                <a:solidFill>
                  <a:srgbClr val="CBD5E1"/>
                </a:solidFill>
                <a:latin typeface="Calibri" pitchFamily="34" charset="0"/>
                <a:ea typeface="Calibri" pitchFamily="34" charset="-122"/>
                <a:cs typeface="Calibri" pitchFamily="34" charset="-120"/>
              </a:rPr>
              <a:t>Every CRUD action tracked with user, entity, action and timestamp</a:t>
            </a:r>
            <a:endParaRPr lang="en-US" sz="850" dirty="0"/>
          </a:p>
        </p:txBody>
      </p:sp>
      <p:sp>
        <p:nvSpPr>
          <p:cNvPr id="46" name="Text 44"/>
          <p:cNvSpPr/>
          <p:nvPr/>
        </p:nvSpPr>
        <p:spPr>
          <a:xfrm>
            <a:off x="274320" y="4818888"/>
            <a:ext cx="8595360" cy="201168"/>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Built with Spring Boot 3.2 · Angular 17 · MySQL 8 · JWT · Swagger · JUnit 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RevWorkforce HRM System</dc:title>
  <dc:subject>PptxGenJS Presentation</dc:subject>
  <dc:creator>PptxGenJS</dc:creator>
  <cp:lastModifiedBy>PptxGenJS</cp:lastModifiedBy>
  <cp:revision>1</cp:revision>
  <dcterms:created xsi:type="dcterms:W3CDTF">2026-03-19T17:08:10Z</dcterms:created>
  <dcterms:modified xsi:type="dcterms:W3CDTF">2026-03-19T17:08:10Z</dcterms:modified>
</cp:coreProperties>
</file>